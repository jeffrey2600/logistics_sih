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 id="297" r:id="rId8"/>
    <p:sldId id="298" r:id="rId14"/>
    <p:sldId id="299" r:id="rId15"/>
    <p:sldId id="300" r:id="rId16"/>
    <p:sldId id="301" r:id="rId17"/>
    <p:sldId id="302" r:id="rId18"/>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One sentence to land here: everyone else finds the shortest road; the North</a:t>
            </a:r>
          </a:p>
          <a:p>
            <a:r>
              <a:t>East punishes that.</a:t>
            </a:r>
          </a:p>
          <a:p/>
          <a:p>
            <a:r>
              <a:t>Walk the left side first, then let the table do the work.</a:t>
            </a:r>
          </a:p>
          <a:p/>
          <a:p>
            <a:r>
              <a:t>The table is the whole argument. The same one tonne, Kohima to Guwahati, in</a:t>
            </a:r>
          </a:p>
          <a:p>
            <a:r>
              <a:t>July. Road then rail is 2 days and ₹928. Air is faster but ₹5,954. Road only -</a:t>
            </a:r>
          </a:p>
          <a:p>
            <a:r>
              <a:t>which is what most people would say - is 7.6 days, the worst of the four.</a:t>
            </a:r>
          </a:p>
          <a:p/>
          <a:p>
            <a:r>
              <a:t>So the gap between a good choice and an obvious choice on this single lane is</a:t>
            </a:r>
          </a:p>
          <a:p>
            <a:r>
              <a:t>₹5,032 a tonne. Multiply that across a season.</a:t>
            </a:r>
          </a:p>
          <a:p/>
          <a:p>
            <a:r>
              <a:t>If asked what is new: three things. Changing vehicle costs money and time in our</a:t>
            </a:r>
          </a:p>
          <a:p>
            <a:r>
              <a:t>model, not zero. Risk is converted into hours and rupees instead of a warning</a:t>
            </a:r>
          </a:p>
          <a:p>
            <a:r>
              <a:t>colour. And we keep 'this road shuts sometime in July' separate from 'this lorry</a:t>
            </a:r>
          </a:p>
          <a:p>
            <a:r>
              <a:t>will be stopped' - which sounds like a detail and is not, and there is a whole</a:t>
            </a:r>
          </a:p>
          <a:p>
            <a:r>
              <a:t>slide on it later.</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Do not read every box. Point at the shape and give it four sentences.</a:t>
            </a:r>
          </a:p>
          <a:p/>
          <a:p>
            <a:r>
              <a:t>Top: three free, open data sources. No licences, no keys.</a:t>
            </a:r>
          </a:p>
          <a:p/>
          <a:p>
            <a:r>
              <a:t>Middle: we turn OpenStreetMap into something a computer can route on.</a:t>
            </a:r>
          </a:p>
          <a:p>
            <a:r>
              <a:t>OpenStreetMap is a drawing, not a road network - one highway is hundreds of</a:t>
            </a:r>
          </a:p>
          <a:p>
            <a:r>
              <a:t>separate pieces - so we join them into 7,181 real segments.</a:t>
            </a:r>
          </a:p>
          <a:p/>
          <a:p>
            <a:r>
              <a:t>The engine is three parts: what a road costs, how likely it is to be blocked,</a:t>
            </a:r>
          </a:p>
          <a:p>
            <a:r>
              <a:t>and a graph where road, rail, river and air are separate layers joined by</a:t>
            </a:r>
          </a:p>
          <a:p>
            <a:r>
              <a:t>transfer links.</a:t>
            </a:r>
          </a:p>
          <a:p/>
          <a:p>
            <a:r>
              <a:t>Bottom: one Python process serves both the API and the dashboard. No build step,</a:t>
            </a:r>
          </a:p>
          <a:p>
            <a:r>
              <a:t>nothing downloaded at runtime. Point at that line and say: this is why the demo</a:t>
            </a:r>
          </a:p>
          <a:p>
            <a:r>
              <a:t>will work even if the venue wifi does not.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This is the slide that separates a working thing from an idea.</a:t>
            </a:r>
          </a:p>
          <a:p/>
          <a:p>
            <a:r>
              <a:t>Left table: read out two numbers only - 25,360 km of road, and ₹0 for data.</a:t>
            </a:r>
          </a:p>
          <a:p>
            <a:r>
              <a:t>Everything else is on the slide if they want it.</a:t>
            </a:r>
          </a:p>
          <a:p/>
          <a:p>
            <a:r>
              <a:t>Then say it runs offline: clone it, install, two commands, it is on screen.</a:t>
            </a:r>
          </a:p>
          <a:p/>
          <a:p>
            <a:r>
              <a:t>Right side is the honest half, and judges reward it. The strongest one is the</a:t>
            </a:r>
          </a:p>
          <a:p>
            <a:r>
              <a:t>first: India has no live road-closure feed. No state publishes closures in a</a:t>
            </a:r>
          </a:p>
          <a:p>
            <a:r>
              <a:t>form software can read. So we predict from rainfall and terrain, and we built</a:t>
            </a:r>
          </a:p>
          <a:p>
            <a:r>
              <a:t>the app so that driver reports can be collected later and used to correct it.</a:t>
            </a:r>
          </a:p>
          <a:p/>
          <a:p>
            <a:r>
              <a:t>The third one - only 35 markets mapped - is the weakness in our own numbers, and</a:t>
            </a:r>
          </a:p>
          <a:p>
            <a:r>
              <a:t>we say so before anyone asks.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Numbers first, people second.</a:t>
            </a:r>
          </a:p>
          <a:p/>
          <a:p>
            <a:r>
              <a:t>Top table: the cost of choosing badly on one lane is ₹5,032 a tonne.</a:t>
            </a:r>
          </a:p>
          <a:p/>
          <a:p>
            <a:r>
              <a:t>Second table: the monsoon adds 70.8 hours and ₹387 a tonne to the same Aizawl</a:t>
            </a:r>
          </a:p>
          <a:p>
            <a:r>
              <a:t>to Guwahati plan, and the worst stretch on it goes from an 8% chance of closing</a:t>
            </a:r>
          </a:p>
          <a:p>
            <a:r>
              <a:t>to 48%.</a:t>
            </a:r>
          </a:p>
          <a:p/>
          <a:p>
            <a:r>
              <a:t>Right side, pick the one that suits the panel. For a policy audience, use the</a:t>
            </a:r>
          </a:p>
          <a:p>
            <a:r>
              <a:t>MDoNER line: in July, 1,309 of 4,033 major roads are at severe risk, and on</a:t>
            </a:r>
          </a:p>
          <a:p>
            <a:r>
              <a:t>1,055 of them the problem is flooding, not landslides. You cannot fix a flood</a:t>
            </a:r>
          </a:p>
          <a:p>
            <a:r>
              <a:t>with slope netting - so knowing which is which changes what gets built.</a:t>
            </a:r>
          </a:p>
          <a:p/>
          <a:p>
            <a:r>
              <a:t>For a general audience use Billbari: 1.3 days to reach a market in the monsoon.</a:t>
            </a:r>
          </a:p>
          <a:p>
            <a:r>
              <a:t>That is a farmer's decision about what to plant.</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Keep this short. The point is that nothing here is bought, scraped or</a:t>
            </a:r>
          </a:p>
          <a:p>
            <a:r>
              <a:t>restricted, so the platform can actually be deployed.</a:t>
            </a:r>
          </a:p>
          <a:p/>
          <a:p>
            <a:r>
              <a:t>Mention that the landslide catalogue download is still pending rather than</a:t>
            </a:r>
          </a:p>
          <a:p>
            <a:r>
              <a:t>implying it is loaded - if a judge checks, they will find it, and saying it</a:t>
            </a:r>
          </a:p>
          <a:p>
            <a:r>
              <a:t>first is worth more than hiding it.</a:t>
            </a:r>
          </a:p>
          <a:p/>
          <a:p>
            <a:r>
              <a:t>End on the repository link: the code, the tests and the method notes are</a:t>
            </a:r>
          </a:p>
          <a:p>
            <a:r>
              <a:t>public.</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place, not the software. Nobody in the room has driven these roads.</a:t>
            </a:r>
          </a:p>
          <a:p/>
          <a:p>
            <a:r>
              <a:t>Say: the eight North Eastern states are joined to the rest of India by one</a:t>
            </a:r>
          </a:p>
          <a:p>
            <a:r>
              <a:t>strip of land about 22 km wide, near Siliguri. The highways are mostly single</a:t>
            </a:r>
          </a:p>
          <a:p>
            <a:r>
              <a:t>lane and they run through hills that slide. Assam floods every year. And for</a:t>
            </a:r>
          </a:p>
          <a:p>
            <a:r>
              <a:t>four months of the year the monsoon shuts the roads that the other eight months</a:t>
            </a:r>
          </a:p>
          <a:p>
            <a:r>
              <a:t>depend on.</a:t>
            </a:r>
          </a:p>
          <a:p/>
          <a:p>
            <a:r>
              <a:t>MDoNER asked for a platform that plans freight across all of that and tells</a:t>
            </a:r>
          </a:p>
          <a:p>
            <a:r>
              <a:t>them which places are cut off. We built both halves, and it is running</a:t>
            </a:r>
          </a:p>
          <a:p>
            <a:r>
              <a:t>software - the screenshots later in this deck are from the live app, not</a:t>
            </a:r>
          </a:p>
          <a:p>
            <a:r>
              <a:t>mock-ups.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depth slide. Take it slowly, it is worth it.</a:t>
            </a:r>
          </a:p>
          <a:p/>
          <a:p>
            <a:r>
              <a:t>We take one real road - Nolikata to Ranikor in Meghalaya - and show exactly how</a:t>
            </a:r>
          </a:p>
          <a:p>
            <a:r>
              <a:t>it gets its number.</a:t>
            </a:r>
          </a:p>
          <a:p/>
          <a:p>
            <a:r>
              <a:t>Four inputs across the top. Two separate models: landslides come from steepness</a:t>
            </a:r>
          </a:p>
          <a:p>
            <a:r>
              <a:t>and rain, floods come from low flat ground and the season. They are different</a:t>
            </a:r>
          </a:p>
          <a:p>
            <a:r>
              <a:t>roads, so they are different models.</a:t>
            </a:r>
          </a:p>
          <a:p/>
          <a:p>
            <a:r>
              <a:t>Then we combine them the way you combine two independent risks: 0.28 and 0.40</a:t>
            </a:r>
          </a:p>
          <a:p>
            <a:r>
              <a:t>give 0.57, not 0.68.</a:t>
            </a:r>
          </a:p>
          <a:p/>
          <a:p>
            <a:r>
              <a:t>Now the three boxes at the bottom, and the middle one is the important one.</a:t>
            </a:r>
          </a:p>
          <a:p>
            <a:r>
              <a:t>There is a 57% chance this road is blocked at some point in July. But a lorry</a:t>
            </a:r>
          </a:p>
          <a:p>
            <a:r>
              <a:t>crosses it in a few hours, not all month - so the chance this particular trip</a:t>
            </a:r>
          </a:p>
          <a:p>
            <a:r>
              <a:t>is affected is 11%. That works out to about 5 hours of expected delay, and it is</a:t>
            </a:r>
          </a:p>
          <a:p>
            <a:r>
              <a:t>the 5 hours, not the 57%, that goes into the cost of the route.</a:t>
            </a:r>
          </a:p>
          <a:p/>
          <a:p>
            <a:r>
              <a:t>Why it matters: if you use 57% as the trip risk, every hill road looks</a:t>
            </a:r>
          </a:p>
          <a:p>
            <a:r>
              <a:t>impassable and the software tells everyone to fly. That is the mistake this</a:t>
            </a:r>
          </a:p>
          <a:p>
            <a:r>
              <a:t>avoids.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of four screenshots from the live app.</a:t>
            </a:r>
          </a:p>
          <a:p/>
          <a:p>
            <a:r>
              <a:t>Five inputs: from, to, when, what you are shipping, and what matters most. Modes</a:t>
            </a:r>
          </a:p>
          <a:p>
            <a:r>
              <a:t>can be switched off - useful for 'what if the rail line is down'.</a:t>
            </a:r>
          </a:p>
          <a:p/>
          <a:p>
            <a:r>
              <a:t>Four answers: 2 days, ₹928 a tonne, 338 km, and 22.3 hours of expected delay</a:t>
            </a:r>
          </a:p>
          <a:p>
            <a:r>
              <a:t>which is already inside the 2 days.</a:t>
            </a:r>
          </a:p>
          <a:p/>
          <a:p>
            <a:r>
              <a:t>Point at the map where the line changes from blue to purple. That is Dimapur.</a:t>
            </a:r>
          </a:p>
          <a:p>
            <a:r>
              <a:t>The cargo comes off a lorry and onto a train, and we charge 6 hours and ₹250 a</a:t>
            </a:r>
          </a:p>
          <a:p>
            <a:r>
              <a:t>tonne for doing it. Most tools treat that as free, which is why their</a:t>
            </a:r>
          </a:p>
          <a:p>
            <a:r>
              <a:t>multimodal plans look better than they turn out to be.</a:t>
            </a:r>
          </a:p>
          <a:p/>
          <a:p>
            <a:r>
              <a:t>If someone asks why the map has no background: the tile server is blocked on</a:t>
            </a:r>
          </a:p>
          <a:p>
            <a:r>
              <a:t>this network. Our own data still draws. That is deliberate - the map is built to</a:t>
            </a:r>
          </a:p>
          <a:p>
            <a:r>
              <a:t>work without internet.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picture people remember. Give them a moment to look at it.</a:t>
            </a:r>
          </a:p>
          <a:p/>
          <a:p>
            <a:r>
              <a:t>Every road in the region longer than 5 km, coloured by how likely it is to be</a:t>
            </a:r>
          </a:p>
          <a:p>
            <a:r>
              <a:t>blocked this July. Green usually open, amber often disrupted, red frequently</a:t>
            </a:r>
          </a:p>
          <a:p>
            <a:r>
              <a:t>blocked.</a:t>
            </a:r>
          </a:p>
          <a:p/>
          <a:p>
            <a:r>
              <a:t>Two things to point out. The thickness of the line repeats the colour, so it</a:t>
            </a:r>
          </a:p>
          <a:p>
            <a:r>
              <a:t>still reads if you are colour-blind or if the deck is printed in black and</a:t>
            </a:r>
          </a:p>
          <a:p>
            <a:r>
              <a:t>white. And the month is a dropdown - you can watch the network fall apart</a:t>
            </a:r>
          </a:p>
          <a:p>
            <a:r>
              <a:t>through June to September and recover in October.</a:t>
            </a:r>
          </a:p>
          <a:p/>
          <a:p>
            <a:r>
              <a:t>The finding worth stating: the worst roads on the list are in Meghalaya and the</a:t>
            </a:r>
          </a:p>
          <a:p>
            <a:r>
              <a:t>hazard is flood, not landslide. Across the whole network 6,316 roads are at more</a:t>
            </a:r>
          </a:p>
          <a:p>
            <a:r>
              <a:t>risk from water than from slopes.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half of the problem statement most teams skip, and it is the half</a:t>
            </a:r>
          </a:p>
          <a:p>
            <a:r>
              <a:t>MDoNER spends money on.</a:t>
            </a:r>
          </a:p>
          <a:p/>
          <a:p>
            <a:r>
              <a:t>5,505 towns and villages, each scored on how many hours it actually takes to</a:t>
            </a:r>
          </a:p>
          <a:p>
            <a:r>
              <a:t>reach a market, cold storage and the national gateway - travelling over the real</a:t>
            </a:r>
          </a:p>
          <a:p>
            <a:r>
              <a:t>network, not measured across a map.</a:t>
            </a:r>
          </a:p>
          <a:p/>
          <a:p>
            <a:r>
              <a:t>Namsai is 4 days from a market. Changliang is 7.</a:t>
            </a:r>
          </a:p>
          <a:p/>
          <a:p>
            <a:r>
              <a:t>Be honest about the red. Only 35 markets are mapped in the entire region, so</a:t>
            </a:r>
          </a:p>
          <a:p>
            <a:r>
              <a:t>most places score badly. It is the first thing we would fix and we know exactly</a:t>
            </a:r>
          </a:p>
          <a:p>
            <a:r>
              <a:t>how - the Agmarknet market list. Saying that is stronger than pretending the</a:t>
            </a:r>
          </a:p>
          <a:p>
            <a:r>
              <a:t>map is finished.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screenshot. This is the app arguing with itself, in English.</a:t>
            </a:r>
          </a:p>
          <a:p/>
          <a:p>
            <a:r>
              <a:t>It has laid out every sensible way to move the consignment and written the</a:t>
            </a:r>
          </a:p>
          <a:p>
            <a:r>
              <a:t>comparison for you: only 4 of the 7 are genuinely different journeys, air saves</a:t>
            </a:r>
          </a:p>
          <a:p>
            <a:r>
              <a:t>14 hours and costs ₹5,026 a tonne more, and across all of them the spread is</a:t>
            </a:r>
          </a:p>
          <a:p>
            <a:r>
              <a:t>₹5,032 a tonne.</a:t>
            </a:r>
          </a:p>
          <a:p/>
          <a:p>
            <a:r>
              <a:t>That last sentence is generated by the software, not written by us. Read it out.</a:t>
            </a:r>
          </a:p>
          <a:p/>
          <a:p>
            <a:r>
              <a:t>Then the judgement it leaves to the human: is the cargo losing more than ₹5,026</a:t>
            </a:r>
          </a:p>
          <a:p>
            <a:r>
              <a:t>a tonne while it waits? If it is perishable, yes. If it is cement, no. A rate</a:t>
            </a:r>
          </a:p>
          <a:p>
            <a:r>
              <a:t>card cannot make that call.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honesty. Left column: eight things that work today.</a:t>
            </a:r>
          </a:p>
          <a:p/>
          <a:p>
            <a:r>
              <a:t>Right column: what we would do next, in order, and why. The first one - loading</a:t>
            </a:r>
          </a:p>
          <a:p>
            <a:r>
              <a:t>the Agmarknet market list - is the single change that most improves the</a:t>
            </a:r>
          </a:p>
          <a:p>
            <a:r>
              <a:t>accessibility answer, and we know it.</a:t>
            </a:r>
          </a:p>
          <a:p/>
          <a:p>
            <a:r>
              <a:t>Then the box at the bottom left, and say it out loud rather than waiting to be</a:t>
            </a:r>
          </a:p>
          <a:p>
            <a:r>
              <a:t>asked: we do not model earthquakes. The North East is in Seismic Zone V, India's</a:t>
            </a:r>
          </a:p>
          <a:p>
            <a:r>
              <a:t>highest, so a major quake is the biggest single threat to these corridors and</a:t>
            </a:r>
          </a:p>
          <a:p>
            <a:r>
              <a:t>this platform says nothing about it. That needs a hazard model crossed with</a:t>
            </a:r>
          </a:p>
          <a:p>
            <a:r>
              <a:t>structural survey data, which is a research project, not a data join.</a:t>
            </a:r>
          </a:p>
          <a:p/>
          <a:p>
            <a:r>
              <a:t>Finish with: everything in this deck came out of the running system, and the</a:t>
            </a:r>
          </a:p>
          <a:p>
            <a:r>
              <a:t>repository is public if you want to check any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r>
              <a:rPr sz="2000" b="1">
                <a:solidFill>
                  <a:srgbClr val="1A1A1A"/>
                </a:solidFill>
                <a:latin typeface="Calibri"/>
              </a:rPr>
              <a:t>IDEA SUBMISSION</a:t>
            </a:r>
            <a:endParaRPr lang="en-US"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15000"/>
              </a:lnSpc>
              <a:spcAft>
                <a:spcPts val="900"/>
              </a:spcAft>
            </a:pPr>
            <a:r>
              <a:rPr sz="1300" b="1">
                <a:solidFill>
                  <a:srgbClr val="1F4E79"/>
                </a:solidFill>
                <a:latin typeface="Calibri"/>
              </a:rPr>
              <a:t>Problem Statement ID  </a:t>
            </a:r>
            <a:r>
              <a:rPr sz="1300" b="0">
                <a:solidFill>
                  <a:srgbClr val="1A1A1A"/>
                </a:solidFill>
                <a:latin typeface="Calibri"/>
              </a:rPr>
              <a:t>SIH26002</a:t>
            </a:r>
            <a:endParaRPr lang="en-US" dirty="0"/>
          </a:p>
          <a:p>
            <a:pPr>
              <a:lnSpc>
                <a:spcPct val="115000"/>
              </a:lnSpc>
              <a:spcAft>
                <a:spcPts val="900"/>
              </a:spcAft>
            </a:pPr>
            <a:r>
              <a:rPr sz="1300" b="1">
                <a:solidFill>
                  <a:srgbClr val="1F4E79"/>
                </a:solidFill>
                <a:latin typeface="Calibri"/>
              </a:rPr>
              <a:t>Problem Statement  </a:t>
            </a:r>
            <a:r>
              <a:rPr sz="1300" b="0">
                <a:solidFill>
                  <a:srgbClr val="1A1A1A"/>
                </a:solidFill>
                <a:latin typeface="Calibri"/>
              </a:rPr>
              <a:t>AI-Based Smart Logistics and Accessibility Intelligence Platform for the North Eastern Region</a:t>
            </a:r>
          </a:p>
          <a:p>
            <a:pPr>
              <a:lnSpc>
                <a:spcPct val="115000"/>
              </a:lnSpc>
              <a:spcAft>
                <a:spcPts val="900"/>
              </a:spcAft>
            </a:pPr>
            <a:r>
              <a:rPr sz="1300" b="1">
                <a:solidFill>
                  <a:srgbClr val="1F4E79"/>
                </a:solidFill>
                <a:latin typeface="Calibri"/>
              </a:rPr>
              <a:t>Theme  </a:t>
            </a:r>
            <a:r>
              <a:rPr sz="1300" b="0">
                <a:solidFill>
                  <a:srgbClr val="1A1A1A"/>
                </a:solidFill>
                <a:latin typeface="Calibri"/>
              </a:rPr>
              <a:t>Smart Automation  |  MDoNER</a:t>
            </a:r>
          </a:p>
          <a:p>
            <a:pPr>
              <a:lnSpc>
                <a:spcPct val="115000"/>
              </a:lnSpc>
              <a:spcAft>
                <a:spcPts val="900"/>
              </a:spcAft>
            </a:pPr>
            <a:r>
              <a:rPr sz="1300" b="1">
                <a:solidFill>
                  <a:srgbClr val="1F4E79"/>
                </a:solidFill>
                <a:latin typeface="Calibri"/>
              </a:rPr>
              <a:t>PS Category  </a:t>
            </a:r>
            <a:r>
              <a:rPr sz="1300" b="0">
                <a:solidFill>
                  <a:srgbClr val="1A1A1A"/>
                </a:solidFill>
                <a:latin typeface="Calibri"/>
              </a:rPr>
              <a:t>Software</a:t>
            </a:r>
          </a:p>
          <a:p>
            <a:pPr>
              <a:lnSpc>
                <a:spcPct val="115000"/>
              </a:lnSpc>
              <a:spcAft>
                <a:spcPts val="900"/>
              </a:spcAft>
            </a:pPr>
            <a:r>
              <a:rPr sz="1300" b="1">
                <a:solidFill>
                  <a:srgbClr val="1F4E79"/>
                </a:solidFill>
                <a:latin typeface="Calibri"/>
              </a:rPr>
              <a:t>Team ID  </a:t>
            </a:r>
            <a:r>
              <a:rPr sz="1300" b="0">
                <a:solidFill>
                  <a:srgbClr val="1A1A1A"/>
                </a:solidFill>
                <a:latin typeface="Calibri"/>
              </a:rPr>
              <a:t>&lt;your team ID&gt;</a:t>
            </a:r>
          </a:p>
          <a:p>
            <a:pPr>
              <a:lnSpc>
                <a:spcPct val="115000"/>
              </a:lnSpc>
              <a:spcAft>
                <a:spcPts val="900"/>
              </a:spcAft>
            </a:pPr>
            <a:r>
              <a:rPr sz="1300" b="1">
                <a:solidFill>
                  <a:srgbClr val="1F4E79"/>
                </a:solidFill>
                <a:latin typeface="Calibri"/>
              </a:rPr>
              <a:t>Team Name  </a:t>
            </a:r>
            <a:r>
              <a:rPr sz="1300" b="0">
                <a:solidFill>
                  <a:srgbClr val="1A1A1A"/>
                </a:solidFill>
                <a:latin typeface="Calibri"/>
              </a:rPr>
              <a:t>&lt;your registered 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83080" y="109728"/>
            <a:ext cx="7818120" cy="914400"/>
          </a:xfrm>
        </p:spPr>
        <p:txBody>
          <a:bodyPr wrap="square"/>
          <a:lstStyle/>
          <a:p>
            <a:pPr eaLnBrk="1" hangingPunct="1"/>
            <a:br>
              <a:rPr lang="en-US" sz="3600" b="1" dirty="0">
                <a:latin typeface="Times New Roman" panose="02020603050405020304" pitchFamily="18" charset="0"/>
                <a:ea typeface="ＭＳ Ｐゴシック" pitchFamily="1" charset="-128"/>
                <a:cs typeface="Times New Roman" panose="02020603050405020304" pitchFamily="18" charset="0"/>
              </a:rPr>
            </a:br>
            <a:r>
              <a:rPr sz="2400" b="1">
                <a:solidFill>
                  <a:srgbClr val="1A1A1A"/>
                </a:solidFill>
                <a:latin typeface="Calibri"/>
              </a:rPr>
              <a:t>Plan freight for the North East the way the region actually works</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Proposed solution</a:t>
            </a:r>
          </a:p>
        </p:txBody>
      </p:sp>
      <p:sp>
        <p:nvSpPr>
          <p:cNvPr id="15363" name="TextBox 15362"/>
          <p:cNvSpPr txBox="1"/>
          <p:nvPr/>
        </p:nvSpPr>
        <p:spPr>
          <a:xfrm>
            <a:off x="502920" y="1481328"/>
            <a:ext cx="5989320" cy="274320"/>
          </a:xfrm>
          <a:prstGeom prst="rect">
            <a:avLst/>
          </a:prstGeom>
          <a:noFill/>
        </p:spPr>
        <p:txBody>
          <a:bodyPr wrap="square" lIns="0" rIns="0" tIns="0" bIns="0" anchor="t">
            <a:spAutoFit/>
          </a:bodyPr>
          <a:lstStyle/>
          <a:p>
            <a:pPr algn="l">
              <a:lnSpc>
                <a:spcPct val="115000"/>
              </a:lnSpc>
              <a:spcAft>
                <a:spcPts val="0"/>
              </a:spcAft>
            </a:pPr>
            <a:r>
              <a:rPr sz="1300" b="1" i="0">
                <a:solidFill>
                  <a:srgbClr val="1A1A1A"/>
                </a:solidFill>
                <a:latin typeface="Calibri"/>
              </a:rPr>
              <a:t>The problem, plainly</a:t>
            </a:r>
          </a:p>
        </p:txBody>
      </p:sp>
      <p:sp>
        <p:nvSpPr>
          <p:cNvPr id="15364" name="TextBox 15363"/>
          <p:cNvSpPr txBox="1"/>
          <p:nvPr/>
        </p:nvSpPr>
        <p:spPr>
          <a:xfrm>
            <a:off x="502920" y="1810512"/>
            <a:ext cx="5989320" cy="1417320"/>
          </a:xfrm>
          <a:prstGeom prst="rect">
            <a:avLst/>
          </a:prstGeom>
          <a:noFill/>
        </p:spPr>
        <p:txBody>
          <a:bodyPr wrap="square" lIns="0" rIns="0" tIns="0" bIns="0" anchor="t">
            <a:spAutoFit/>
          </a:bodyPr>
          <a:lstStyle/>
          <a:p>
            <a:pPr algn="l">
              <a:lnSpc>
                <a:spcPct val="115000"/>
              </a:lnSpc>
              <a:spcAft>
                <a:spcPts val="600"/>
              </a:spcAft>
            </a:pPr>
            <a:r>
              <a:rPr sz="1100" b="0" i="0">
                <a:solidFill>
                  <a:srgbClr val="5F5F5F"/>
                </a:solidFill>
                <a:latin typeface="Calibri"/>
              </a:rPr>
              <a:t>The eight North Eastern states reach the rest of India through one 22 km strip of land at Siliguri. Highways run single-lane through hills that slide. Assam floods every year. The Brahmaputra is a national waterway that is barely used. For four months the monsoon closes the roads the other eight months depend on.</a:t>
            </a:r>
          </a:p>
          <a:p>
            <a:pPr algn="l">
              <a:lnSpc>
                <a:spcPct val="115000"/>
              </a:lnSpc>
              <a:spcAft>
                <a:spcPts val="0"/>
              </a:spcAft>
            </a:pPr>
            <a:r>
              <a:rPr sz="1100" b="1" i="0">
                <a:solidFill>
                  <a:srgbClr val="1A1A1A"/>
                </a:solidFill>
                <a:latin typeface="Calibri"/>
              </a:rPr>
              <a:t>A shipper today picks a route off a map and a rate card. Neither of them knows any of this.</a:t>
            </a:r>
          </a:p>
        </p:txBody>
      </p:sp>
      <p:sp>
        <p:nvSpPr>
          <p:cNvPr id="15365" name="TextBox 15364"/>
          <p:cNvSpPr txBox="1"/>
          <p:nvPr/>
        </p:nvSpPr>
        <p:spPr>
          <a:xfrm>
            <a:off x="502920" y="3401568"/>
            <a:ext cx="5989320" cy="274320"/>
          </a:xfrm>
          <a:prstGeom prst="rect">
            <a:avLst/>
          </a:prstGeom>
          <a:noFill/>
        </p:spPr>
        <p:txBody>
          <a:bodyPr wrap="square" lIns="0" rIns="0" tIns="0" bIns="0" anchor="t">
            <a:spAutoFit/>
          </a:bodyPr>
          <a:lstStyle/>
          <a:p>
            <a:pPr algn="l">
              <a:lnSpc>
                <a:spcPct val="115000"/>
              </a:lnSpc>
              <a:spcAft>
                <a:spcPts val="0"/>
              </a:spcAft>
            </a:pPr>
            <a:r>
              <a:rPr sz="1300" b="1" i="0">
                <a:solidFill>
                  <a:srgbClr val="1A1A1A"/>
                </a:solidFill>
                <a:latin typeface="Calibri"/>
              </a:rPr>
              <a:t>What we built</a:t>
            </a:r>
          </a:p>
        </p:txBody>
      </p:sp>
      <p:sp>
        <p:nvSpPr>
          <p:cNvPr id="15366" name="TextBox 15365"/>
          <p:cNvSpPr txBox="1"/>
          <p:nvPr/>
        </p:nvSpPr>
        <p:spPr>
          <a:xfrm>
            <a:off x="502920" y="3730752"/>
            <a:ext cx="5989320" cy="1188720"/>
          </a:xfrm>
          <a:prstGeom prst="rect">
            <a:avLst/>
          </a:prstGeom>
          <a:noFill/>
        </p:spPr>
        <p:txBody>
          <a:bodyPr wrap="square" lIns="0" rIns="0" tIns="0" bIns="0" anchor="t">
            <a:spAutoFit/>
          </a:bodyPr>
          <a:lstStyle/>
          <a:p>
            <a:pPr>
              <a:lnSpc>
                <a:spcPct val="115000"/>
              </a:lnSpc>
              <a:spcAft>
                <a:spcPts val="0"/>
              </a:spcAft>
            </a:pPr>
            <a:r>
              <a:rPr sz="1100" b="0">
                <a:solidFill>
                  <a:srgbClr val="5F5F5F"/>
                </a:solidFill>
                <a:latin typeface="Calibri"/>
              </a:rPr>
              <a:t>One web application that answers two questions.  </a:t>
            </a:r>
            <a:r>
              <a:rPr sz="1100" b="1">
                <a:solidFill>
                  <a:srgbClr val="1A1A1A"/>
                </a:solidFill>
                <a:latin typeface="Calibri"/>
              </a:rPr>
              <a:t>First</a:t>
            </a:r>
            <a:r>
              <a:rPr sz="1100" b="0">
                <a:solidFill>
                  <a:srgbClr val="5F5F5F"/>
                </a:solidFill>
                <a:latin typeface="Calibri"/>
              </a:rPr>
              <a:t>, what is the cheapest sensible way to move this consignment this month — road, rail, river, air, or a mix — and what does it cost in rupees and days?  </a:t>
            </a:r>
            <a:r>
              <a:rPr sz="1100" b="1">
                <a:solidFill>
                  <a:srgbClr val="1A1A1A"/>
                </a:solidFill>
                <a:latin typeface="Calibri"/>
              </a:rPr>
              <a:t>Second</a:t>
            </a:r>
            <a:r>
              <a:rPr sz="1100" b="0">
                <a:solidFill>
                  <a:srgbClr val="5F5F5F"/>
                </a:solidFill>
                <a:latin typeface="Calibri"/>
              </a:rPr>
              <a:t>, which towns and villages are cut off, how much worse does the monsoon make it, and where should the next market or cold store go?</a:t>
            </a:r>
          </a:p>
        </p:txBody>
      </p:sp>
      <p:sp>
        <p:nvSpPr>
          <p:cNvPr id="15367" name="TextBox 15366"/>
          <p:cNvSpPr txBox="1"/>
          <p:nvPr/>
        </p:nvSpPr>
        <p:spPr>
          <a:xfrm>
            <a:off x="502920" y="5047488"/>
            <a:ext cx="5989320" cy="274320"/>
          </a:xfrm>
          <a:prstGeom prst="rect">
            <a:avLst/>
          </a:prstGeom>
          <a:noFill/>
        </p:spPr>
        <p:txBody>
          <a:bodyPr wrap="square" lIns="0" rIns="0" tIns="0" bIns="0" anchor="t">
            <a:spAutoFit/>
          </a:bodyPr>
          <a:lstStyle/>
          <a:p>
            <a:pPr algn="l">
              <a:lnSpc>
                <a:spcPct val="115000"/>
              </a:lnSpc>
              <a:spcAft>
                <a:spcPts val="0"/>
              </a:spcAft>
            </a:pPr>
            <a:r>
              <a:rPr sz="1300" b="1" i="0">
                <a:solidFill>
                  <a:srgbClr val="1A1A1A"/>
                </a:solidFill>
                <a:latin typeface="Calibri"/>
              </a:rPr>
              <a:t>Why this is not a map with a route on it</a:t>
            </a:r>
          </a:p>
        </p:txBody>
      </p:sp>
      <p:sp>
        <p:nvSpPr>
          <p:cNvPr id="15368" name="TextBox 15367"/>
          <p:cNvSpPr txBox="1"/>
          <p:nvPr/>
        </p:nvSpPr>
        <p:spPr>
          <a:xfrm>
            <a:off x="502920" y="5376672"/>
            <a:ext cx="5989320" cy="731520"/>
          </a:xfrm>
          <a:prstGeom prst="rect">
            <a:avLst/>
          </a:prstGeom>
          <a:noFill/>
        </p:spPr>
        <p:txBody>
          <a:bodyPr wrap="square" lIns="0" rIns="0" tIns="0" bIns="0" anchor="t">
            <a:spAutoFit/>
          </a:bodyPr>
          <a:lstStyle/>
          <a:p>
            <a:pPr algn="l">
              <a:lnSpc>
                <a:spcPct val="115000"/>
              </a:lnSpc>
              <a:spcAft>
                <a:spcPts val="0"/>
              </a:spcAft>
            </a:pPr>
            <a:r>
              <a:rPr sz="1100" b="0" i="0">
                <a:solidFill>
                  <a:srgbClr val="5F5F5F"/>
                </a:solidFill>
                <a:latin typeface="Calibri"/>
              </a:rPr>
              <a:t>We do not pick the shortest road. We score every stretch on what it costs, how long it takes, and how likely the monsoon is to shut it — then compare whole journeys, charging for every change of vehicle.</a:t>
            </a:r>
          </a:p>
        </p:txBody>
      </p:sp>
      <p:sp>
        <p:nvSpPr>
          <p:cNvPr id="15369" name="TextBox 15368"/>
          <p:cNvSpPr txBox="1"/>
          <p:nvPr/>
        </p:nvSpPr>
        <p:spPr>
          <a:xfrm>
            <a:off x="6720840" y="1481328"/>
            <a:ext cx="4965192" cy="274320"/>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Kohima to Guwahati in July, as the app reports it</a:t>
            </a:r>
          </a:p>
        </p:txBody>
      </p:sp>
      <p:sp>
        <p:nvSpPr>
          <p:cNvPr id="15370" name="TextBox 15369"/>
          <p:cNvSpPr txBox="1"/>
          <p:nvPr/>
        </p:nvSpPr>
        <p:spPr>
          <a:xfrm>
            <a:off x="6720840" y="1773936"/>
            <a:ext cx="4965192" cy="237744"/>
          </a:xfrm>
          <a:prstGeom prst="rect">
            <a:avLst/>
          </a:prstGeom>
          <a:noFill/>
        </p:spPr>
        <p:txBody>
          <a:bodyPr wrap="square" lIns="0" rIns="0" tIns="0" bIns="0" anchor="t">
            <a:spAutoFit/>
          </a:bodyPr>
          <a:lstStyle/>
          <a:p>
            <a:pPr algn="l">
              <a:lnSpc>
                <a:spcPct val="115000"/>
              </a:lnSpc>
              <a:spcAft>
                <a:spcPts val="0"/>
              </a:spcAft>
            </a:pPr>
            <a:r>
              <a:rPr sz="950" b="0" i="0">
                <a:solidFill>
                  <a:srgbClr val="8A8A8A"/>
                </a:solidFill>
                <a:latin typeface="Calibri"/>
              </a:rPr>
              <a:t>One tonne of general cargo. Figures taken from the running system.</a:t>
            </a:r>
          </a:p>
        </p:txBody>
      </p:sp>
      <p:graphicFrame>
        <p:nvGraphicFramePr>
          <p:cNvPr id="15371" name="Table 15370"/>
          <p:cNvGraphicFramePr>
            <a:graphicFrameLocks noGrp="1"/>
          </p:cNvGraphicFramePr>
          <p:nvPr/>
        </p:nvGraphicFramePr>
        <p:xfrm>
          <a:off x="6720840" y="2084831"/>
          <a:ext cx="4965192" cy="1444752"/>
        </p:xfrm>
        <a:graphic>
          <a:graphicData uri="http://schemas.openxmlformats.org/drawingml/2006/table">
            <a:tbl>
              <a:tblPr firstRow="1">
                <a:tableStyleId>{5C22544A-7EE6-4342-B048-85BDC9FD1C3A}</a:tableStyleId>
              </a:tblPr>
              <a:tblGrid>
                <a:gridCol w="2221992"/>
                <a:gridCol w="685800"/>
                <a:gridCol w="1097280"/>
                <a:gridCol w="960120"/>
              </a:tblGrid>
              <a:tr h="274320">
                <a:tc>
                  <a:txBody>
                    <a:bodyPr wrap="square"/>
                    <a:lstStyle/>
                    <a:p>
                      <a:pPr algn="l">
                        <a:lnSpc>
                          <a:spcPct val="100000"/>
                        </a:lnSpc>
                      </a:pPr>
                      <a:r>
                        <a:rPr sz="950" b="1">
                          <a:solidFill>
                            <a:srgbClr val="1A1A1A"/>
                          </a:solidFill>
                          <a:latin typeface="Calibri"/>
                        </a:rPr>
                        <a:t>Way of moving it</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Days</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Cost/tonne</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Delay</a:t>
                      </a:r>
                    </a:p>
                  </a:txBody>
                  <a:tcPr marL="64008" marR="64008" marT="18288" marB="18288" anchor="ctr">
                    <a:solidFill>
                      <a:srgbClr val="E4E8EB"/>
                    </a:solidFill>
                  </a:tcPr>
                </a:tc>
              </a:tr>
              <a:tr h="292608">
                <a:tc>
                  <a:txBody>
                    <a:bodyPr wrap="square"/>
                    <a:lstStyle/>
                    <a:p>
                      <a:pPr algn="l">
                        <a:lnSpc>
                          <a:spcPct val="100000"/>
                        </a:lnSpc>
                      </a:pPr>
                      <a:r>
                        <a:rPr sz="1000" b="0">
                          <a:solidFill>
                            <a:srgbClr val="1A1A1A"/>
                          </a:solidFill>
                          <a:latin typeface="Calibri"/>
                        </a:rPr>
                        <a:t>Road, then rail  (chosen)</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2.0</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₹928</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22.3 h</a:t>
                      </a:r>
                    </a:p>
                  </a:txBody>
                  <a:tcPr marL="64008" marR="64008" marT="18288" marB="18288" anchor="ctr">
                    <a:solidFill>
                      <a:srgbClr val="FFFFFF"/>
                    </a:solidFill>
                  </a:tcPr>
                </a:tc>
              </a:tr>
              <a:tr h="292608">
                <a:tc>
                  <a:txBody>
                    <a:bodyPr wrap="square"/>
                    <a:lstStyle/>
                    <a:p>
                      <a:pPr algn="l">
                        <a:lnSpc>
                          <a:spcPct val="100000"/>
                        </a:lnSpc>
                      </a:pPr>
                      <a:r>
                        <a:rPr sz="1000" b="0">
                          <a:solidFill>
                            <a:srgbClr val="1A1A1A"/>
                          </a:solidFill>
                          <a:latin typeface="Calibri"/>
                        </a:rPr>
                        <a:t>Road, then air</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1.4</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₹5,954</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19.1 h</a:t>
                      </a:r>
                    </a:p>
                  </a:txBody>
                  <a:tcPr marL="64008" marR="64008" marT="18288" marB="18288" anchor="ctr">
                    <a:solidFill>
                      <a:srgbClr val="FFFFFF"/>
                    </a:solidFill>
                  </a:tcPr>
                </a:tc>
              </a:tr>
              <a:tr h="292608">
                <a:tc>
                  <a:txBody>
                    <a:bodyPr wrap="square"/>
                    <a:lstStyle/>
                    <a:p>
                      <a:pPr algn="l">
                        <a:lnSpc>
                          <a:spcPct val="100000"/>
                        </a:lnSpc>
                      </a:pPr>
                      <a:r>
                        <a:rPr sz="1000" b="0">
                          <a:solidFill>
                            <a:srgbClr val="1A1A1A"/>
                          </a:solidFill>
                          <a:latin typeface="Calibri"/>
                        </a:rPr>
                        <a:t>Road only</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7.6</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₹1,661</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5.8 d</a:t>
                      </a:r>
                    </a:p>
                  </a:txBody>
                  <a:tcPr marL="64008" marR="64008" marT="18288" marB="18288" anchor="ctr">
                    <a:solidFill>
                      <a:srgbClr val="FFFFFF"/>
                    </a:solidFill>
                  </a:tcPr>
                </a:tc>
              </a:tr>
              <a:tr h="292608">
                <a:tc>
                  <a:txBody>
                    <a:bodyPr wrap="square"/>
                    <a:lstStyle/>
                    <a:p>
                      <a:pPr algn="l">
                        <a:lnSpc>
                          <a:spcPct val="100000"/>
                        </a:lnSpc>
                      </a:pPr>
                      <a:r>
                        <a:rPr sz="1000" b="0">
                          <a:solidFill>
                            <a:srgbClr val="1A1A1A"/>
                          </a:solidFill>
                          <a:latin typeface="Calibri"/>
                        </a:rPr>
                        <a:t>Cheapest on paper</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2.0</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₹922</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22.3 h</a:t>
                      </a:r>
                    </a:p>
                  </a:txBody>
                  <a:tcPr marL="64008" marR="64008" marT="18288" marB="18288" anchor="ctr">
                    <a:solidFill>
                      <a:srgbClr val="FFFFFF"/>
                    </a:solidFill>
                  </a:tcPr>
                </a:tc>
              </a:tr>
            </a:tbl>
          </a:graphicData>
        </a:graphic>
      </p:graphicFrame>
      <p:sp>
        <p:nvSpPr>
          <p:cNvPr id="15372" name="TextBox 15371"/>
          <p:cNvSpPr txBox="1"/>
          <p:nvPr/>
        </p:nvSpPr>
        <p:spPr>
          <a:xfrm>
            <a:off x="6720840" y="3703320"/>
            <a:ext cx="4965192" cy="960120"/>
          </a:xfrm>
          <a:prstGeom prst="rect">
            <a:avLst/>
          </a:prstGeom>
          <a:noFill/>
        </p:spPr>
        <p:txBody>
          <a:bodyPr wrap="square" lIns="0" rIns="0" tIns="0" bIns="0" anchor="t">
            <a:spAutoFit/>
          </a:bodyPr>
          <a:lstStyle/>
          <a:p>
            <a:pPr>
              <a:lnSpc>
                <a:spcPct val="115000"/>
              </a:lnSpc>
              <a:spcAft>
                <a:spcPts val="0"/>
              </a:spcAft>
            </a:pPr>
            <a:r>
              <a:rPr sz="1100" b="0">
                <a:solidFill>
                  <a:srgbClr val="5F5F5F"/>
                </a:solidFill>
                <a:latin typeface="Calibri"/>
              </a:rPr>
              <a:t>Between the best and the worst choice on this one lane there is </a:t>
            </a:r>
            <a:r>
              <a:rPr sz="1100" b="1">
                <a:solidFill>
                  <a:srgbClr val="1A1A1A"/>
                </a:solidFill>
                <a:latin typeface="Calibri"/>
              </a:rPr>
              <a:t>₹5,032 per tonne and 6.2 days</a:t>
            </a:r>
            <a:r>
              <a:rPr sz="1100" b="0">
                <a:solidFill>
                  <a:srgbClr val="5F5F5F"/>
                </a:solidFill>
                <a:latin typeface="Calibri"/>
              </a:rPr>
              <a:t>. Road only — the obvious answer — is the worst of the four. That gap is what the platform is for.</a:t>
            </a:r>
          </a:p>
        </p:txBody>
      </p:sp>
      <p:sp>
        <p:nvSpPr>
          <p:cNvPr id="15373" name="Rectangle 15372"/>
          <p:cNvSpPr/>
          <p:nvPr/>
        </p:nvSpPr>
        <p:spPr>
          <a:xfrm>
            <a:off x="6720840" y="4846320"/>
            <a:ext cx="4965192" cy="12618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74" name="TextBox 15373"/>
          <p:cNvSpPr txBox="1"/>
          <p:nvPr/>
        </p:nvSpPr>
        <p:spPr>
          <a:xfrm>
            <a:off x="6931152" y="5010912"/>
            <a:ext cx="4544568" cy="932688"/>
          </a:xfrm>
          <a:prstGeom prst="rect">
            <a:avLst/>
          </a:prstGeom>
          <a:noFill/>
        </p:spPr>
        <p:txBody>
          <a:bodyPr wrap="square" lIns="0" rIns="0" tIns="0" bIns="0" anchor="t">
            <a:spAutoFit/>
          </a:bodyPr>
          <a:lstStyle/>
          <a:p>
            <a:pPr algn="l">
              <a:lnSpc>
                <a:spcPct val="115000"/>
              </a:lnSpc>
              <a:spcAft>
                <a:spcPts val="400"/>
              </a:spcAft>
            </a:pPr>
            <a:r>
              <a:rPr sz="1100" b="1" i="0">
                <a:solidFill>
                  <a:srgbClr val="1A1A1A"/>
                </a:solidFill>
                <a:latin typeface="Calibri"/>
              </a:rPr>
              <a:t>What is different about it</a:t>
            </a:r>
          </a:p>
          <a:p>
            <a:pPr algn="l">
              <a:lnSpc>
                <a:spcPct val="115000"/>
              </a:lnSpc>
              <a:spcAft>
                <a:spcPts val="0"/>
              </a:spcAft>
            </a:pPr>
            <a:r>
              <a:rPr sz="1000" b="0" i="0">
                <a:solidFill>
                  <a:srgbClr val="5F5F5F"/>
                </a:solidFill>
                <a:latin typeface="Calibri"/>
              </a:rPr>
              <a:t>Changing vehicle is charged, not free. Risk is a cost in hours and rupees, not a warning label. And the chance a road shuts sometime in July is kept separate from the chance this lorry meets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800" b="1">
                <a:solidFill>
                  <a:srgbClr val="1A1A1A"/>
                </a:solidFill>
                <a:latin typeface="Calibri"/>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How the system is put together</a:t>
            </a:r>
          </a:p>
        </p:txBody>
      </p:sp>
      <p:sp>
        <p:nvSpPr>
          <p:cNvPr id="17411" name="TextBox 17410"/>
          <p:cNvSpPr txBox="1"/>
          <p:nvPr/>
        </p:nvSpPr>
        <p:spPr>
          <a:xfrm>
            <a:off x="502920" y="1481328"/>
            <a:ext cx="1417320" cy="219456"/>
          </a:xfrm>
          <a:prstGeom prst="rect">
            <a:avLst/>
          </a:prstGeom>
          <a:noFill/>
        </p:spPr>
        <p:txBody>
          <a:bodyPr wrap="square" lIns="0" rIns="0" tIns="0" bIns="0" anchor="ctr">
            <a:spAutoFit/>
          </a:bodyPr>
          <a:lstStyle/>
          <a:p>
            <a:pPr algn="l">
              <a:lnSpc>
                <a:spcPct val="115000"/>
              </a:lnSpc>
              <a:spcAft>
                <a:spcPts val="0"/>
              </a:spcAft>
            </a:pPr>
            <a:r>
              <a:rPr sz="900" b="1" i="0">
                <a:solidFill>
                  <a:srgbClr val="8A8A8A"/>
                </a:solidFill>
                <a:latin typeface="Calibri"/>
              </a:rPr>
              <a:t>OPEN DATA</a:t>
            </a:r>
          </a:p>
        </p:txBody>
      </p:sp>
      <p:sp>
        <p:nvSpPr>
          <p:cNvPr id="17412" name="Rectangle 17411"/>
          <p:cNvSpPr/>
          <p:nvPr/>
        </p:nvSpPr>
        <p:spPr>
          <a:xfrm>
            <a:off x="1691640" y="1426464"/>
            <a:ext cx="3145536" cy="51206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3" name="TextBox 17412"/>
          <p:cNvSpPr txBox="1"/>
          <p:nvPr/>
        </p:nvSpPr>
        <p:spPr>
          <a:xfrm>
            <a:off x="1755648" y="1426464"/>
            <a:ext cx="3017520" cy="512064"/>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OpenStreetMap</a:t>
            </a:r>
          </a:p>
          <a:p>
            <a:pPr algn="ctr">
              <a:lnSpc>
                <a:spcPct val="100000"/>
              </a:lnSpc>
              <a:spcAft>
                <a:spcPts val="0"/>
              </a:spcAft>
            </a:pPr>
            <a:r>
              <a:rPr sz="850" b="0" i="0">
                <a:solidFill>
                  <a:srgbClr val="5F5F5F"/>
                </a:solidFill>
                <a:latin typeface="Calibri"/>
              </a:rPr>
              <a:t>roads, towns, villages</a:t>
            </a:r>
          </a:p>
        </p:txBody>
      </p:sp>
      <p:sp>
        <p:nvSpPr>
          <p:cNvPr id="17414" name="Rectangle 17413"/>
          <p:cNvSpPr/>
          <p:nvPr/>
        </p:nvSpPr>
        <p:spPr>
          <a:xfrm>
            <a:off x="5111496" y="1426464"/>
            <a:ext cx="3145536" cy="51206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5" name="TextBox 17414"/>
          <p:cNvSpPr txBox="1"/>
          <p:nvPr/>
        </p:nvSpPr>
        <p:spPr>
          <a:xfrm>
            <a:off x="5175504" y="1426464"/>
            <a:ext cx="3017520" cy="512064"/>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NASA POWER</a:t>
            </a:r>
          </a:p>
          <a:p>
            <a:pPr algn="ctr">
              <a:lnSpc>
                <a:spcPct val="100000"/>
              </a:lnSpc>
              <a:spcAft>
                <a:spcPts val="0"/>
              </a:spcAft>
            </a:pPr>
            <a:r>
              <a:rPr sz="850" b="0" i="0">
                <a:solidFill>
                  <a:srgbClr val="5F5F5F"/>
                </a:solidFill>
                <a:latin typeface="Calibri"/>
              </a:rPr>
              <a:t>monthly rainfall, per place</a:t>
            </a:r>
          </a:p>
        </p:txBody>
      </p:sp>
      <p:sp>
        <p:nvSpPr>
          <p:cNvPr id="17416" name="Rectangle 17415"/>
          <p:cNvSpPr/>
          <p:nvPr/>
        </p:nvSpPr>
        <p:spPr>
          <a:xfrm>
            <a:off x="8531352" y="1426464"/>
            <a:ext cx="3145536" cy="51206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8595360" y="1426464"/>
            <a:ext cx="3017520" cy="512064"/>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Copernicus DEM</a:t>
            </a:r>
          </a:p>
          <a:p>
            <a:pPr algn="ctr">
              <a:lnSpc>
                <a:spcPct val="100000"/>
              </a:lnSpc>
              <a:spcAft>
                <a:spcPts val="0"/>
              </a:spcAft>
            </a:pPr>
            <a:r>
              <a:rPr sz="850" b="0" i="0">
                <a:solidFill>
                  <a:srgbClr val="5F5F5F"/>
                </a:solidFill>
                <a:latin typeface="Calibri"/>
              </a:rPr>
              <a:t>ground height, per node</a:t>
            </a:r>
          </a:p>
        </p:txBody>
      </p:sp>
      <p:sp>
        <p:nvSpPr>
          <p:cNvPr id="17418" name="Down Arrow 17417"/>
          <p:cNvSpPr/>
          <p:nvPr/>
        </p:nvSpPr>
        <p:spPr>
          <a:xfrm>
            <a:off x="6615683" y="2011680"/>
            <a:ext cx="146304" cy="201168"/>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9" name="TextBox 17418"/>
          <p:cNvSpPr txBox="1"/>
          <p:nvPr/>
        </p:nvSpPr>
        <p:spPr>
          <a:xfrm>
            <a:off x="502920" y="2377440"/>
            <a:ext cx="1417320" cy="219456"/>
          </a:xfrm>
          <a:prstGeom prst="rect">
            <a:avLst/>
          </a:prstGeom>
          <a:noFill/>
        </p:spPr>
        <p:txBody>
          <a:bodyPr wrap="square" lIns="0" rIns="0" tIns="0" bIns="0" anchor="ctr">
            <a:spAutoFit/>
          </a:bodyPr>
          <a:lstStyle/>
          <a:p>
            <a:pPr algn="l">
              <a:lnSpc>
                <a:spcPct val="115000"/>
              </a:lnSpc>
              <a:spcAft>
                <a:spcPts val="0"/>
              </a:spcAft>
            </a:pPr>
            <a:r>
              <a:rPr sz="900" b="1" i="0">
                <a:solidFill>
                  <a:srgbClr val="8A8A8A"/>
                </a:solidFill>
                <a:latin typeface="Calibri"/>
              </a:rPr>
              <a:t>BUILD  (offline)</a:t>
            </a:r>
          </a:p>
        </p:txBody>
      </p:sp>
      <p:sp>
        <p:nvSpPr>
          <p:cNvPr id="17420" name="Rectangle 17419"/>
          <p:cNvSpPr/>
          <p:nvPr/>
        </p:nvSpPr>
        <p:spPr>
          <a:xfrm>
            <a:off x="1691640" y="2267712"/>
            <a:ext cx="4846320" cy="56692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1" name="TextBox 17420"/>
          <p:cNvSpPr txBox="1"/>
          <p:nvPr/>
        </p:nvSpPr>
        <p:spPr>
          <a:xfrm>
            <a:off x="1755648" y="2267712"/>
            <a:ext cx="4718304" cy="56692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Road network builder</a:t>
            </a:r>
          </a:p>
          <a:p>
            <a:pPr algn="ctr">
              <a:lnSpc>
                <a:spcPct val="100000"/>
              </a:lnSpc>
              <a:spcAft>
                <a:spcPts val="0"/>
              </a:spcAft>
            </a:pPr>
            <a:r>
              <a:rPr sz="850" b="0" i="0">
                <a:solidFill>
                  <a:srgbClr val="5F5F5F"/>
                </a:solidFill>
                <a:latin typeface="Calibri"/>
              </a:rPr>
              <a:t>OSM ways contracted to 7,181 segments over 6,502 junctions · 25,360 km</a:t>
            </a:r>
          </a:p>
        </p:txBody>
      </p:sp>
      <p:sp>
        <p:nvSpPr>
          <p:cNvPr id="17422" name="Rectangle 17421"/>
          <p:cNvSpPr/>
          <p:nvPr/>
        </p:nvSpPr>
        <p:spPr>
          <a:xfrm>
            <a:off x="6812280" y="2267712"/>
            <a:ext cx="4873752" cy="56692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6876288" y="2267712"/>
            <a:ext cx="4745736" cy="56692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Settlement builder</a:t>
            </a:r>
          </a:p>
          <a:p>
            <a:pPr algn="ctr">
              <a:lnSpc>
                <a:spcPct val="100000"/>
              </a:lnSpc>
              <a:spcAft>
                <a:spcPts val="0"/>
              </a:spcAft>
            </a:pPr>
            <a:r>
              <a:rPr sz="850" b="0" i="0">
                <a:solidFill>
                  <a:srgbClr val="5F5F5F"/>
                </a:solidFill>
                <a:latin typeface="Calibri"/>
              </a:rPr>
              <a:t>5,594 towns and villages joined to their nearest road</a:t>
            </a:r>
          </a:p>
        </p:txBody>
      </p:sp>
      <p:sp>
        <p:nvSpPr>
          <p:cNvPr id="17424" name="Down Arrow 17423"/>
          <p:cNvSpPr/>
          <p:nvPr/>
        </p:nvSpPr>
        <p:spPr>
          <a:xfrm>
            <a:off x="6615683" y="2907792"/>
            <a:ext cx="146304" cy="201168"/>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TextBox 17424"/>
          <p:cNvSpPr txBox="1"/>
          <p:nvPr/>
        </p:nvSpPr>
        <p:spPr>
          <a:xfrm>
            <a:off x="502920" y="3310128"/>
            <a:ext cx="1417320" cy="219456"/>
          </a:xfrm>
          <a:prstGeom prst="rect">
            <a:avLst/>
          </a:prstGeom>
          <a:noFill/>
        </p:spPr>
        <p:txBody>
          <a:bodyPr wrap="square" lIns="0" rIns="0" tIns="0" bIns="0" anchor="ctr">
            <a:spAutoFit/>
          </a:bodyPr>
          <a:lstStyle/>
          <a:p>
            <a:pPr algn="l">
              <a:lnSpc>
                <a:spcPct val="115000"/>
              </a:lnSpc>
              <a:spcAft>
                <a:spcPts val="0"/>
              </a:spcAft>
            </a:pPr>
            <a:r>
              <a:rPr sz="900" b="1" i="0">
                <a:solidFill>
                  <a:srgbClr val="8A8A8A"/>
                </a:solidFill>
                <a:latin typeface="Calibri"/>
              </a:rPr>
              <a:t>ENGINE</a:t>
            </a:r>
          </a:p>
        </p:txBody>
      </p:sp>
      <p:sp>
        <p:nvSpPr>
          <p:cNvPr id="17426" name="Rectangle 17425"/>
          <p:cNvSpPr/>
          <p:nvPr/>
        </p:nvSpPr>
        <p:spPr>
          <a:xfrm>
            <a:off x="1691640" y="3163824"/>
            <a:ext cx="9994392" cy="118872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Rectangle 17426"/>
          <p:cNvSpPr/>
          <p:nvPr/>
        </p:nvSpPr>
        <p:spPr>
          <a:xfrm>
            <a:off x="1856231" y="3310128"/>
            <a:ext cx="3099816" cy="89611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8" name="TextBox 17427"/>
          <p:cNvSpPr txBox="1"/>
          <p:nvPr/>
        </p:nvSpPr>
        <p:spPr>
          <a:xfrm>
            <a:off x="1920239" y="3310128"/>
            <a:ext cx="2971800" cy="896112"/>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Risk model</a:t>
            </a:r>
          </a:p>
          <a:p>
            <a:pPr algn="ctr">
              <a:lnSpc>
                <a:spcPct val="100000"/>
              </a:lnSpc>
              <a:spcAft>
                <a:spcPts val="0"/>
              </a:spcAft>
            </a:pPr>
            <a:r>
              <a:rPr sz="850" b="0" i="0">
                <a:solidFill>
                  <a:srgbClr val="5F5F5F"/>
                </a:solidFill>
                <a:latin typeface="Calibri"/>
              </a:rPr>
              <a:t>landslide + flood
per segment, per month</a:t>
            </a:r>
          </a:p>
        </p:txBody>
      </p:sp>
      <p:sp>
        <p:nvSpPr>
          <p:cNvPr id="17429" name="Rectangle 17428"/>
          <p:cNvSpPr/>
          <p:nvPr/>
        </p:nvSpPr>
        <p:spPr>
          <a:xfrm>
            <a:off x="5120640" y="3310128"/>
            <a:ext cx="3099816" cy="89611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TextBox 17429"/>
          <p:cNvSpPr txBox="1"/>
          <p:nvPr/>
        </p:nvSpPr>
        <p:spPr>
          <a:xfrm>
            <a:off x="5184648" y="3310128"/>
            <a:ext cx="2971800" cy="896112"/>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Cost model</a:t>
            </a:r>
          </a:p>
          <a:p>
            <a:pPr algn="ctr">
              <a:lnSpc>
                <a:spcPct val="100000"/>
              </a:lnSpc>
              <a:spcAft>
                <a:spcPts val="0"/>
              </a:spcAft>
            </a:pPr>
            <a:r>
              <a:rPr sz="850" b="0" i="0">
                <a:solidFill>
                  <a:srgbClr val="5F5F5F"/>
                </a:solidFill>
                <a:latin typeface="Calibri"/>
              </a:rPr>
              <a:t>₹ per tonne, hours,
handling at every transfer</a:t>
            </a:r>
          </a:p>
        </p:txBody>
      </p:sp>
      <p:sp>
        <p:nvSpPr>
          <p:cNvPr id="17431" name="Rectangle 17430"/>
          <p:cNvSpPr/>
          <p:nvPr/>
        </p:nvSpPr>
        <p:spPr>
          <a:xfrm>
            <a:off x="8385048" y="3310128"/>
            <a:ext cx="3099816" cy="89611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TextBox 17431"/>
          <p:cNvSpPr txBox="1"/>
          <p:nvPr/>
        </p:nvSpPr>
        <p:spPr>
          <a:xfrm>
            <a:off x="8449056" y="3310128"/>
            <a:ext cx="2971800" cy="896112"/>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Layered graph</a:t>
            </a:r>
          </a:p>
          <a:p>
            <a:pPr algn="ctr">
              <a:lnSpc>
                <a:spcPct val="100000"/>
              </a:lnSpc>
              <a:spcAft>
                <a:spcPts val="0"/>
              </a:spcAft>
            </a:pPr>
            <a:r>
              <a:rPr sz="850" b="0" i="0">
                <a:solidFill>
                  <a:srgbClr val="5F5F5F"/>
                </a:solidFill>
                <a:latin typeface="Calibri"/>
              </a:rPr>
              <a:t>road / rail / water / air
joined by transfer edges</a:t>
            </a:r>
          </a:p>
        </p:txBody>
      </p:sp>
      <p:sp>
        <p:nvSpPr>
          <p:cNvPr id="17433" name="Down Arrow 17432"/>
          <p:cNvSpPr/>
          <p:nvPr/>
        </p:nvSpPr>
        <p:spPr>
          <a:xfrm>
            <a:off x="6615683" y="4425696"/>
            <a:ext cx="146304" cy="201168"/>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4" name="TextBox 17433"/>
          <p:cNvSpPr txBox="1"/>
          <p:nvPr/>
        </p:nvSpPr>
        <p:spPr>
          <a:xfrm>
            <a:off x="502920" y="4828032"/>
            <a:ext cx="1417320" cy="219456"/>
          </a:xfrm>
          <a:prstGeom prst="rect">
            <a:avLst/>
          </a:prstGeom>
          <a:noFill/>
        </p:spPr>
        <p:txBody>
          <a:bodyPr wrap="square" lIns="0" rIns="0" tIns="0" bIns="0" anchor="ctr">
            <a:spAutoFit/>
          </a:bodyPr>
          <a:lstStyle/>
          <a:p>
            <a:pPr algn="l">
              <a:lnSpc>
                <a:spcPct val="115000"/>
              </a:lnSpc>
              <a:spcAft>
                <a:spcPts val="0"/>
              </a:spcAft>
            </a:pPr>
            <a:r>
              <a:rPr sz="900" b="1" i="0">
                <a:solidFill>
                  <a:srgbClr val="8A8A8A"/>
                </a:solidFill>
                <a:latin typeface="Calibri"/>
              </a:rPr>
              <a:t>ANSWERS</a:t>
            </a:r>
          </a:p>
        </p:txBody>
      </p:sp>
      <p:sp>
        <p:nvSpPr>
          <p:cNvPr id="17435" name="Rectangle 17434"/>
          <p:cNvSpPr/>
          <p:nvPr/>
        </p:nvSpPr>
        <p:spPr>
          <a:xfrm>
            <a:off x="1691640" y="4681728"/>
            <a:ext cx="2423160" cy="54864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6" name="TextBox 17435"/>
          <p:cNvSpPr txBox="1"/>
          <p:nvPr/>
        </p:nvSpPr>
        <p:spPr>
          <a:xfrm>
            <a:off x="1755648" y="4681728"/>
            <a:ext cx="2295144" cy="548640"/>
          </a:xfrm>
          <a:prstGeom prst="rect">
            <a:avLst/>
          </a:prstGeom>
          <a:noFill/>
        </p:spPr>
        <p:txBody>
          <a:bodyPr wrap="square" lIns="0" rIns="0" tIns="0" bIns="0" anchor="ctr">
            <a:spAutoFit/>
          </a:bodyPr>
          <a:lstStyle/>
          <a:p>
            <a:pPr algn="ctr">
              <a:lnSpc>
                <a:spcPct val="100000"/>
              </a:lnSpc>
              <a:spcAft>
                <a:spcPts val="100"/>
              </a:spcAft>
            </a:pPr>
            <a:r>
              <a:rPr sz="1000" b="1" i="0">
                <a:solidFill>
                  <a:srgbClr val="1A1A1A"/>
                </a:solidFill>
                <a:latin typeface="Calibri"/>
              </a:rPr>
              <a:t>Plan a shipment</a:t>
            </a:r>
          </a:p>
          <a:p>
            <a:pPr algn="ctr">
              <a:lnSpc>
                <a:spcPct val="100000"/>
              </a:lnSpc>
              <a:spcAft>
                <a:spcPts val="0"/>
              </a:spcAft>
            </a:pPr>
            <a:r>
              <a:rPr sz="800" b="0" i="0">
                <a:solidFill>
                  <a:srgbClr val="5F5F5F"/>
                </a:solidFill>
                <a:latin typeface="Calibri"/>
              </a:rPr>
              <a:t>best route + alternatives</a:t>
            </a:r>
          </a:p>
        </p:txBody>
      </p:sp>
      <p:sp>
        <p:nvSpPr>
          <p:cNvPr id="17437" name="Rectangle 17436"/>
          <p:cNvSpPr/>
          <p:nvPr/>
        </p:nvSpPr>
        <p:spPr>
          <a:xfrm>
            <a:off x="4215383" y="4681728"/>
            <a:ext cx="2423160" cy="54864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8" name="TextBox 17437"/>
          <p:cNvSpPr txBox="1"/>
          <p:nvPr/>
        </p:nvSpPr>
        <p:spPr>
          <a:xfrm>
            <a:off x="4279392" y="4681728"/>
            <a:ext cx="2295144" cy="548640"/>
          </a:xfrm>
          <a:prstGeom prst="rect">
            <a:avLst/>
          </a:prstGeom>
          <a:noFill/>
        </p:spPr>
        <p:txBody>
          <a:bodyPr wrap="square" lIns="0" rIns="0" tIns="0" bIns="0" anchor="ctr">
            <a:spAutoFit/>
          </a:bodyPr>
          <a:lstStyle/>
          <a:p>
            <a:pPr algn="ctr">
              <a:lnSpc>
                <a:spcPct val="100000"/>
              </a:lnSpc>
              <a:spcAft>
                <a:spcPts val="100"/>
              </a:spcAft>
            </a:pPr>
            <a:r>
              <a:rPr sz="1000" b="1" i="0">
                <a:solidFill>
                  <a:srgbClr val="1A1A1A"/>
                </a:solidFill>
                <a:latin typeface="Calibri"/>
              </a:rPr>
              <a:t>Compare options</a:t>
            </a:r>
          </a:p>
          <a:p>
            <a:pPr algn="ctr">
              <a:lnSpc>
                <a:spcPct val="100000"/>
              </a:lnSpc>
              <a:spcAft>
                <a:spcPts val="0"/>
              </a:spcAft>
            </a:pPr>
            <a:r>
              <a:rPr sz="800" b="0" i="0">
                <a:solidFill>
                  <a:srgbClr val="5F5F5F"/>
                </a:solidFill>
                <a:latin typeface="Calibri"/>
              </a:rPr>
              <a:t>seven ways, side by side</a:t>
            </a:r>
          </a:p>
        </p:txBody>
      </p:sp>
      <p:sp>
        <p:nvSpPr>
          <p:cNvPr id="17439" name="Rectangle 17438"/>
          <p:cNvSpPr/>
          <p:nvPr/>
        </p:nvSpPr>
        <p:spPr>
          <a:xfrm>
            <a:off x="6739127" y="4681728"/>
            <a:ext cx="2423160" cy="54864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TextBox 17439"/>
          <p:cNvSpPr txBox="1"/>
          <p:nvPr/>
        </p:nvSpPr>
        <p:spPr>
          <a:xfrm>
            <a:off x="6803136" y="4681728"/>
            <a:ext cx="2295144" cy="548640"/>
          </a:xfrm>
          <a:prstGeom prst="rect">
            <a:avLst/>
          </a:prstGeom>
          <a:noFill/>
        </p:spPr>
        <p:txBody>
          <a:bodyPr wrap="square" lIns="0" rIns="0" tIns="0" bIns="0" anchor="ctr">
            <a:spAutoFit/>
          </a:bodyPr>
          <a:lstStyle/>
          <a:p>
            <a:pPr algn="ctr">
              <a:lnSpc>
                <a:spcPct val="100000"/>
              </a:lnSpc>
              <a:spcAft>
                <a:spcPts val="100"/>
              </a:spcAft>
            </a:pPr>
            <a:r>
              <a:rPr sz="1000" b="1" i="0">
                <a:solidFill>
                  <a:srgbClr val="1A1A1A"/>
                </a:solidFill>
                <a:latin typeface="Calibri"/>
              </a:rPr>
              <a:t>Monsoon risk map</a:t>
            </a:r>
          </a:p>
          <a:p>
            <a:pPr algn="ctr">
              <a:lnSpc>
                <a:spcPct val="100000"/>
              </a:lnSpc>
              <a:spcAft>
                <a:spcPts val="0"/>
              </a:spcAft>
            </a:pPr>
            <a:r>
              <a:rPr sz="800" b="0" i="0">
                <a:solidFill>
                  <a:srgbClr val="5F5F5F"/>
                </a:solidFill>
                <a:latin typeface="Calibri"/>
              </a:rPr>
              <a:t>every road, any month</a:t>
            </a:r>
          </a:p>
        </p:txBody>
      </p:sp>
      <p:sp>
        <p:nvSpPr>
          <p:cNvPr id="17441" name="Rectangle 17440"/>
          <p:cNvSpPr/>
          <p:nvPr/>
        </p:nvSpPr>
        <p:spPr>
          <a:xfrm>
            <a:off x="9262872" y="4681728"/>
            <a:ext cx="2423160" cy="54864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2" name="TextBox 17441"/>
          <p:cNvSpPr txBox="1"/>
          <p:nvPr/>
        </p:nvSpPr>
        <p:spPr>
          <a:xfrm>
            <a:off x="9326880" y="4681728"/>
            <a:ext cx="2295144" cy="548640"/>
          </a:xfrm>
          <a:prstGeom prst="rect">
            <a:avLst/>
          </a:prstGeom>
          <a:noFill/>
        </p:spPr>
        <p:txBody>
          <a:bodyPr wrap="square" lIns="0" rIns="0" tIns="0" bIns="0" anchor="ctr">
            <a:spAutoFit/>
          </a:bodyPr>
          <a:lstStyle/>
          <a:p>
            <a:pPr algn="ctr">
              <a:lnSpc>
                <a:spcPct val="100000"/>
              </a:lnSpc>
              <a:spcAft>
                <a:spcPts val="100"/>
              </a:spcAft>
            </a:pPr>
            <a:r>
              <a:rPr sz="1000" b="1" i="0">
                <a:solidFill>
                  <a:srgbClr val="1A1A1A"/>
                </a:solidFill>
                <a:latin typeface="Calibri"/>
              </a:rPr>
              <a:t>Who is cut off</a:t>
            </a:r>
          </a:p>
          <a:p>
            <a:pPr algn="ctr">
              <a:lnSpc>
                <a:spcPct val="100000"/>
              </a:lnSpc>
              <a:spcAft>
                <a:spcPts val="0"/>
              </a:spcAft>
            </a:pPr>
            <a:r>
              <a:rPr sz="800" b="0" i="0">
                <a:solidFill>
                  <a:srgbClr val="5F5F5F"/>
                </a:solidFill>
                <a:latin typeface="Calibri"/>
              </a:rPr>
              <a:t>hours to market, siting</a:t>
            </a:r>
          </a:p>
        </p:txBody>
      </p:sp>
      <p:sp>
        <p:nvSpPr>
          <p:cNvPr id="17443" name="Down Arrow 17442"/>
          <p:cNvSpPr/>
          <p:nvPr/>
        </p:nvSpPr>
        <p:spPr>
          <a:xfrm>
            <a:off x="6615683" y="5303520"/>
            <a:ext cx="146304" cy="201168"/>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4" name="Rectangle 17443"/>
          <p:cNvSpPr/>
          <p:nvPr/>
        </p:nvSpPr>
        <p:spPr>
          <a:xfrm>
            <a:off x="1691640" y="5541264"/>
            <a:ext cx="9994392" cy="475488"/>
          </a:xfrm>
          <a:prstGeom prst="rect">
            <a:avLst/>
          </a:prstGeom>
          <a:solidFill>
            <a:srgbClr val="E4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1755648" y="5541264"/>
            <a:ext cx="9866376" cy="47548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One FastAPI process serves the API and the dashboard</a:t>
            </a:r>
          </a:p>
          <a:p>
            <a:pPr algn="ctr">
              <a:lnSpc>
                <a:spcPct val="100000"/>
              </a:lnSpc>
              <a:spcAft>
                <a:spcPts val="0"/>
              </a:spcAft>
            </a:pPr>
            <a:r>
              <a:rPr sz="850" b="0" i="0">
                <a:solidFill>
                  <a:srgbClr val="5F5F5F"/>
                </a:solidFill>
                <a:latin typeface="Calibri"/>
              </a:rPr>
              <a:t>Python · NetworkX · scikit-learn (optional) · MapLibre GL vendored locally · no build step, no CDN, no API key</a:t>
            </a:r>
          </a:p>
        </p:txBody>
      </p:sp>
      <p:sp>
        <p:nvSpPr>
          <p:cNvPr id="17446" name="TextBox 17445"/>
          <p:cNvSpPr txBox="1"/>
          <p:nvPr/>
        </p:nvSpPr>
        <p:spPr>
          <a:xfrm>
            <a:off x="502920" y="6089904"/>
            <a:ext cx="11183112" cy="219456"/>
          </a:xfrm>
          <a:prstGeom prst="rect">
            <a:avLst/>
          </a:prstGeom>
          <a:noFill/>
        </p:spPr>
        <p:txBody>
          <a:bodyPr wrap="square" lIns="0" rIns="0" tIns="0" bIns="0" anchor="t">
            <a:spAutoFit/>
          </a:bodyPr>
          <a:lstStyle/>
          <a:p>
            <a:pPr algn="l">
              <a:lnSpc>
                <a:spcPct val="115000"/>
              </a:lnSpc>
              <a:spcAft>
                <a:spcPts val="0"/>
              </a:spcAft>
            </a:pPr>
            <a:r>
              <a:rPr sz="950" b="0" i="0">
                <a:solidFill>
                  <a:srgbClr val="8A8A8A"/>
                </a:solidFill>
                <a:latin typeface="Calibri"/>
              </a:rPr>
              <a:t>Everything left of the dashboard runs offline. The built network, the rainfall and the elevation are committed to the repository, so a fresh clone works with no internet.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800" b="1">
                <a:solidFill>
                  <a:srgbClr val="1A1A1A"/>
                </a:solidFill>
                <a:latin typeface="Calibri"/>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It is already built, and it runs on nothing but free data</a:t>
            </a:r>
          </a:p>
        </p:txBody>
      </p:sp>
      <p:sp>
        <p:nvSpPr>
          <p:cNvPr id="17411" name="TextBox 17410"/>
          <p:cNvSpPr txBox="1"/>
          <p:nvPr/>
        </p:nvSpPr>
        <p:spPr>
          <a:xfrm>
            <a:off x="502920" y="1463040"/>
            <a:ext cx="5532120"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What exists today</a:t>
            </a:r>
          </a:p>
        </p:txBody>
      </p:sp>
      <p:graphicFrame>
        <p:nvGraphicFramePr>
          <p:cNvPr id="17412" name="Table 17411"/>
          <p:cNvGraphicFramePr>
            <a:graphicFrameLocks noGrp="1"/>
          </p:cNvGraphicFramePr>
          <p:nvPr/>
        </p:nvGraphicFramePr>
        <p:xfrm>
          <a:off x="502920" y="1755648"/>
          <a:ext cx="5532120" cy="2153412"/>
        </p:xfrm>
        <a:graphic>
          <a:graphicData uri="http://schemas.openxmlformats.org/drawingml/2006/table">
            <a:tbl>
              <a:tblPr firstRow="1">
                <a:tableStyleId>{5C22544A-7EE6-4342-B048-85BDC9FD1C3A}</a:tableStyleId>
              </a:tblPr>
              <a:tblGrid>
                <a:gridCol w="2103120"/>
                <a:gridCol w="1417320"/>
                <a:gridCol w="2011680"/>
              </a:tblGrid>
              <a:tr h="265176">
                <a:tc>
                  <a:txBody>
                    <a:bodyPr wrap="square"/>
                    <a:lstStyle/>
                    <a:p>
                      <a:pPr algn="l">
                        <a:lnSpc>
                          <a:spcPct val="100000"/>
                        </a:lnSpc>
                      </a:pPr>
                      <a:r>
                        <a:rPr sz="950" b="1">
                          <a:solidFill>
                            <a:srgbClr val="1A1A1A"/>
                          </a:solidFill>
                          <a:latin typeface="Calibri"/>
                        </a:rPr>
                        <a:t>What</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How much</a:t>
                      </a:r>
                    </a:p>
                  </a:txBody>
                  <a:tcPr marL="64008" marR="64008" marT="18288" marB="18288" anchor="ctr">
                    <a:solidFill>
                      <a:srgbClr val="E4E8EB"/>
                    </a:solidFill>
                  </a:tcPr>
                </a:tc>
                <a:tc>
                  <a:txBody>
                    <a:bodyPr wrap="square"/>
                    <a:lstStyle/>
                    <a:p>
                      <a:pPr algn="l">
                        <a:lnSpc>
                          <a:spcPct val="100000"/>
                        </a:lnSpc>
                      </a:pPr>
                      <a:r>
                        <a:rPr sz="950" b="1">
                          <a:solidFill>
                            <a:srgbClr val="1A1A1A"/>
                          </a:solidFill>
                          <a:latin typeface="Calibri"/>
                        </a:rPr>
                        <a:t>Where it came from</a:t>
                      </a:r>
                    </a:p>
                  </a:txBody>
                  <a:tcPr marL="64008" marR="64008" marT="18288" marB="18288" anchor="ctr">
                    <a:solidFill>
                      <a:srgbClr val="E4E8EB"/>
                    </a:solidFill>
                  </a:tcPr>
                </a:tc>
              </a:tr>
              <a:tr h="269748">
                <a:tc>
                  <a:txBody>
                    <a:bodyPr wrap="square"/>
                    <a:lstStyle/>
                    <a:p>
                      <a:pPr algn="l">
                        <a:lnSpc>
                          <a:spcPct val="100000"/>
                        </a:lnSpc>
                      </a:pPr>
                      <a:r>
                        <a:rPr sz="1000" b="0">
                          <a:solidFill>
                            <a:srgbClr val="1A1A1A"/>
                          </a:solidFill>
                          <a:latin typeface="Calibri"/>
                        </a:rPr>
                        <a:t>Road network</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25,360 km</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OpenStreetMap</a:t>
                      </a:r>
                    </a:p>
                  </a:txBody>
                  <a:tcPr marL="64008" marR="64008" marT="18288" marB="18288" anchor="ctr">
                    <a:solidFill>
                      <a:srgbClr val="FFFFFF"/>
                    </a:solidFill>
                  </a:tcPr>
                </a:tc>
              </a:tr>
              <a:tr h="269748">
                <a:tc>
                  <a:txBody>
                    <a:bodyPr wrap="square"/>
                    <a:lstStyle/>
                    <a:p>
                      <a:pPr algn="l">
                        <a:lnSpc>
                          <a:spcPct val="100000"/>
                        </a:lnSpc>
                      </a:pPr>
                      <a:r>
                        <a:rPr sz="1000" b="0">
                          <a:solidFill>
                            <a:srgbClr val="1A1A1A"/>
                          </a:solidFill>
                          <a:latin typeface="Calibri"/>
                        </a:rPr>
                        <a:t>Road segments scored</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7,181</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built here</a:t>
                      </a:r>
                    </a:p>
                  </a:txBody>
                  <a:tcPr marL="64008" marR="64008" marT="18288" marB="18288" anchor="ctr">
                    <a:solidFill>
                      <a:srgbClr val="FFFFFF"/>
                    </a:solidFill>
                  </a:tcPr>
                </a:tc>
              </a:tr>
              <a:tr h="269748">
                <a:tc>
                  <a:txBody>
                    <a:bodyPr wrap="square"/>
                    <a:lstStyle/>
                    <a:p>
                      <a:pPr algn="l">
                        <a:lnSpc>
                          <a:spcPct val="100000"/>
                        </a:lnSpc>
                      </a:pPr>
                      <a:r>
                        <a:rPr sz="1000" b="0">
                          <a:solidFill>
                            <a:srgbClr val="1A1A1A"/>
                          </a:solidFill>
                          <a:latin typeface="Calibri"/>
                        </a:rPr>
                        <a:t>Towns and villages</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5,594</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OpenStreetMap</a:t>
                      </a:r>
                    </a:p>
                  </a:txBody>
                  <a:tcPr marL="64008" marR="64008" marT="18288" marB="18288" anchor="ctr">
                    <a:solidFill>
                      <a:srgbClr val="FFFFFF"/>
                    </a:solidFill>
                  </a:tcPr>
                </a:tc>
              </a:tr>
              <a:tr h="269748">
                <a:tc>
                  <a:txBody>
                    <a:bodyPr wrap="square"/>
                    <a:lstStyle/>
                    <a:p>
                      <a:pPr algn="l">
                        <a:lnSpc>
                          <a:spcPct val="100000"/>
                        </a:lnSpc>
                      </a:pPr>
                      <a:r>
                        <a:rPr sz="1000" b="0">
                          <a:solidFill>
                            <a:srgbClr val="1A1A1A"/>
                          </a:solidFill>
                          <a:latin typeface="Calibri"/>
                        </a:rPr>
                        <a:t>Rainfall, per place</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12 months</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NASA POWER</a:t>
                      </a:r>
                    </a:p>
                  </a:txBody>
                  <a:tcPr marL="64008" marR="64008" marT="18288" marB="18288" anchor="ctr">
                    <a:solidFill>
                      <a:srgbClr val="FFFFFF"/>
                    </a:solidFill>
                  </a:tcPr>
                </a:tc>
              </a:tr>
              <a:tr h="269748">
                <a:tc>
                  <a:txBody>
                    <a:bodyPr wrap="square"/>
                    <a:lstStyle/>
                    <a:p>
                      <a:pPr algn="l">
                        <a:lnSpc>
                          <a:spcPct val="100000"/>
                        </a:lnSpc>
                      </a:pPr>
                      <a:r>
                        <a:rPr sz="1000" b="0">
                          <a:solidFill>
                            <a:srgbClr val="1A1A1A"/>
                          </a:solidFill>
                          <a:latin typeface="Calibri"/>
                        </a:rPr>
                        <a:t>Ground elevation</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8 – 4,016 m</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Copernicus DEM</a:t>
                      </a:r>
                    </a:p>
                  </a:txBody>
                  <a:tcPr marL="64008" marR="64008" marT="18288" marB="18288" anchor="ctr">
                    <a:solidFill>
                      <a:srgbClr val="FFFFFF"/>
                    </a:solidFill>
                  </a:tcPr>
                </a:tc>
              </a:tr>
              <a:tr h="269748">
                <a:tc>
                  <a:txBody>
                    <a:bodyPr wrap="square"/>
                    <a:lstStyle/>
                    <a:p>
                      <a:pPr algn="l">
                        <a:lnSpc>
                          <a:spcPct val="100000"/>
                        </a:lnSpc>
                      </a:pPr>
                      <a:r>
                        <a:rPr sz="1000" b="0">
                          <a:solidFill>
                            <a:srgbClr val="1A1A1A"/>
                          </a:solidFill>
                          <a:latin typeface="Calibri"/>
                        </a:rPr>
                        <a:t>Automated tests</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261 + 30</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written here</a:t>
                      </a:r>
                    </a:p>
                  </a:txBody>
                  <a:tcPr marL="64008" marR="64008" marT="18288" marB="18288" anchor="ctr">
                    <a:solidFill>
                      <a:srgbClr val="FFFFFF"/>
                    </a:solidFill>
                  </a:tcPr>
                </a:tc>
              </a:tr>
              <a:tr h="269748">
                <a:tc>
                  <a:txBody>
                    <a:bodyPr wrap="square"/>
                    <a:lstStyle/>
                    <a:p>
                      <a:pPr algn="l">
                        <a:lnSpc>
                          <a:spcPct val="100000"/>
                        </a:lnSpc>
                      </a:pPr>
                      <a:r>
                        <a:rPr sz="1000" b="0">
                          <a:solidFill>
                            <a:srgbClr val="1A1A1A"/>
                          </a:solidFill>
                          <a:latin typeface="Calibri"/>
                        </a:rPr>
                        <a:t>Cost of the data</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₹0</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all of it is open</a:t>
                      </a:r>
                    </a:p>
                  </a:txBody>
                  <a:tcPr marL="64008" marR="64008" marT="18288" marB="18288" anchor="ctr">
                    <a:solidFill>
                      <a:srgbClr val="FFFFFF"/>
                    </a:solidFill>
                  </a:tcPr>
                </a:tc>
              </a:tr>
            </a:tbl>
          </a:graphicData>
        </a:graphic>
      </p:graphicFrame>
      <p:sp>
        <p:nvSpPr>
          <p:cNvPr id="17413" name="TextBox 17412"/>
          <p:cNvSpPr txBox="1"/>
          <p:nvPr/>
        </p:nvSpPr>
        <p:spPr>
          <a:xfrm>
            <a:off x="502920" y="4160520"/>
            <a:ext cx="5532120" cy="868680"/>
          </a:xfrm>
          <a:prstGeom prst="rect">
            <a:avLst/>
          </a:prstGeom>
          <a:noFill/>
        </p:spPr>
        <p:txBody>
          <a:bodyPr wrap="square" lIns="0" rIns="0" tIns="0" bIns="0" anchor="t">
            <a:spAutoFit/>
          </a:bodyPr>
          <a:lstStyle/>
          <a:p>
            <a:pPr>
              <a:lnSpc>
                <a:spcPct val="115000"/>
              </a:lnSpc>
              <a:spcAft>
                <a:spcPts val="0"/>
              </a:spcAft>
            </a:pPr>
            <a:r>
              <a:rPr sz="1100" b="1">
                <a:solidFill>
                  <a:srgbClr val="1A1A1A"/>
                </a:solidFill>
                <a:latin typeface="Calibri"/>
              </a:rPr>
              <a:t>It runs offline. </a:t>
            </a:r>
            <a:r>
              <a:rPr sz="1100" b="0">
                <a:solidFill>
                  <a:srgbClr val="5F5F5F"/>
                </a:solidFill>
                <a:latin typeface="Calibri"/>
              </a:rPr>
              <a:t>The built network, the rainfall and the elevation are committed to the repository, so a fresh clone starts with no API key, no account and no download. Two commands and it is on screen.</a:t>
            </a:r>
          </a:p>
        </p:txBody>
      </p:sp>
      <p:sp>
        <p:nvSpPr>
          <p:cNvPr id="17414" name="Rectangle 17413"/>
          <p:cNvSpPr/>
          <p:nvPr/>
        </p:nvSpPr>
        <p:spPr>
          <a:xfrm>
            <a:off x="502920" y="5138928"/>
            <a:ext cx="5532120" cy="96012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5" name="TextBox 17414"/>
          <p:cNvSpPr txBox="1"/>
          <p:nvPr/>
        </p:nvSpPr>
        <p:spPr>
          <a:xfrm>
            <a:off x="713232" y="5303520"/>
            <a:ext cx="5111496" cy="658368"/>
          </a:xfrm>
          <a:prstGeom prst="rect">
            <a:avLst/>
          </a:prstGeom>
          <a:noFill/>
        </p:spPr>
        <p:txBody>
          <a:bodyPr wrap="square" lIns="0" rIns="0" tIns="0" bIns="0" anchor="t">
            <a:spAutoFit/>
          </a:bodyPr>
          <a:lstStyle/>
          <a:p>
            <a:pPr algn="l">
              <a:lnSpc>
                <a:spcPct val="115000"/>
              </a:lnSpc>
              <a:spcAft>
                <a:spcPts val="300"/>
              </a:spcAft>
            </a:pPr>
            <a:r>
              <a:rPr sz="1050" b="1" i="0">
                <a:solidFill>
                  <a:srgbClr val="1A1A1A"/>
                </a:solidFill>
                <a:latin typeface="Calibri"/>
              </a:rPr>
              <a:t>Cost to run it for a year</a:t>
            </a:r>
          </a:p>
          <a:p>
            <a:pPr algn="l">
              <a:lnSpc>
                <a:spcPct val="115000"/>
              </a:lnSpc>
              <a:spcAft>
                <a:spcPts val="0"/>
              </a:spcAft>
            </a:pPr>
            <a:r>
              <a:rPr sz="1000" b="0" i="0">
                <a:solidFill>
                  <a:srgbClr val="5F5F5F"/>
                </a:solidFill>
                <a:latin typeface="Calibri"/>
              </a:rPr>
              <a:t>₹0 for data. One free-tier web service hosts it. The heaviest computation is a graph search that finishes in about a second.</a:t>
            </a:r>
          </a:p>
        </p:txBody>
      </p:sp>
      <p:sp>
        <p:nvSpPr>
          <p:cNvPr id="17416" name="TextBox 17415"/>
          <p:cNvSpPr txBox="1"/>
          <p:nvPr/>
        </p:nvSpPr>
        <p:spPr>
          <a:xfrm>
            <a:off x="6355080" y="1463040"/>
            <a:ext cx="5330952"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What could go wrong, and what we did about it</a:t>
            </a:r>
          </a:p>
        </p:txBody>
      </p:sp>
      <p:sp>
        <p:nvSpPr>
          <p:cNvPr id="17417" name="TextBox 17416"/>
          <p:cNvSpPr txBox="1"/>
          <p:nvPr/>
        </p:nvSpPr>
        <p:spPr>
          <a:xfrm>
            <a:off x="6355080" y="1783080"/>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India has no live road-closure feed.</a:t>
            </a:r>
          </a:p>
        </p:txBody>
      </p:sp>
      <p:sp>
        <p:nvSpPr>
          <p:cNvPr id="17418" name="TextBox 17417"/>
          <p:cNvSpPr txBox="1"/>
          <p:nvPr/>
        </p:nvSpPr>
        <p:spPr>
          <a:xfrm>
            <a:off x="6355080" y="2020824"/>
            <a:ext cx="5330952" cy="82296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No state PWD publishes closures in a form software can read. So we predict from rainfall and terrain instead of observing, and the app is built to take driver reports later and learn from them.</a:t>
            </a:r>
          </a:p>
        </p:txBody>
      </p:sp>
      <p:sp>
        <p:nvSpPr>
          <p:cNvPr id="17419" name="TextBox 17418"/>
          <p:cNvSpPr txBox="1"/>
          <p:nvPr/>
        </p:nvSpPr>
        <p:spPr>
          <a:xfrm>
            <a:off x="6355080" y="2898648"/>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Population is missing for most villages.</a:t>
            </a:r>
          </a:p>
        </p:txBody>
      </p:sp>
      <p:sp>
        <p:nvSpPr>
          <p:cNvPr id="17420" name="TextBox 17419"/>
          <p:cNvSpPr txBox="1"/>
          <p:nvPr/>
        </p:nvSpPr>
        <p:spPr>
          <a:xfrm>
            <a:off x="6355080" y="3136391"/>
            <a:ext cx="5330952" cy="82296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OpenStreetMap has a population figure for only 15% of them. Ranking by population would rank where volunteers typed a number — on the real network that reversed our cold-store answer. So we rank by how many settlements a site reaches. Census 2011 would fix it properly.</a:t>
            </a:r>
          </a:p>
        </p:txBody>
      </p:sp>
      <p:sp>
        <p:nvSpPr>
          <p:cNvPr id="17421" name="TextBox 17420"/>
          <p:cNvSpPr txBox="1"/>
          <p:nvPr/>
        </p:nvSpPr>
        <p:spPr>
          <a:xfrm>
            <a:off x="6355080" y="4014215"/>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Only 35 markets are mapped for 5,594 villages.</a:t>
            </a:r>
          </a:p>
        </p:txBody>
      </p:sp>
      <p:sp>
        <p:nvSpPr>
          <p:cNvPr id="17422" name="TextBox 17421"/>
          <p:cNvSpPr txBox="1"/>
          <p:nvPr/>
        </p:nvSpPr>
        <p:spPr>
          <a:xfrm>
            <a:off x="6355080" y="4251959"/>
            <a:ext cx="5330952" cy="82296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So the 'hours to a market' figures are pessimistic and many places score zero. It is the first thing to fix, and Agmarknet has the data.</a:t>
            </a:r>
          </a:p>
        </p:txBody>
      </p:sp>
      <p:sp>
        <p:nvSpPr>
          <p:cNvPr id="17423" name="TextBox 17422"/>
          <p:cNvSpPr txBox="1"/>
          <p:nvPr/>
        </p:nvSpPr>
        <p:spPr>
          <a:xfrm>
            <a:off x="6355080" y="5129783"/>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The free map and elevation services rate-limit.</a:t>
            </a:r>
          </a:p>
        </p:txBody>
      </p:sp>
      <p:sp>
        <p:nvSpPr>
          <p:cNvPr id="17424" name="TextBox 17423"/>
          <p:cNvSpPr txBox="1"/>
          <p:nvPr/>
        </p:nvSpPr>
        <p:spPr>
          <a:xfrm>
            <a:off x="6355080" y="5367527"/>
            <a:ext cx="5330952" cy="82296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Downloading is a separate step with an offline path. One person fetches once; everyone else builds from the saved file.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800" b="1">
                <a:solidFill>
                  <a:srgbClr val="1A1A1A"/>
                </a:solidFill>
                <a:latin typeface="Calibri"/>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Numbers the running system produced, not estimates</a:t>
            </a:r>
          </a:p>
        </p:txBody>
      </p:sp>
      <p:sp>
        <p:nvSpPr>
          <p:cNvPr id="17411" name="TextBox 17410"/>
          <p:cNvSpPr txBox="1"/>
          <p:nvPr/>
        </p:nvSpPr>
        <p:spPr>
          <a:xfrm>
            <a:off x="502920" y="1463040"/>
            <a:ext cx="6355080"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One lane, one month: Kohima to Guwahati in July</a:t>
            </a:r>
          </a:p>
        </p:txBody>
      </p:sp>
      <p:graphicFrame>
        <p:nvGraphicFramePr>
          <p:cNvPr id="17412" name="Table 17411"/>
          <p:cNvGraphicFramePr>
            <a:graphicFrameLocks noGrp="1"/>
          </p:cNvGraphicFramePr>
          <p:nvPr/>
        </p:nvGraphicFramePr>
        <p:xfrm>
          <a:off x="502920" y="1755648"/>
          <a:ext cx="6355080" cy="1444752"/>
        </p:xfrm>
        <a:graphic>
          <a:graphicData uri="http://schemas.openxmlformats.org/drawingml/2006/table">
            <a:tbl>
              <a:tblPr firstRow="1">
                <a:tableStyleId>{5C22544A-7EE6-4342-B048-85BDC9FD1C3A}</a:tableStyleId>
              </a:tblPr>
              <a:tblGrid>
                <a:gridCol w="2606040"/>
                <a:gridCol w="1188720"/>
                <a:gridCol w="1325880"/>
                <a:gridCol w="1234440"/>
              </a:tblGrid>
              <a:tr h="274320">
                <a:tc>
                  <a:txBody>
                    <a:bodyPr wrap="square"/>
                    <a:lstStyle/>
                    <a:p>
                      <a:pPr algn="l">
                        <a:lnSpc>
                          <a:spcPct val="100000"/>
                        </a:lnSpc>
                      </a:pPr>
                      <a:r>
                        <a:rPr sz="950" b="1">
                          <a:solidFill>
                            <a:srgbClr val="1A1A1A"/>
                          </a:solidFill>
                          <a:latin typeface="Calibri"/>
                        </a:rPr>
                        <a:t>How you move it</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Door to door</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Cost per tonne</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Delay expected</a:t>
                      </a:r>
                    </a:p>
                  </a:txBody>
                  <a:tcPr marL="64008" marR="64008" marT="18288" marB="18288" anchor="ctr">
                    <a:solidFill>
                      <a:srgbClr val="E4E8EB"/>
                    </a:solidFill>
                  </a:tcPr>
                </a:tc>
              </a:tr>
              <a:tr h="292608">
                <a:tc>
                  <a:txBody>
                    <a:bodyPr wrap="square"/>
                    <a:lstStyle/>
                    <a:p>
                      <a:pPr algn="l">
                        <a:lnSpc>
                          <a:spcPct val="100000"/>
                        </a:lnSpc>
                      </a:pPr>
                      <a:r>
                        <a:rPr sz="1000" b="1">
                          <a:solidFill>
                            <a:srgbClr val="1A1A1A"/>
                          </a:solidFill>
                          <a:latin typeface="Calibri"/>
                        </a:rPr>
                        <a:t>Road, then rail — recommended</a:t>
                      </a:r>
                    </a:p>
                  </a:txBody>
                  <a:tcPr marL="64008" marR="64008" marT="18288" marB="18288" anchor="ctr">
                    <a:solidFill>
                      <a:srgbClr val="FFFFFF"/>
                    </a:solidFill>
                  </a:tcPr>
                </a:tc>
                <a:tc>
                  <a:txBody>
                    <a:bodyPr wrap="square"/>
                    <a:lstStyle/>
                    <a:p>
                      <a:pPr algn="r">
                        <a:lnSpc>
                          <a:spcPct val="100000"/>
                        </a:lnSpc>
                      </a:pPr>
                      <a:r>
                        <a:rPr sz="1000" b="1">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00" b="1">
                          <a:solidFill>
                            <a:srgbClr val="1A1A1A"/>
                          </a:solidFill>
                          <a:latin typeface="Calibri"/>
                        </a:rPr>
                        <a:t>₹928</a:t>
                      </a:r>
                    </a:p>
                  </a:txBody>
                  <a:tcPr marL="64008" marR="64008" marT="18288" marB="18288" anchor="ctr">
                    <a:solidFill>
                      <a:srgbClr val="FFFFFF"/>
                    </a:solidFill>
                  </a:tcPr>
                </a:tc>
                <a:tc>
                  <a:txBody>
                    <a:bodyPr wrap="square"/>
                    <a:lstStyle/>
                    <a:p>
                      <a:pPr algn="r">
                        <a:lnSpc>
                          <a:spcPct val="100000"/>
                        </a:lnSpc>
                      </a:pPr>
                      <a:r>
                        <a:rPr sz="1000" b="1">
                          <a:solidFill>
                            <a:srgbClr val="1A1A1A"/>
                          </a:solidFill>
                          <a:latin typeface="Calibri"/>
                        </a:rPr>
                        <a:t>22.3 h</a:t>
                      </a:r>
                    </a:p>
                  </a:txBody>
                  <a:tcPr marL="64008" marR="64008" marT="18288" marB="18288" anchor="ctr">
                    <a:solidFill>
                      <a:srgbClr val="FFFFFF"/>
                    </a:solidFill>
                  </a:tcPr>
                </a:tc>
              </a:tr>
              <a:tr h="292608">
                <a:tc>
                  <a:txBody>
                    <a:bodyPr wrap="square"/>
                    <a:lstStyle/>
                    <a:p>
                      <a:pPr algn="l">
                        <a:lnSpc>
                          <a:spcPct val="100000"/>
                        </a:lnSpc>
                      </a:pPr>
                      <a:r>
                        <a:rPr sz="1000" b="0">
                          <a:solidFill>
                            <a:srgbClr val="1A1A1A"/>
                          </a:solidFill>
                          <a:latin typeface="Calibri"/>
                        </a:rPr>
                        <a:t>Cheapest on paper</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₹922</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22.3 h</a:t>
                      </a:r>
                    </a:p>
                  </a:txBody>
                  <a:tcPr marL="64008" marR="64008" marT="18288" marB="18288" anchor="ctr">
                    <a:solidFill>
                      <a:srgbClr val="FFFFFF"/>
                    </a:solidFill>
                  </a:tcPr>
                </a:tc>
              </a:tr>
              <a:tr h="292608">
                <a:tc>
                  <a:txBody>
                    <a:bodyPr wrap="square"/>
                    <a:lstStyle/>
                    <a:p>
                      <a:pPr algn="l">
                        <a:lnSpc>
                          <a:spcPct val="100000"/>
                        </a:lnSpc>
                      </a:pPr>
                      <a:r>
                        <a:rPr sz="1000" b="0">
                          <a:solidFill>
                            <a:srgbClr val="1A1A1A"/>
                          </a:solidFill>
                          <a:latin typeface="Calibri"/>
                        </a:rPr>
                        <a:t>Road, then air — fastest</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1.4 d</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₹5,954</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19.1 h</a:t>
                      </a:r>
                    </a:p>
                  </a:txBody>
                  <a:tcPr marL="64008" marR="64008" marT="18288" marB="18288" anchor="ctr">
                    <a:solidFill>
                      <a:srgbClr val="FFFFFF"/>
                    </a:solidFill>
                  </a:tcPr>
                </a:tc>
              </a:tr>
              <a:tr h="292608">
                <a:tc>
                  <a:txBody>
                    <a:bodyPr wrap="square"/>
                    <a:lstStyle/>
                    <a:p>
                      <a:pPr algn="l">
                        <a:lnSpc>
                          <a:spcPct val="100000"/>
                        </a:lnSpc>
                      </a:pPr>
                      <a:r>
                        <a:rPr sz="1000" b="0">
                          <a:solidFill>
                            <a:srgbClr val="1A1A1A"/>
                          </a:solidFill>
                          <a:latin typeface="Calibri"/>
                        </a:rPr>
                        <a:t>Road only</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7.6 d</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₹1,661</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5.8 d</a:t>
                      </a:r>
                    </a:p>
                  </a:txBody>
                  <a:tcPr marL="64008" marR="64008" marT="18288" marB="18288" anchor="ctr">
                    <a:solidFill>
                      <a:srgbClr val="FFFFFF"/>
                    </a:solidFill>
                  </a:tcPr>
                </a:tc>
              </a:tr>
            </a:tbl>
          </a:graphicData>
        </a:graphic>
      </p:graphicFrame>
      <p:sp>
        <p:nvSpPr>
          <p:cNvPr id="17413" name="TextBox 17412"/>
          <p:cNvSpPr txBox="1"/>
          <p:nvPr/>
        </p:nvSpPr>
        <p:spPr>
          <a:xfrm>
            <a:off x="502920" y="3337560"/>
            <a:ext cx="6355080" cy="566928"/>
          </a:xfrm>
          <a:prstGeom prst="rect">
            <a:avLst/>
          </a:prstGeom>
          <a:noFill/>
        </p:spPr>
        <p:txBody>
          <a:bodyPr wrap="square" lIns="0" rIns="0" tIns="0" bIns="0" anchor="t">
            <a:spAutoFit/>
          </a:bodyPr>
          <a:lstStyle/>
          <a:p>
            <a:pPr>
              <a:lnSpc>
                <a:spcPct val="115000"/>
              </a:lnSpc>
              <a:spcAft>
                <a:spcPts val="0"/>
              </a:spcAft>
            </a:pPr>
            <a:r>
              <a:rPr sz="1150" b="0">
                <a:solidFill>
                  <a:srgbClr val="5F5F5F"/>
                </a:solidFill>
                <a:latin typeface="Calibri"/>
              </a:rPr>
              <a:t>Choosing badly on this one lane costs </a:t>
            </a:r>
            <a:r>
              <a:rPr sz="1150" b="1">
                <a:solidFill>
                  <a:srgbClr val="1A1A1A"/>
                </a:solidFill>
                <a:latin typeface="Calibri"/>
              </a:rPr>
              <a:t>₹5,032 per tonne, or 6.2 days</a:t>
            </a:r>
            <a:r>
              <a:rPr sz="1150" b="0">
                <a:solidFill>
                  <a:srgbClr val="5F5F5F"/>
                </a:solidFill>
                <a:latin typeface="Calibri"/>
              </a:rPr>
              <a:t>. Road only — the answer most people would give — is the worst of the four.</a:t>
            </a:r>
          </a:p>
        </p:txBody>
      </p:sp>
      <p:sp>
        <p:nvSpPr>
          <p:cNvPr id="17414" name="TextBox 17413"/>
          <p:cNvSpPr txBox="1"/>
          <p:nvPr/>
        </p:nvSpPr>
        <p:spPr>
          <a:xfrm>
            <a:off x="502920" y="4069080"/>
            <a:ext cx="6355080"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What the monsoon does, on the same plan</a:t>
            </a:r>
          </a:p>
        </p:txBody>
      </p:sp>
      <p:graphicFrame>
        <p:nvGraphicFramePr>
          <p:cNvPr id="17415" name="Table 17414"/>
          <p:cNvGraphicFramePr>
            <a:graphicFrameLocks noGrp="1"/>
          </p:cNvGraphicFramePr>
          <p:nvPr/>
        </p:nvGraphicFramePr>
        <p:xfrm>
          <a:off x="502920" y="4361688"/>
          <a:ext cx="6355080" cy="1097280"/>
        </p:xfrm>
        <a:graphic>
          <a:graphicData uri="http://schemas.openxmlformats.org/drawingml/2006/table">
            <a:tbl>
              <a:tblPr firstRow="1">
                <a:tableStyleId>{5C22544A-7EE6-4342-B048-85BDC9FD1C3A}</a:tableStyleId>
              </a:tblPr>
              <a:tblGrid>
                <a:gridCol w="2880360"/>
                <a:gridCol w="1097280"/>
                <a:gridCol w="1097280"/>
                <a:gridCol w="1280160"/>
              </a:tblGrid>
              <a:tr h="274320">
                <a:tc>
                  <a:txBody>
                    <a:bodyPr wrap="square"/>
                    <a:lstStyle/>
                    <a:p>
                      <a:pPr algn="l">
                        <a:lnSpc>
                          <a:spcPct val="100000"/>
                        </a:lnSpc>
                      </a:pPr>
                      <a:r>
                        <a:rPr sz="950" b="1">
                          <a:solidFill>
                            <a:srgbClr val="1A1A1A"/>
                          </a:solidFill>
                          <a:latin typeface="Calibri"/>
                        </a:rPr>
                        <a:t>Aizawl to Guwahati, road and rail</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January</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July</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Change</a:t>
                      </a:r>
                    </a:p>
                  </a:txBody>
                  <a:tcPr marL="64008" marR="64008" marT="18288" marB="18288" anchor="ctr">
                    <a:solidFill>
                      <a:srgbClr val="E4E8EB"/>
                    </a:solidFill>
                  </a:tcPr>
                </a:tc>
              </a:tr>
              <a:tr h="274320">
                <a:tc>
                  <a:txBody>
                    <a:bodyPr wrap="square"/>
                    <a:lstStyle/>
                    <a:p>
                      <a:pPr algn="l">
                        <a:lnSpc>
                          <a:spcPct val="100000"/>
                        </a:lnSpc>
                      </a:pPr>
                      <a:r>
                        <a:rPr sz="1000" b="0">
                          <a:solidFill>
                            <a:srgbClr val="1A1A1A"/>
                          </a:solidFill>
                          <a:latin typeface="Calibri"/>
                        </a:rPr>
                        <a:t>Door to door</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64.5 h</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135.3 h</a:t>
                      </a:r>
                    </a:p>
                  </a:txBody>
                  <a:tcPr marL="64008" marR="64008" marT="18288" marB="18288" anchor="ctr">
                    <a:solidFill>
                      <a:srgbClr val="FFFFFF"/>
                    </a:solidFill>
                  </a:tcPr>
                </a:tc>
                <a:tc>
                  <a:txBody>
                    <a:bodyPr wrap="square"/>
                    <a:lstStyle/>
                    <a:p>
                      <a:pPr algn="r">
                        <a:lnSpc>
                          <a:spcPct val="100000"/>
                        </a:lnSpc>
                      </a:pPr>
                      <a:r>
                        <a:rPr sz="1000" b="1">
                          <a:solidFill>
                            <a:srgbClr val="D03B3B"/>
                          </a:solidFill>
                          <a:latin typeface="Calibri"/>
                        </a:rPr>
                        <a:t>+70.8 h</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Cost per tonne</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₹1,715</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₹2,102</a:t>
                      </a:r>
                    </a:p>
                  </a:txBody>
                  <a:tcPr marL="64008" marR="64008" marT="18288" marB="18288" anchor="ctr">
                    <a:solidFill>
                      <a:srgbClr val="FFFFFF"/>
                    </a:solidFill>
                  </a:tcPr>
                </a:tc>
                <a:tc>
                  <a:txBody>
                    <a:bodyPr wrap="square"/>
                    <a:lstStyle/>
                    <a:p>
                      <a:pPr algn="r">
                        <a:lnSpc>
                          <a:spcPct val="100000"/>
                        </a:lnSpc>
                      </a:pPr>
                      <a:r>
                        <a:rPr sz="1000" b="1">
                          <a:solidFill>
                            <a:srgbClr val="D03B3B"/>
                          </a:solidFill>
                          <a:latin typeface="Calibri"/>
                        </a:rPr>
                        <a:t>+₹387</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Worst stretch, chance of closing</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8%</a:t>
                      </a:r>
                    </a:p>
                  </a:txBody>
                  <a:tcPr marL="64008" marR="64008" marT="18288" marB="18288" anchor="ctr">
                    <a:solidFill>
                      <a:srgbClr val="FFFFFF"/>
                    </a:solidFill>
                  </a:tcPr>
                </a:tc>
                <a:tc>
                  <a:txBody>
                    <a:bodyPr wrap="square"/>
                    <a:lstStyle/>
                    <a:p>
                      <a:pPr algn="r">
                        <a:lnSpc>
                          <a:spcPct val="100000"/>
                        </a:lnSpc>
                      </a:pPr>
                      <a:r>
                        <a:rPr sz="1000" b="0">
                          <a:solidFill>
                            <a:srgbClr val="1A1A1A"/>
                          </a:solidFill>
                          <a:latin typeface="Calibri"/>
                        </a:rPr>
                        <a:t>48%</a:t>
                      </a:r>
                    </a:p>
                  </a:txBody>
                  <a:tcPr marL="64008" marR="64008" marT="18288" marB="18288" anchor="ctr">
                    <a:solidFill>
                      <a:srgbClr val="FFFFFF"/>
                    </a:solidFill>
                  </a:tcPr>
                </a:tc>
                <a:tc>
                  <a:txBody>
                    <a:bodyPr wrap="square"/>
                    <a:lstStyle/>
                    <a:p>
                      <a:pPr algn="r">
                        <a:lnSpc>
                          <a:spcPct val="100000"/>
                        </a:lnSpc>
                      </a:pPr>
                      <a:r>
                        <a:rPr sz="1000" b="1">
                          <a:solidFill>
                            <a:srgbClr val="D03B3B"/>
                          </a:solidFill>
                          <a:latin typeface="Calibri"/>
                        </a:rPr>
                        <a:t>+40 pts</a:t>
                      </a:r>
                    </a:p>
                  </a:txBody>
                  <a:tcPr marL="64008" marR="64008" marT="18288" marB="18288" anchor="ctr">
                    <a:solidFill>
                      <a:srgbClr val="FFFFFF"/>
                    </a:solidFill>
                  </a:tcPr>
                </a:tc>
              </a:tr>
            </a:tbl>
          </a:graphicData>
        </a:graphic>
      </p:graphicFrame>
      <p:sp>
        <p:nvSpPr>
          <p:cNvPr id="17416" name="TextBox 17415"/>
          <p:cNvSpPr txBox="1"/>
          <p:nvPr/>
        </p:nvSpPr>
        <p:spPr>
          <a:xfrm>
            <a:off x="7360920" y="1463040"/>
            <a:ext cx="4325112"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Who this helps</a:t>
            </a:r>
          </a:p>
        </p:txBody>
      </p:sp>
      <p:sp>
        <p:nvSpPr>
          <p:cNvPr id="17417" name="TextBox 17416"/>
          <p:cNvSpPr txBox="1"/>
          <p:nvPr/>
        </p:nvSpPr>
        <p:spPr>
          <a:xfrm>
            <a:off x="7360920" y="1783080"/>
            <a:ext cx="432511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Farmers and FPOs</a:t>
            </a:r>
          </a:p>
        </p:txBody>
      </p:sp>
      <p:sp>
        <p:nvSpPr>
          <p:cNvPr id="17418" name="TextBox 17417"/>
          <p:cNvSpPr txBox="1"/>
          <p:nvPr/>
        </p:nvSpPr>
        <p:spPr>
          <a:xfrm>
            <a:off x="7360920" y="2020824"/>
            <a:ext cx="4325112" cy="841248"/>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Billbari in Assam is 1.3 days from a market in the monsoon. Knowing that before harvest changes what you plant and when you sell it.</a:t>
            </a:r>
          </a:p>
        </p:txBody>
      </p:sp>
      <p:sp>
        <p:nvSpPr>
          <p:cNvPr id="17419" name="TextBox 17418"/>
          <p:cNvSpPr txBox="1"/>
          <p:nvPr/>
        </p:nvSpPr>
        <p:spPr>
          <a:xfrm>
            <a:off x="7360920" y="2916936"/>
            <a:ext cx="432511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Transporters and 3PLs</a:t>
            </a:r>
          </a:p>
        </p:txBody>
      </p:sp>
      <p:sp>
        <p:nvSpPr>
          <p:cNvPr id="17420" name="TextBox 17419"/>
          <p:cNvSpPr txBox="1"/>
          <p:nvPr/>
        </p:nvSpPr>
        <p:spPr>
          <a:xfrm>
            <a:off x="7360920" y="3154680"/>
            <a:ext cx="4325112" cy="841248"/>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A defended mode mix per consignment, with handling charged and the monsoon delay priced, instead of a rate card and a guess.</a:t>
            </a:r>
          </a:p>
        </p:txBody>
      </p:sp>
      <p:sp>
        <p:nvSpPr>
          <p:cNvPr id="17421" name="TextBox 17420"/>
          <p:cNvSpPr txBox="1"/>
          <p:nvPr/>
        </p:nvSpPr>
        <p:spPr>
          <a:xfrm>
            <a:off x="7360920" y="4050791"/>
            <a:ext cx="432511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MDoNER, NEC and state PWDs</a:t>
            </a:r>
          </a:p>
        </p:txBody>
      </p:sp>
      <p:sp>
        <p:nvSpPr>
          <p:cNvPr id="17422" name="TextBox 17421"/>
          <p:cNvSpPr txBox="1"/>
          <p:nvPr/>
        </p:nvSpPr>
        <p:spPr>
          <a:xfrm>
            <a:off x="7360920" y="4288536"/>
            <a:ext cx="4325112" cy="841248"/>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Rank corridor spending by the risk that is actually there. In July, 1,309 of 4,033 major roads are at severe risk — and on 1,055 of them the problem is flooding, not landslides. You do not fix a flood with slope netting.</a:t>
            </a:r>
          </a:p>
        </p:txBody>
      </p:sp>
      <p:sp>
        <p:nvSpPr>
          <p:cNvPr id="17423" name="TextBox 17422"/>
          <p:cNvSpPr txBox="1"/>
          <p:nvPr/>
        </p:nvSpPr>
        <p:spPr>
          <a:xfrm>
            <a:off x="7360920" y="5184648"/>
            <a:ext cx="432511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Disaster management cells</a:t>
            </a:r>
          </a:p>
        </p:txBody>
      </p:sp>
      <p:sp>
        <p:nvSpPr>
          <p:cNvPr id="17424" name="TextBox 17423"/>
          <p:cNvSpPr txBox="1"/>
          <p:nvPr/>
        </p:nvSpPr>
        <p:spPr>
          <a:xfrm>
            <a:off x="7360920" y="5422392"/>
            <a:ext cx="4325112" cy="841248"/>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See which places lose their road link first, before the season starts.</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800" b="1">
                <a:solidFill>
                  <a:srgbClr val="1A1A1A"/>
                </a:solidFill>
                <a:latin typeface="Calibri"/>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Everything used here is open, free and cited in the repository</a:t>
            </a:r>
          </a:p>
        </p:txBody>
      </p:sp>
      <p:sp>
        <p:nvSpPr>
          <p:cNvPr id="17411" name="TextBox 17410"/>
          <p:cNvSpPr txBox="1"/>
          <p:nvPr/>
        </p:nvSpPr>
        <p:spPr>
          <a:xfrm>
            <a:off x="502920" y="1463040"/>
            <a:ext cx="5532120"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Data</a:t>
            </a:r>
          </a:p>
        </p:txBody>
      </p:sp>
      <p:graphicFrame>
        <p:nvGraphicFramePr>
          <p:cNvPr id="17412" name="Table 17411"/>
          <p:cNvGraphicFramePr>
            <a:graphicFrameLocks noGrp="1"/>
          </p:cNvGraphicFramePr>
          <p:nvPr/>
        </p:nvGraphicFramePr>
        <p:xfrm>
          <a:off x="502920" y="1755648"/>
          <a:ext cx="5532120" cy="2542032"/>
        </p:xfrm>
        <a:graphic>
          <a:graphicData uri="http://schemas.openxmlformats.org/drawingml/2006/table">
            <a:tbl>
              <a:tblPr firstRow="1">
                <a:tableStyleId>{5C22544A-7EE6-4342-B048-85BDC9FD1C3A}</a:tableStyleId>
              </a:tblPr>
              <a:tblGrid>
                <a:gridCol w="2514600"/>
                <a:gridCol w="3017520"/>
              </a:tblGrid>
              <a:tr h="274320">
                <a:tc>
                  <a:txBody>
                    <a:bodyPr wrap="square"/>
                    <a:lstStyle/>
                    <a:p>
                      <a:pPr algn="l">
                        <a:lnSpc>
                          <a:spcPct val="100000"/>
                        </a:lnSpc>
                      </a:pPr>
                      <a:r>
                        <a:rPr sz="950" b="1">
                          <a:solidFill>
                            <a:srgbClr val="1A1A1A"/>
                          </a:solidFill>
                          <a:latin typeface="Calibri"/>
                        </a:rPr>
                        <a:t>Source</a:t>
                      </a:r>
                    </a:p>
                  </a:txBody>
                  <a:tcPr marL="64008" marR="64008" marT="18288" marB="18288" anchor="ctr">
                    <a:solidFill>
                      <a:srgbClr val="E4E8EB"/>
                    </a:solidFill>
                  </a:tcPr>
                </a:tc>
                <a:tc>
                  <a:txBody>
                    <a:bodyPr wrap="square"/>
                    <a:lstStyle/>
                    <a:p>
                      <a:pPr algn="l">
                        <a:lnSpc>
                          <a:spcPct val="100000"/>
                        </a:lnSpc>
                      </a:pPr>
                      <a:r>
                        <a:rPr sz="950" b="1">
                          <a:solidFill>
                            <a:srgbClr val="1A1A1A"/>
                          </a:solidFill>
                          <a:latin typeface="Calibri"/>
                        </a:rPr>
                        <a:t>Used for</a:t>
                      </a:r>
                    </a:p>
                  </a:txBody>
                  <a:tcPr marL="64008" marR="64008" marT="18288" marB="18288" anchor="ctr">
                    <a:solidFill>
                      <a:srgbClr val="E4E8EB"/>
                    </a:solidFill>
                  </a:tcPr>
                </a:tc>
              </a:tr>
              <a:tr h="566928">
                <a:tc>
                  <a:txBody>
                    <a:bodyPr wrap="square"/>
                    <a:lstStyle/>
                    <a:p>
                      <a:pPr algn="l">
                        <a:lnSpc>
                          <a:spcPct val="100000"/>
                        </a:lnSpc>
                      </a:pPr>
                      <a:r>
                        <a:rPr sz="950" b="0">
                          <a:solidFill>
                            <a:srgbClr val="1A1A1A"/>
                          </a:solidFill>
                          <a:latin typeface="Calibri"/>
                        </a:rPr>
                        <a:t>OpenStreetMap (ODbL)
overpass-api.de</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Roads, towns and villages</a:t>
                      </a:r>
                    </a:p>
                  </a:txBody>
                  <a:tcPr marL="64008" marR="64008" marT="18288" marB="18288" anchor="ctr">
                    <a:solidFill>
                      <a:srgbClr val="FFFFFF"/>
                    </a:solidFill>
                  </a:tcPr>
                </a:tc>
              </a:tr>
              <a:tr h="566928">
                <a:tc>
                  <a:txBody>
                    <a:bodyPr wrap="square"/>
                    <a:lstStyle/>
                    <a:p>
                      <a:pPr algn="l">
                        <a:lnSpc>
                          <a:spcPct val="100000"/>
                        </a:lnSpc>
                      </a:pPr>
                      <a:r>
                        <a:rPr sz="950" b="0">
                          <a:solidFill>
                            <a:srgbClr val="1A1A1A"/>
                          </a:solidFill>
                          <a:latin typeface="Calibri"/>
                        </a:rPr>
                        <a:t>NASA POWER
power.larc.nasa.gov</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Monthly rainfall for each place</a:t>
                      </a:r>
                    </a:p>
                  </a:txBody>
                  <a:tcPr marL="64008" marR="64008" marT="18288" marB="18288" anchor="ctr">
                    <a:solidFill>
                      <a:srgbClr val="FFFFFF"/>
                    </a:solidFill>
                  </a:tcPr>
                </a:tc>
              </a:tr>
              <a:tr h="566928">
                <a:tc>
                  <a:txBody>
                    <a:bodyPr wrap="square"/>
                    <a:lstStyle/>
                    <a:p>
                      <a:pPr algn="l">
                        <a:lnSpc>
                          <a:spcPct val="100000"/>
                        </a:lnSpc>
                      </a:pPr>
                      <a:r>
                        <a:rPr sz="950" b="0">
                          <a:solidFill>
                            <a:srgbClr val="1A1A1A"/>
                          </a:solidFill>
                          <a:latin typeface="Calibri"/>
                        </a:rPr>
                        <a:t>Copernicus DEM via Open-Meteo
open-meteo.com</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Ground height, which drives the flood model</a:t>
                      </a:r>
                    </a:p>
                  </a:txBody>
                  <a:tcPr marL="64008" marR="64008" marT="18288" marB="18288" anchor="ctr">
                    <a:solidFill>
                      <a:srgbClr val="FFFFFF"/>
                    </a:solidFill>
                  </a:tcPr>
                </a:tc>
              </a:tr>
              <a:tr h="566928">
                <a:tc>
                  <a:txBody>
                    <a:bodyPr wrap="square"/>
                    <a:lstStyle/>
                    <a:p>
                      <a:pPr algn="l">
                        <a:lnSpc>
                          <a:spcPct val="100000"/>
                        </a:lnSpc>
                      </a:pPr>
                      <a:r>
                        <a:rPr sz="950" b="0">
                          <a:solidFill>
                            <a:srgbClr val="1A1A1A"/>
                          </a:solidFill>
                          <a:latin typeface="Calibri"/>
                        </a:rPr>
                        <a:t>NASA COOLR landslide catalog
maps.nccs.nasa.gov</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Past landslides, for training (download pending)</a:t>
                      </a:r>
                    </a:p>
                  </a:txBody>
                  <a:tcPr marL="64008" marR="64008" marT="18288" marB="18288" anchor="ctr">
                    <a:solidFill>
                      <a:srgbClr val="FFFFFF"/>
                    </a:solidFill>
                  </a:tcPr>
                </a:tc>
              </a:tr>
            </a:tbl>
          </a:graphicData>
        </a:graphic>
      </p:graphicFrame>
      <p:sp>
        <p:nvSpPr>
          <p:cNvPr id="17413" name="TextBox 17412"/>
          <p:cNvSpPr txBox="1"/>
          <p:nvPr/>
        </p:nvSpPr>
        <p:spPr>
          <a:xfrm>
            <a:off x="6355080" y="1463040"/>
            <a:ext cx="5330952"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Policy and method</a:t>
            </a:r>
          </a:p>
        </p:txBody>
      </p:sp>
      <p:graphicFrame>
        <p:nvGraphicFramePr>
          <p:cNvPr id="17414" name="Table 17413"/>
          <p:cNvGraphicFramePr>
            <a:graphicFrameLocks noGrp="1"/>
          </p:cNvGraphicFramePr>
          <p:nvPr/>
        </p:nvGraphicFramePr>
        <p:xfrm>
          <a:off x="6355080" y="1755648"/>
          <a:ext cx="5330952" cy="2286000"/>
        </p:xfrm>
        <a:graphic>
          <a:graphicData uri="http://schemas.openxmlformats.org/drawingml/2006/table">
            <a:tbl>
              <a:tblPr firstRow="1">
                <a:tableStyleId>{5C22544A-7EE6-4342-B048-85BDC9FD1C3A}</a:tableStyleId>
              </a:tblPr>
              <a:tblGrid>
                <a:gridCol w="2331720"/>
                <a:gridCol w="2999232"/>
              </a:tblGrid>
              <a:tr h="274320">
                <a:tc>
                  <a:txBody>
                    <a:bodyPr wrap="square"/>
                    <a:lstStyle/>
                    <a:p>
                      <a:pPr algn="l">
                        <a:lnSpc>
                          <a:spcPct val="100000"/>
                        </a:lnSpc>
                      </a:pPr>
                      <a:r>
                        <a:rPr sz="950" b="1">
                          <a:solidFill>
                            <a:srgbClr val="1A1A1A"/>
                          </a:solidFill>
                          <a:latin typeface="Calibri"/>
                        </a:rPr>
                        <a:t>Reference</a:t>
                      </a:r>
                    </a:p>
                  </a:txBody>
                  <a:tcPr marL="64008" marR="64008" marT="18288" marB="18288" anchor="ctr">
                    <a:solidFill>
                      <a:srgbClr val="E4E8EB"/>
                    </a:solidFill>
                  </a:tcPr>
                </a:tc>
                <a:tc>
                  <a:txBody>
                    <a:bodyPr wrap="square"/>
                    <a:lstStyle/>
                    <a:p>
                      <a:pPr algn="l">
                        <a:lnSpc>
                          <a:spcPct val="100000"/>
                        </a:lnSpc>
                      </a:pPr>
                      <a:r>
                        <a:rPr sz="950" b="1">
                          <a:solidFill>
                            <a:srgbClr val="1A1A1A"/>
                          </a:solidFill>
                          <a:latin typeface="Calibri"/>
                        </a:rPr>
                        <a:t>Why it matters here</a:t>
                      </a:r>
                    </a:p>
                  </a:txBody>
                  <a:tcPr marL="64008" marR="64008" marT="18288" marB="18288" anchor="ctr">
                    <a:solidFill>
                      <a:srgbClr val="E4E8EB"/>
                    </a:solidFill>
                  </a:tcPr>
                </a:tc>
              </a:tr>
              <a:tr h="402336">
                <a:tc>
                  <a:txBody>
                    <a:bodyPr wrap="square"/>
                    <a:lstStyle/>
                    <a:p>
                      <a:pPr algn="l">
                        <a:lnSpc>
                          <a:spcPct val="100000"/>
                        </a:lnSpc>
                      </a:pPr>
                      <a:r>
                        <a:rPr sz="950" b="0">
                          <a:solidFill>
                            <a:srgbClr val="1A1A1A"/>
                          </a:solidFill>
                          <a:latin typeface="Calibri"/>
                        </a:rPr>
                        <a:t>MDoNER / NEC Regional Plan</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The connectivity priorities this is built against</a:t>
                      </a:r>
                    </a:p>
                  </a:txBody>
                  <a:tcPr marL="64008" marR="64008" marT="18288" marB="18288" anchor="ctr">
                    <a:solidFill>
                      <a:srgbClr val="FFFFFF"/>
                    </a:solidFill>
                  </a:tcPr>
                </a:tc>
              </a:tr>
              <a:tr h="402336">
                <a:tc>
                  <a:txBody>
                    <a:bodyPr wrap="square"/>
                    <a:lstStyle/>
                    <a:p>
                      <a:pPr algn="l">
                        <a:lnSpc>
                          <a:spcPct val="100000"/>
                        </a:lnSpc>
                      </a:pPr>
                      <a:r>
                        <a:rPr sz="950" b="0">
                          <a:solidFill>
                            <a:srgbClr val="1A1A1A"/>
                          </a:solidFill>
                          <a:latin typeface="Calibri"/>
                        </a:rPr>
                        <a:t>IWAI, National Waterway 2</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Brahmaputra navigability and terminal locations</a:t>
                      </a:r>
                    </a:p>
                  </a:txBody>
                  <a:tcPr marL="64008" marR="64008" marT="18288" marB="18288" anchor="ctr">
                    <a:solidFill>
                      <a:srgbClr val="FFFFFF"/>
                    </a:solidFill>
                  </a:tcPr>
                </a:tc>
              </a:tr>
              <a:tr h="402336">
                <a:tc>
                  <a:txBody>
                    <a:bodyPr wrap="square"/>
                    <a:lstStyle/>
                    <a:p>
                      <a:pPr algn="l">
                        <a:lnSpc>
                          <a:spcPct val="100000"/>
                        </a:lnSpc>
                      </a:pPr>
                      <a:r>
                        <a:rPr sz="950" b="0">
                          <a:solidFill>
                            <a:srgbClr val="1A1A1A"/>
                          </a:solidFill>
                          <a:latin typeface="Calibri"/>
                        </a:rPr>
                        <a:t>Dijkstra (1959)</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Shortest path — how the plan is found</a:t>
                      </a:r>
                    </a:p>
                  </a:txBody>
                  <a:tcPr marL="64008" marR="64008" marT="18288" marB="18288" anchor="ctr">
                    <a:solidFill>
                      <a:srgbClr val="FFFFFF"/>
                    </a:solidFill>
                  </a:tcPr>
                </a:tc>
              </a:tr>
              <a:tr h="402336">
                <a:tc>
                  <a:txBody>
                    <a:bodyPr wrap="square"/>
                    <a:lstStyle/>
                    <a:p>
                      <a:pPr algn="l">
                        <a:lnSpc>
                          <a:spcPct val="100000"/>
                        </a:lnSpc>
                      </a:pPr>
                      <a:r>
                        <a:rPr sz="950" b="0">
                          <a:solidFill>
                            <a:srgbClr val="1A1A1A"/>
                          </a:solidFill>
                          <a:latin typeface="Calibri"/>
                        </a:rPr>
                        <a:t>Yen (1971), Management Science 17(11)</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k shortest loopless paths — how alternatives are found</a:t>
                      </a:r>
                    </a:p>
                  </a:txBody>
                  <a:tcPr marL="64008" marR="64008" marT="18288" marB="18288" anchor="ctr">
                    <a:solidFill>
                      <a:srgbClr val="FFFFFF"/>
                    </a:solidFill>
                  </a:tcPr>
                </a:tc>
              </a:tr>
              <a:tr h="402336">
                <a:tc>
                  <a:txBody>
                    <a:bodyPr wrap="square"/>
                    <a:lstStyle/>
                    <a:p>
                      <a:pPr algn="l">
                        <a:lnSpc>
                          <a:spcPct val="100000"/>
                        </a:lnSpc>
                      </a:pPr>
                      <a:r>
                        <a:rPr sz="950" b="0">
                          <a:solidFill>
                            <a:srgbClr val="1A1A1A"/>
                          </a:solidFill>
                          <a:latin typeface="Calibri"/>
                        </a:rPr>
                        <a:t>Sagarmala and Bharatmala NE corridors</a:t>
                      </a:r>
                    </a:p>
                  </a:txBody>
                  <a:tcPr marL="64008" marR="64008" marT="18288" marB="18288" anchor="ctr">
                    <a:solidFill>
                      <a:srgbClr val="FFFFFF"/>
                    </a:solidFill>
                  </a:tcPr>
                </a:tc>
                <a:tc>
                  <a:txBody>
                    <a:bodyPr wrap="square"/>
                    <a:lstStyle/>
                    <a:p>
                      <a:pPr algn="l">
                        <a:lnSpc>
                          <a:spcPct val="100000"/>
                        </a:lnSpc>
                      </a:pPr>
                      <a:r>
                        <a:rPr sz="950" b="0">
                          <a:solidFill>
                            <a:srgbClr val="1A1A1A"/>
                          </a:solidFill>
                          <a:latin typeface="Calibri"/>
                        </a:rPr>
                        <a:t>Planned infrastructure the model can be re-run against</a:t>
                      </a:r>
                    </a:p>
                  </a:txBody>
                  <a:tcPr marL="64008" marR="64008" marT="18288" marB="18288" anchor="ctr">
                    <a:solidFill>
                      <a:srgbClr val="FFFFFF"/>
                    </a:solidFill>
                  </a:tcPr>
                </a:tc>
              </a:tr>
            </a:tbl>
          </a:graphicData>
        </a:graphic>
      </p:graphicFrame>
      <p:sp>
        <p:nvSpPr>
          <p:cNvPr id="17415" name="Rectangle 17414"/>
          <p:cNvSpPr/>
          <p:nvPr/>
        </p:nvSpPr>
        <p:spPr>
          <a:xfrm>
            <a:off x="502920" y="5257800"/>
            <a:ext cx="11183112" cy="566928"/>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6" name="TextBox 17415"/>
          <p:cNvSpPr txBox="1"/>
          <p:nvPr/>
        </p:nvSpPr>
        <p:spPr>
          <a:xfrm>
            <a:off x="731520" y="5394960"/>
            <a:ext cx="10725912" cy="310896"/>
          </a:xfrm>
          <a:prstGeom prst="rect">
            <a:avLst/>
          </a:prstGeom>
          <a:noFill/>
        </p:spPr>
        <p:txBody>
          <a:bodyPr wrap="square" lIns="0" rIns="0" tIns="0" bIns="0" anchor="t">
            <a:spAutoFit/>
          </a:bodyPr>
          <a:lstStyle/>
          <a:p>
            <a:pPr>
              <a:lnSpc>
                <a:spcPct val="115000"/>
              </a:lnSpc>
              <a:spcAft>
                <a:spcPts val="0"/>
              </a:spcAft>
            </a:pPr>
            <a:r>
              <a:rPr sz="1200" b="0">
                <a:solidFill>
                  <a:srgbClr val="5F5F5F"/>
                </a:solidFill>
                <a:latin typeface="Calibri"/>
              </a:rPr>
              <a:t>Code, tests and the full method notes:  </a:t>
            </a:r>
            <a:r>
              <a:rPr sz="1200" b="1">
                <a:solidFill>
                  <a:srgbClr val="1A1A1A"/>
                </a:solidFill>
                <a:latin typeface="Calibri"/>
              </a:rPr>
              <a:t>github.com/Jeffrey2600/Logistics_sih</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600" b="1">
                <a:solidFill>
                  <a:srgbClr val="1A1A1A"/>
                </a:solidFill>
                <a:latin typeface="Calibri"/>
              </a:rPr>
              <a:t>How one road gets its risk number</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7410" name="Picture 17409" descr="image.png"/>
          <p:cNvPicPr>
            <a:picLocks noChangeAspect="1"/>
          </p:cNvPicPr>
          <p:nvPr/>
        </p:nvPicPr>
        <p:blipFill>
          <a:blip r:embed="rId2"/>
          <a:stretch>
            <a:fillRect/>
          </a:stretch>
        </p:blipFill>
        <p:spPr>
          <a:xfrm>
            <a:off x="9780086" y="1500"/>
            <a:ext cx="2249850" cy="1062337"/>
          </a:xfrm>
          <a:prstGeom prst="rect">
            <a:avLst/>
          </a:prstGeom>
        </p:spPr>
      </p:pic>
      <p:sp>
        <p:nvSpPr>
          <p:cNvPr id="17411" name="TextBox 17410"/>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Worked through on a real segment: Nolikata – Ranikor, Meghalaya, in July</a:t>
            </a:r>
          </a:p>
        </p:txBody>
      </p:sp>
      <p:sp>
        <p:nvSpPr>
          <p:cNvPr id="17412" name="Rectangle 17411"/>
          <p:cNvSpPr/>
          <p:nvPr/>
        </p:nvSpPr>
        <p:spPr>
          <a:xfrm>
            <a:off x="502920" y="1481328"/>
            <a:ext cx="2679192" cy="6583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3" name="TextBox 17412"/>
          <p:cNvSpPr txBox="1"/>
          <p:nvPr/>
        </p:nvSpPr>
        <p:spPr>
          <a:xfrm>
            <a:off x="566928" y="1481328"/>
            <a:ext cx="2551176" cy="65836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Terrain</a:t>
            </a:r>
          </a:p>
          <a:p>
            <a:pPr algn="ctr">
              <a:lnSpc>
                <a:spcPct val="100000"/>
              </a:lnSpc>
              <a:spcAft>
                <a:spcPts val="0"/>
              </a:spcAft>
            </a:pPr>
            <a:r>
              <a:rPr sz="850" b="0" i="0">
                <a:solidFill>
                  <a:srgbClr val="5F5F5F"/>
                </a:solidFill>
                <a:latin typeface="Calibri"/>
              </a:rPr>
              <a:t>plain, from how much
the road bends</a:t>
            </a:r>
          </a:p>
        </p:txBody>
      </p:sp>
      <p:sp>
        <p:nvSpPr>
          <p:cNvPr id="17414" name="Down Arrow 17413"/>
          <p:cNvSpPr/>
          <p:nvPr/>
        </p:nvSpPr>
        <p:spPr>
          <a:xfrm>
            <a:off x="1769364" y="2212848"/>
            <a:ext cx="146304" cy="18288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5" name="Rectangle 17414"/>
          <p:cNvSpPr/>
          <p:nvPr/>
        </p:nvSpPr>
        <p:spPr>
          <a:xfrm>
            <a:off x="3364991" y="1481328"/>
            <a:ext cx="2679192" cy="6583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6" name="TextBox 17415"/>
          <p:cNvSpPr txBox="1"/>
          <p:nvPr/>
        </p:nvSpPr>
        <p:spPr>
          <a:xfrm>
            <a:off x="3428999" y="1481328"/>
            <a:ext cx="2551176" cy="65836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Rainfall</a:t>
            </a:r>
          </a:p>
          <a:p>
            <a:pPr algn="ctr">
              <a:lnSpc>
                <a:spcPct val="100000"/>
              </a:lnSpc>
              <a:spcAft>
                <a:spcPts val="0"/>
              </a:spcAft>
            </a:pPr>
            <a:r>
              <a:rPr sz="850" b="0" i="0">
                <a:solidFill>
                  <a:srgbClr val="5F5F5F"/>
                </a:solidFill>
                <a:latin typeface="Calibri"/>
              </a:rPr>
              <a:t>NASA POWER, this
place, this month</a:t>
            </a:r>
          </a:p>
        </p:txBody>
      </p:sp>
      <p:sp>
        <p:nvSpPr>
          <p:cNvPr id="17417" name="Down Arrow 17416"/>
          <p:cNvSpPr/>
          <p:nvPr/>
        </p:nvSpPr>
        <p:spPr>
          <a:xfrm>
            <a:off x="4631436" y="2212848"/>
            <a:ext cx="146304" cy="18288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8" name="Rectangle 17417"/>
          <p:cNvSpPr/>
          <p:nvPr/>
        </p:nvSpPr>
        <p:spPr>
          <a:xfrm>
            <a:off x="6227064" y="1481328"/>
            <a:ext cx="2679192" cy="6583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9" name="TextBox 17418"/>
          <p:cNvSpPr txBox="1"/>
          <p:nvPr/>
        </p:nvSpPr>
        <p:spPr>
          <a:xfrm>
            <a:off x="6291072" y="1481328"/>
            <a:ext cx="2551176" cy="65836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Ground height</a:t>
            </a:r>
          </a:p>
          <a:p>
            <a:pPr algn="ctr">
              <a:lnSpc>
                <a:spcPct val="100000"/>
              </a:lnSpc>
              <a:spcAft>
                <a:spcPts val="0"/>
              </a:spcAft>
            </a:pPr>
            <a:r>
              <a:rPr sz="850" b="0" i="0">
                <a:solidFill>
                  <a:srgbClr val="5F5F5F"/>
                </a:solidFill>
                <a:latin typeface="Calibri"/>
              </a:rPr>
              <a:t>Copernicus DEM,
metres above sea</a:t>
            </a:r>
          </a:p>
        </p:txBody>
      </p:sp>
      <p:sp>
        <p:nvSpPr>
          <p:cNvPr id="17420" name="Down Arrow 17419"/>
          <p:cNvSpPr/>
          <p:nvPr/>
        </p:nvSpPr>
        <p:spPr>
          <a:xfrm>
            <a:off x="7493508" y="2212848"/>
            <a:ext cx="146304" cy="18288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1" name="Rectangle 17420"/>
          <p:cNvSpPr/>
          <p:nvPr/>
        </p:nvSpPr>
        <p:spPr>
          <a:xfrm>
            <a:off x="9089136" y="1481328"/>
            <a:ext cx="2679192" cy="6583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TextBox 17421"/>
          <p:cNvSpPr txBox="1"/>
          <p:nvPr/>
        </p:nvSpPr>
        <p:spPr>
          <a:xfrm>
            <a:off x="9153144" y="1481328"/>
            <a:ext cx="2551176" cy="658368"/>
          </a:xfrm>
          <a:prstGeom prst="rect">
            <a:avLst/>
          </a:prstGeom>
          <a:noFill/>
        </p:spPr>
        <p:txBody>
          <a:bodyPr wrap="square" lIns="0" rIns="0" tIns="0" bIns="0" anchor="ctr">
            <a:spAutoFit/>
          </a:bodyPr>
          <a:lstStyle/>
          <a:p>
            <a:pPr algn="ctr">
              <a:lnSpc>
                <a:spcPct val="100000"/>
              </a:lnSpc>
              <a:spcAft>
                <a:spcPts val="100"/>
              </a:spcAft>
            </a:pPr>
            <a:r>
              <a:rPr sz="1050" b="1" i="0">
                <a:solidFill>
                  <a:srgbClr val="1A1A1A"/>
                </a:solidFill>
                <a:latin typeface="Calibri"/>
              </a:rPr>
              <a:t>Carriageway</a:t>
            </a:r>
          </a:p>
          <a:p>
            <a:pPr algn="ctr">
              <a:lnSpc>
                <a:spcPct val="100000"/>
              </a:lnSpc>
              <a:spcAft>
                <a:spcPts val="0"/>
              </a:spcAft>
            </a:pPr>
            <a:r>
              <a:rPr sz="850" b="0" i="0">
                <a:solidFill>
                  <a:srgbClr val="5F5F5F"/>
                </a:solidFill>
                <a:latin typeface="Calibri"/>
              </a:rPr>
              <a:t>1 lane, from the
OSM tags</a:t>
            </a:r>
          </a:p>
        </p:txBody>
      </p:sp>
      <p:sp>
        <p:nvSpPr>
          <p:cNvPr id="17423" name="Down Arrow 17422"/>
          <p:cNvSpPr/>
          <p:nvPr/>
        </p:nvSpPr>
        <p:spPr>
          <a:xfrm>
            <a:off x="10355580" y="2212848"/>
            <a:ext cx="146304" cy="18288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4" name="Rectangle 17423"/>
          <p:cNvSpPr/>
          <p:nvPr/>
        </p:nvSpPr>
        <p:spPr>
          <a:xfrm>
            <a:off x="502920" y="2505456"/>
            <a:ext cx="11183112" cy="932688"/>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Rectangle 17424"/>
          <p:cNvSpPr/>
          <p:nvPr/>
        </p:nvSpPr>
        <p:spPr>
          <a:xfrm>
            <a:off x="822960" y="2670048"/>
            <a:ext cx="4892040" cy="60350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6" name="TextBox 17425"/>
          <p:cNvSpPr txBox="1"/>
          <p:nvPr/>
        </p:nvSpPr>
        <p:spPr>
          <a:xfrm>
            <a:off x="886968" y="2670048"/>
            <a:ext cx="4764024" cy="603504"/>
          </a:xfrm>
          <a:prstGeom prst="rect">
            <a:avLst/>
          </a:prstGeom>
          <a:noFill/>
        </p:spPr>
        <p:txBody>
          <a:bodyPr wrap="square" lIns="0" rIns="0" tIns="0" bIns="0" anchor="ctr">
            <a:spAutoFit/>
          </a:bodyPr>
          <a:lstStyle/>
          <a:p>
            <a:pPr algn="ctr">
              <a:lnSpc>
                <a:spcPct val="100000"/>
              </a:lnSpc>
              <a:spcAft>
                <a:spcPts val="100"/>
              </a:spcAft>
            </a:pPr>
            <a:r>
              <a:rPr sz="1100" b="1" i="0">
                <a:solidFill>
                  <a:srgbClr val="1A1A1A"/>
                </a:solidFill>
                <a:latin typeface="Calibri"/>
              </a:rPr>
              <a:t>Landslide susceptibility</a:t>
            </a:r>
          </a:p>
          <a:p>
            <a:pPr algn="ctr">
              <a:lnSpc>
                <a:spcPct val="100000"/>
              </a:lnSpc>
              <a:spcAft>
                <a:spcPts val="0"/>
              </a:spcAft>
            </a:pPr>
            <a:r>
              <a:rPr sz="900" b="0" i="0">
                <a:solidFill>
                  <a:srgbClr val="5F5F5F"/>
                </a:solidFill>
                <a:latin typeface="Calibri"/>
              </a:rPr>
              <a:t>steepness + rainfall + how narrow the road is</a:t>
            </a:r>
          </a:p>
        </p:txBody>
      </p:sp>
      <p:sp>
        <p:nvSpPr>
          <p:cNvPr id="17427" name="Rectangle 17426"/>
          <p:cNvSpPr/>
          <p:nvPr/>
        </p:nvSpPr>
        <p:spPr>
          <a:xfrm>
            <a:off x="6473952" y="2670048"/>
            <a:ext cx="4892040" cy="60350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8" name="TextBox 17427"/>
          <p:cNvSpPr txBox="1"/>
          <p:nvPr/>
        </p:nvSpPr>
        <p:spPr>
          <a:xfrm>
            <a:off x="6537960" y="2670048"/>
            <a:ext cx="4764024" cy="603504"/>
          </a:xfrm>
          <a:prstGeom prst="rect">
            <a:avLst/>
          </a:prstGeom>
          <a:noFill/>
        </p:spPr>
        <p:txBody>
          <a:bodyPr wrap="square" lIns="0" rIns="0" tIns="0" bIns="0" anchor="ctr">
            <a:spAutoFit/>
          </a:bodyPr>
          <a:lstStyle/>
          <a:p>
            <a:pPr algn="ctr">
              <a:lnSpc>
                <a:spcPct val="100000"/>
              </a:lnSpc>
              <a:spcAft>
                <a:spcPts val="100"/>
              </a:spcAft>
            </a:pPr>
            <a:r>
              <a:rPr sz="1100" b="1" i="0">
                <a:solidFill>
                  <a:srgbClr val="1A1A1A"/>
                </a:solidFill>
                <a:latin typeface="Calibri"/>
              </a:rPr>
              <a:t>Flood susceptibility</a:t>
            </a:r>
          </a:p>
          <a:p>
            <a:pPr algn="ctr">
              <a:lnSpc>
                <a:spcPct val="100000"/>
              </a:lnSpc>
              <a:spcAft>
                <a:spcPts val="0"/>
              </a:spcAft>
            </a:pPr>
            <a:r>
              <a:rPr sz="900" b="0" i="0">
                <a:solidFill>
                  <a:srgbClr val="5F5F5F"/>
                </a:solidFill>
                <a:latin typeface="Calibri"/>
              </a:rPr>
              <a:t>how low and flat the ground is + the season</a:t>
            </a:r>
          </a:p>
        </p:txBody>
      </p:sp>
      <p:sp>
        <p:nvSpPr>
          <p:cNvPr id="17429" name="TextBox 17428"/>
          <p:cNvSpPr txBox="1"/>
          <p:nvPr/>
        </p:nvSpPr>
        <p:spPr>
          <a:xfrm>
            <a:off x="822960" y="3273552"/>
            <a:ext cx="4892040" cy="201168"/>
          </a:xfrm>
          <a:prstGeom prst="rect">
            <a:avLst/>
          </a:prstGeom>
          <a:noFill/>
        </p:spPr>
        <p:txBody>
          <a:bodyPr wrap="square" lIns="0" rIns="0" tIns="0" bIns="0" anchor="t">
            <a:spAutoFit/>
          </a:bodyPr>
          <a:lstStyle/>
          <a:p>
            <a:pPr algn="ctr">
              <a:lnSpc>
                <a:spcPct val="115000"/>
              </a:lnSpc>
              <a:spcAft>
                <a:spcPts val="0"/>
              </a:spcAft>
            </a:pPr>
            <a:r>
              <a:rPr sz="1050" b="1" i="0">
                <a:solidFill>
                  <a:srgbClr val="E0A100"/>
                </a:solidFill>
                <a:latin typeface="Calibri"/>
              </a:rPr>
              <a:t>0.2821</a:t>
            </a:r>
          </a:p>
        </p:txBody>
      </p:sp>
      <p:sp>
        <p:nvSpPr>
          <p:cNvPr id="17430" name="TextBox 17429"/>
          <p:cNvSpPr txBox="1"/>
          <p:nvPr/>
        </p:nvSpPr>
        <p:spPr>
          <a:xfrm>
            <a:off x="6473952" y="3273552"/>
            <a:ext cx="4892040" cy="201168"/>
          </a:xfrm>
          <a:prstGeom prst="rect">
            <a:avLst/>
          </a:prstGeom>
          <a:noFill/>
        </p:spPr>
        <p:txBody>
          <a:bodyPr wrap="square" lIns="0" rIns="0" tIns="0" bIns="0" anchor="t">
            <a:spAutoFit/>
          </a:bodyPr>
          <a:lstStyle/>
          <a:p>
            <a:pPr algn="ctr">
              <a:lnSpc>
                <a:spcPct val="115000"/>
              </a:lnSpc>
              <a:spcAft>
                <a:spcPts val="0"/>
              </a:spcAft>
            </a:pPr>
            <a:r>
              <a:rPr sz="1050" b="1" i="0">
                <a:solidFill>
                  <a:srgbClr val="E0A100"/>
                </a:solidFill>
                <a:latin typeface="Calibri"/>
              </a:rPr>
              <a:t>0.3981</a:t>
            </a:r>
          </a:p>
        </p:txBody>
      </p:sp>
      <p:sp>
        <p:nvSpPr>
          <p:cNvPr id="17431" name="Down Arrow 17430"/>
          <p:cNvSpPr/>
          <p:nvPr/>
        </p:nvSpPr>
        <p:spPr>
          <a:xfrm>
            <a:off x="6021324" y="3511296"/>
            <a:ext cx="146304" cy="201168"/>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Rectangle 17431"/>
          <p:cNvSpPr/>
          <p:nvPr/>
        </p:nvSpPr>
        <p:spPr>
          <a:xfrm>
            <a:off x="3017520" y="3803904"/>
            <a:ext cx="6153912" cy="566928"/>
          </a:xfrm>
          <a:prstGeom prst="rect">
            <a:avLst/>
          </a:prstGeom>
          <a:solidFill>
            <a:srgbClr val="E4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3" name="TextBox 17432"/>
          <p:cNvSpPr txBox="1"/>
          <p:nvPr/>
        </p:nvSpPr>
        <p:spPr>
          <a:xfrm>
            <a:off x="3081527" y="3803904"/>
            <a:ext cx="6025896" cy="566928"/>
          </a:xfrm>
          <a:prstGeom prst="rect">
            <a:avLst/>
          </a:prstGeom>
          <a:noFill/>
        </p:spPr>
        <p:txBody>
          <a:bodyPr wrap="square" lIns="0" rIns="0" tIns="0" bIns="0" anchor="ctr">
            <a:spAutoFit/>
          </a:bodyPr>
          <a:lstStyle/>
          <a:p>
            <a:pPr algn="ctr">
              <a:lnSpc>
                <a:spcPct val="100000"/>
              </a:lnSpc>
              <a:spcAft>
                <a:spcPts val="100"/>
              </a:spcAft>
            </a:pPr>
            <a:r>
              <a:rPr sz="1100" b="1" i="0">
                <a:solidFill>
                  <a:srgbClr val="1A1A1A"/>
                </a:solidFill>
                <a:latin typeface="Calibri"/>
              </a:rPr>
              <a:t>Combine them as two independent hazards</a:t>
            </a:r>
          </a:p>
          <a:p>
            <a:pPr algn="ctr">
              <a:lnSpc>
                <a:spcPct val="100000"/>
              </a:lnSpc>
              <a:spcAft>
                <a:spcPts val="0"/>
              </a:spcAft>
            </a:pPr>
            <a:r>
              <a:rPr sz="1000" b="0" i="0">
                <a:solidFill>
                  <a:srgbClr val="5F5F5F"/>
                </a:solidFill>
                <a:latin typeface="Calibri"/>
              </a:rPr>
              <a:t>1 − (1 − 0.2821) × (1 − 0.3981)  =  0.5679</a:t>
            </a:r>
          </a:p>
        </p:txBody>
      </p:sp>
      <p:sp>
        <p:nvSpPr>
          <p:cNvPr id="17434" name="Down Arrow 17433"/>
          <p:cNvSpPr/>
          <p:nvPr/>
        </p:nvSpPr>
        <p:spPr>
          <a:xfrm>
            <a:off x="6021324" y="4443984"/>
            <a:ext cx="146304" cy="201168"/>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Rectangle 17434"/>
          <p:cNvSpPr/>
          <p:nvPr/>
        </p:nvSpPr>
        <p:spPr>
          <a:xfrm>
            <a:off x="502920" y="4736592"/>
            <a:ext cx="3566160" cy="640080"/>
          </a:xfrm>
          <a:prstGeom prst="rect">
            <a:avLst/>
          </a:prstGeom>
          <a:solidFill>
            <a:srgbClr val="FFFFFF"/>
          </a:solidFill>
          <a:ln w="9525">
            <a:solidFill>
              <a:srgbClr val="D03B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6" name="TextBox 17435"/>
          <p:cNvSpPr txBox="1"/>
          <p:nvPr/>
        </p:nvSpPr>
        <p:spPr>
          <a:xfrm>
            <a:off x="566928" y="4736592"/>
            <a:ext cx="3438144" cy="640080"/>
          </a:xfrm>
          <a:prstGeom prst="rect">
            <a:avLst/>
          </a:prstGeom>
          <a:noFill/>
        </p:spPr>
        <p:txBody>
          <a:bodyPr wrap="square" lIns="0" rIns="0" tIns="0" bIns="0" anchor="ctr">
            <a:spAutoFit/>
          </a:bodyPr>
          <a:lstStyle/>
          <a:p>
            <a:pPr algn="ctr">
              <a:lnSpc>
                <a:spcPct val="100000"/>
              </a:lnSpc>
              <a:spcAft>
                <a:spcPts val="100"/>
              </a:spcAft>
            </a:pPr>
            <a:r>
              <a:rPr sz="1100" b="1" i="0">
                <a:solidFill>
                  <a:srgbClr val="D03B3B"/>
                </a:solidFill>
                <a:latin typeface="Calibri"/>
              </a:rPr>
              <a:t>57% chance of being blocked</a:t>
            </a:r>
          </a:p>
          <a:p>
            <a:pPr algn="ctr">
              <a:lnSpc>
                <a:spcPct val="100000"/>
              </a:lnSpc>
              <a:spcAft>
                <a:spcPts val="0"/>
              </a:spcAft>
            </a:pPr>
            <a:r>
              <a:rPr sz="850" b="0" i="0">
                <a:solidFill>
                  <a:srgbClr val="5F5F5F"/>
                </a:solidFill>
                <a:latin typeface="Calibri"/>
              </a:rPr>
              <a:t>at some point in July — this is what the map colours</a:t>
            </a:r>
          </a:p>
        </p:txBody>
      </p:sp>
      <p:sp>
        <p:nvSpPr>
          <p:cNvPr id="17437" name="Rectangle 17436"/>
          <p:cNvSpPr/>
          <p:nvPr/>
        </p:nvSpPr>
        <p:spPr>
          <a:xfrm>
            <a:off x="4343400" y="4736592"/>
            <a:ext cx="3502152" cy="64008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8" name="TextBox 17437"/>
          <p:cNvSpPr txBox="1"/>
          <p:nvPr/>
        </p:nvSpPr>
        <p:spPr>
          <a:xfrm>
            <a:off x="4407408" y="4736592"/>
            <a:ext cx="3374136" cy="640080"/>
          </a:xfrm>
          <a:prstGeom prst="rect">
            <a:avLst/>
          </a:prstGeom>
          <a:noFill/>
        </p:spPr>
        <p:txBody>
          <a:bodyPr wrap="square" lIns="0" rIns="0" tIns="0" bIns="0" anchor="ctr">
            <a:spAutoFit/>
          </a:bodyPr>
          <a:lstStyle/>
          <a:p>
            <a:pPr algn="ctr">
              <a:lnSpc>
                <a:spcPct val="100000"/>
              </a:lnSpc>
              <a:spcAft>
                <a:spcPts val="100"/>
              </a:spcAft>
            </a:pPr>
            <a:r>
              <a:rPr sz="1100" b="1" i="0">
                <a:solidFill>
                  <a:srgbClr val="1A1A1A"/>
                </a:solidFill>
                <a:latin typeface="Calibri"/>
              </a:rPr>
              <a:t>11% chance this lorry meets it</a:t>
            </a:r>
          </a:p>
          <a:p>
            <a:pPr algn="ctr">
              <a:lnSpc>
                <a:spcPct val="100000"/>
              </a:lnSpc>
              <a:spcAft>
                <a:spcPts val="0"/>
              </a:spcAft>
            </a:pPr>
            <a:r>
              <a:rPr sz="850" b="0" i="0">
                <a:solidFill>
                  <a:srgbClr val="5F5F5F"/>
                </a:solidFill>
                <a:latin typeface="Calibri"/>
              </a:rPr>
              <a:t>a trip crosses in hours, not all month</a:t>
            </a:r>
          </a:p>
        </p:txBody>
      </p:sp>
      <p:sp>
        <p:nvSpPr>
          <p:cNvPr id="17439" name="Rectangle 17438"/>
          <p:cNvSpPr/>
          <p:nvPr/>
        </p:nvSpPr>
        <p:spPr>
          <a:xfrm>
            <a:off x="8119872" y="4736592"/>
            <a:ext cx="3566160" cy="64008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TextBox 17439"/>
          <p:cNvSpPr txBox="1"/>
          <p:nvPr/>
        </p:nvSpPr>
        <p:spPr>
          <a:xfrm>
            <a:off x="8183880" y="4736592"/>
            <a:ext cx="3438144" cy="640080"/>
          </a:xfrm>
          <a:prstGeom prst="rect">
            <a:avLst/>
          </a:prstGeom>
          <a:noFill/>
        </p:spPr>
        <p:txBody>
          <a:bodyPr wrap="square" lIns="0" rIns="0" tIns="0" bIns="0" anchor="ctr">
            <a:spAutoFit/>
          </a:bodyPr>
          <a:lstStyle/>
          <a:p>
            <a:pPr algn="ctr">
              <a:lnSpc>
                <a:spcPct val="100000"/>
              </a:lnSpc>
              <a:spcAft>
                <a:spcPts val="100"/>
              </a:spcAft>
            </a:pPr>
            <a:r>
              <a:rPr sz="1100" b="1" i="0">
                <a:solidFill>
                  <a:srgbClr val="1A1A1A"/>
                </a:solidFill>
                <a:latin typeface="Calibri"/>
              </a:rPr>
              <a:t>5.1 hours of expected delay</a:t>
            </a:r>
          </a:p>
          <a:p>
            <a:pPr algn="ctr">
              <a:lnSpc>
                <a:spcPct val="100000"/>
              </a:lnSpc>
              <a:spcAft>
                <a:spcPts val="0"/>
              </a:spcAft>
            </a:pPr>
            <a:r>
              <a:rPr sz="850" b="0" i="0">
                <a:solidFill>
                  <a:srgbClr val="5F5F5F"/>
                </a:solidFill>
                <a:latin typeface="Calibri"/>
              </a:rPr>
              <a:t>which is what enters the cost of the route</a:t>
            </a:r>
          </a:p>
        </p:txBody>
      </p:sp>
      <p:sp>
        <p:nvSpPr>
          <p:cNvPr id="17441" name="Rectangle 17440"/>
          <p:cNvSpPr/>
          <p:nvPr/>
        </p:nvSpPr>
        <p:spPr>
          <a:xfrm>
            <a:off x="502920" y="5541264"/>
            <a:ext cx="11183112" cy="566928"/>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2" name="TextBox 17441"/>
          <p:cNvSpPr txBox="1"/>
          <p:nvPr/>
        </p:nvSpPr>
        <p:spPr>
          <a:xfrm>
            <a:off x="731520" y="5669280"/>
            <a:ext cx="10725912" cy="329184"/>
          </a:xfrm>
          <a:prstGeom prst="rect">
            <a:avLst/>
          </a:prstGeom>
          <a:noFill/>
        </p:spPr>
        <p:txBody>
          <a:bodyPr wrap="square" lIns="0" rIns="0" tIns="0" bIns="0" anchor="t">
            <a:spAutoFit/>
          </a:bodyPr>
          <a:lstStyle/>
          <a:p>
            <a:pPr>
              <a:lnSpc>
                <a:spcPct val="115000"/>
              </a:lnSpc>
              <a:spcAft>
                <a:spcPts val="0"/>
              </a:spcAft>
            </a:pPr>
            <a:r>
              <a:rPr sz="1050" b="1">
                <a:solidFill>
                  <a:srgbClr val="1A1A1A"/>
                </a:solidFill>
                <a:latin typeface="Calibri"/>
              </a:rPr>
              <a:t>Why the middle box matters.  </a:t>
            </a:r>
            <a:r>
              <a:rPr sz="1050" b="0">
                <a:solidFill>
                  <a:srgbClr val="5F5F5F"/>
                </a:solidFill>
                <a:latin typeface="Calibri"/>
              </a:rPr>
              <a:t>Treating 'this road is blocked sometime in July' as 'this lorry will be blocked' prices every hill route as if the closure were certain. Every mountain road then looks unusable rather than merely expensive, and the plan flies everything.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600" b="1">
                <a:solidFill>
                  <a:srgbClr val="1A1A1A"/>
                </a:solidFill>
                <a:latin typeface="Calibri"/>
              </a:rPr>
              <a:t>Result 1 — Plan a shipment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7410" name="Picture 17409" descr="image.png"/>
          <p:cNvPicPr>
            <a:picLocks noChangeAspect="1"/>
          </p:cNvPicPr>
          <p:nvPr/>
        </p:nvPicPr>
        <p:blipFill>
          <a:blip r:embed="rId2"/>
          <a:stretch>
            <a:fillRect/>
          </a:stretch>
        </p:blipFill>
        <p:spPr>
          <a:xfrm>
            <a:off x="9780086" y="1500"/>
            <a:ext cx="2249850" cy="1062337"/>
          </a:xfrm>
          <a:prstGeom prst="rect">
            <a:avLst/>
          </a:prstGeom>
        </p:spPr>
      </p:pic>
      <p:sp>
        <p:nvSpPr>
          <p:cNvPr id="17411" name="TextBox 17410"/>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Kohima to Guwahati, July, one tonne of general cargo</a:t>
            </a:r>
          </a:p>
        </p:txBody>
      </p:sp>
      <p:pic>
        <p:nvPicPr>
          <p:cNvPr id="17412" name="Picture 17411" descr="01-route.png"/>
          <p:cNvPicPr>
            <a:picLocks noChangeAspect="1"/>
          </p:cNvPicPr>
          <p:nvPr/>
        </p:nvPicPr>
        <p:blipFill>
          <a:blip r:embed="rId3"/>
          <a:stretch>
            <a:fillRect/>
          </a:stretch>
        </p:blipFill>
        <p:spPr>
          <a:xfrm>
            <a:off x="502920" y="1444752"/>
            <a:ext cx="7589520" cy="4507992"/>
          </a:xfrm>
          <a:prstGeom prst="rect">
            <a:avLst/>
          </a:prstGeom>
        </p:spPr>
      </p:pic>
      <p:sp>
        <p:nvSpPr>
          <p:cNvPr id="17413" name="Rectangle 17412"/>
          <p:cNvSpPr/>
          <p:nvPr/>
        </p:nvSpPr>
        <p:spPr>
          <a:xfrm>
            <a:off x="502920" y="1444752"/>
            <a:ext cx="7589520" cy="4507992"/>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4" name="TextBox 17413"/>
          <p:cNvSpPr txBox="1"/>
          <p:nvPr/>
        </p:nvSpPr>
        <p:spPr>
          <a:xfrm>
            <a:off x="8321040" y="1444752"/>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You pick five things</a:t>
            </a:r>
          </a:p>
        </p:txBody>
      </p:sp>
      <p:sp>
        <p:nvSpPr>
          <p:cNvPr id="17415" name="TextBox 17414"/>
          <p:cNvSpPr txBox="1"/>
          <p:nvPr/>
        </p:nvSpPr>
        <p:spPr>
          <a:xfrm>
            <a:off x="8321040" y="1673352"/>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Where from, where to, which month, what you are shipping, and what matters most. Modes can be switched off one by one.</a:t>
            </a:r>
          </a:p>
        </p:txBody>
      </p:sp>
      <p:sp>
        <p:nvSpPr>
          <p:cNvPr id="17416" name="TextBox 17415"/>
          <p:cNvSpPr txBox="1"/>
          <p:nvPr/>
        </p:nvSpPr>
        <p:spPr>
          <a:xfrm>
            <a:off x="8321040" y="2523744"/>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It answers in four numbers</a:t>
            </a:r>
          </a:p>
        </p:txBody>
      </p:sp>
      <p:sp>
        <p:nvSpPr>
          <p:cNvPr id="17417" name="TextBox 17416"/>
          <p:cNvSpPr txBox="1"/>
          <p:nvPr/>
        </p:nvSpPr>
        <p:spPr>
          <a:xfrm>
            <a:off x="8321040" y="2752344"/>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2.0 days door to door, ₹928 a tonne, 338.1 km travelled, and 22.3 hours of delay already counted inside the 2.0 days.</a:t>
            </a:r>
          </a:p>
        </p:txBody>
      </p:sp>
      <p:sp>
        <p:nvSpPr>
          <p:cNvPr id="17418" name="TextBox 17417"/>
          <p:cNvSpPr txBox="1"/>
          <p:nvPr/>
        </p:nvSpPr>
        <p:spPr>
          <a:xfrm>
            <a:off x="8321040" y="3602735"/>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The colour change is the point</a:t>
            </a:r>
          </a:p>
        </p:txBody>
      </p:sp>
      <p:sp>
        <p:nvSpPr>
          <p:cNvPr id="17419" name="TextBox 17418"/>
          <p:cNvSpPr txBox="1"/>
          <p:nvPr/>
        </p:nvSpPr>
        <p:spPr>
          <a:xfrm>
            <a:off x="8321040" y="3831335"/>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Blue is road, purple is rail. Where the line changes colour the cargo is unloaded and reloaded, and the app charges 6 hours and ₹250 a tonne for it at Dimapur.</a:t>
            </a:r>
          </a:p>
        </p:txBody>
      </p:sp>
      <p:sp>
        <p:nvSpPr>
          <p:cNvPr id="17420" name="TextBox 17419"/>
          <p:cNvSpPr txBox="1"/>
          <p:nvPr/>
        </p:nvSpPr>
        <p:spPr>
          <a:xfrm>
            <a:off x="8321040" y="4681727"/>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Below the fold, leg by leg</a:t>
            </a:r>
          </a:p>
        </p:txBody>
      </p:sp>
      <p:sp>
        <p:nvSpPr>
          <p:cNvPr id="17421" name="TextBox 17420"/>
          <p:cNvSpPr txBox="1"/>
          <p:nvPr/>
        </p:nvSpPr>
        <p:spPr>
          <a:xfrm>
            <a:off x="8321040" y="4910327"/>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“Transhipment at Dimapur, road to rail, 6.0 h, ₹250/t.” Then “Dimapur to Guwahati, rail, NFR, 290 km, 12.3 h, elevated risk.” Every leg, with its highway number and its risk band.</a:t>
            </a:r>
          </a:p>
        </p:txBody>
      </p:sp>
      <p:sp>
        <p:nvSpPr>
          <p:cNvPr id="17422" name="TextBox 17421"/>
          <p:cNvSpPr txBox="1"/>
          <p:nvPr/>
        </p:nvSpPr>
        <p:spPr>
          <a:xfrm>
            <a:off x="502920" y="6035040"/>
            <a:ext cx="11183112" cy="219456"/>
          </a:xfrm>
          <a:prstGeom prst="rect">
            <a:avLst/>
          </a:prstGeom>
          <a:noFill/>
        </p:spPr>
        <p:txBody>
          <a:bodyPr wrap="square" lIns="0" rIns="0" tIns="0" bIns="0" anchor="t">
            <a:spAutoFit/>
          </a:bodyPr>
          <a:lstStyle/>
          <a:p>
            <a:pPr algn="l">
              <a:lnSpc>
                <a:spcPct val="115000"/>
              </a:lnSpc>
              <a:spcAft>
                <a:spcPts val="0"/>
              </a:spcAft>
            </a:pPr>
            <a:r>
              <a:rPr sz="900" b="0" i="0">
                <a:solidFill>
                  <a:srgbClr val="8A8A8A"/>
                </a:solidFill>
                <a:latin typeface="Calibri"/>
              </a:rPr>
              <a:t>Screenshot taken from the running application. The basemap tiles are blocked on this network, so the map draws our own data on a blank ground — by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600" b="1">
                <a:solidFill>
                  <a:srgbClr val="1A1A1A"/>
                </a:solidFill>
                <a:latin typeface="Calibri"/>
              </a:rPr>
              <a:t>Result 2 — Monsoon risk, every road</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7410" name="Picture 17409" descr="image.png"/>
          <p:cNvPicPr>
            <a:picLocks noChangeAspect="1"/>
          </p:cNvPicPr>
          <p:nvPr/>
        </p:nvPicPr>
        <p:blipFill>
          <a:blip r:embed="rId2"/>
          <a:stretch>
            <a:fillRect/>
          </a:stretch>
        </p:blipFill>
        <p:spPr>
          <a:xfrm>
            <a:off x="9780086" y="1500"/>
            <a:ext cx="2249850" cy="1062337"/>
          </a:xfrm>
          <a:prstGeom prst="rect">
            <a:avLst/>
          </a:prstGeom>
        </p:spPr>
      </p:pic>
      <p:sp>
        <p:nvSpPr>
          <p:cNvPr id="17411" name="TextBox 17410"/>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The whole network in July, coloured by the chance of being blocked</a:t>
            </a:r>
          </a:p>
        </p:txBody>
      </p:sp>
      <p:pic>
        <p:nvPicPr>
          <p:cNvPr id="17412" name="Picture 17411" descr="02-risk.png"/>
          <p:cNvPicPr>
            <a:picLocks noChangeAspect="1"/>
          </p:cNvPicPr>
          <p:nvPr/>
        </p:nvPicPr>
        <p:blipFill>
          <a:blip r:embed="rId3"/>
          <a:stretch>
            <a:fillRect/>
          </a:stretch>
        </p:blipFill>
        <p:spPr>
          <a:xfrm>
            <a:off x="502920" y="1444752"/>
            <a:ext cx="7589520" cy="4507992"/>
          </a:xfrm>
          <a:prstGeom prst="rect">
            <a:avLst/>
          </a:prstGeom>
        </p:spPr>
      </p:pic>
      <p:sp>
        <p:nvSpPr>
          <p:cNvPr id="17413" name="Rectangle 17412"/>
          <p:cNvSpPr/>
          <p:nvPr/>
        </p:nvSpPr>
        <p:spPr>
          <a:xfrm>
            <a:off x="502920" y="1444752"/>
            <a:ext cx="7589520" cy="4507992"/>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4" name="TextBox 17413"/>
          <p:cNvSpPr txBox="1"/>
          <p:nvPr/>
        </p:nvSpPr>
        <p:spPr>
          <a:xfrm>
            <a:off x="8321040" y="1444752"/>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4,067 roads over 5 km</a:t>
            </a:r>
          </a:p>
        </p:txBody>
      </p:sp>
      <p:sp>
        <p:nvSpPr>
          <p:cNvPr id="17415" name="TextBox 17414"/>
          <p:cNvSpPr txBox="1"/>
          <p:nvPr/>
        </p:nvSpPr>
        <p:spPr>
          <a:xfrm>
            <a:off x="8321040" y="1673352"/>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Shorter link roads are hidden by the slider, because thousands of 30-metre stubs make the picture unreadable.</a:t>
            </a:r>
          </a:p>
        </p:txBody>
      </p:sp>
      <p:sp>
        <p:nvSpPr>
          <p:cNvPr id="17416" name="TextBox 17415"/>
          <p:cNvSpPr txBox="1"/>
          <p:nvPr/>
        </p:nvSpPr>
        <p:spPr>
          <a:xfrm>
            <a:off x="8321040" y="2523744"/>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Green, amber, red</a:t>
            </a:r>
          </a:p>
        </p:txBody>
      </p:sp>
      <p:sp>
        <p:nvSpPr>
          <p:cNvPr id="17417" name="TextBox 17416"/>
          <p:cNvSpPr txBox="1"/>
          <p:nvPr/>
        </p:nvSpPr>
        <p:spPr>
          <a:xfrm>
            <a:off x="8321040" y="2752344"/>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Usually open, often disrupted, frequently blocked. Line thickness repeats the same information, so the map still works for a colour-blind viewer and in black and white.</a:t>
            </a:r>
          </a:p>
        </p:txBody>
      </p:sp>
      <p:sp>
        <p:nvSpPr>
          <p:cNvPr id="17418" name="TextBox 17417"/>
          <p:cNvSpPr txBox="1"/>
          <p:nvPr/>
        </p:nvSpPr>
        <p:spPr>
          <a:xfrm>
            <a:off x="8321040" y="3602735"/>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Slide the month</a:t>
            </a:r>
          </a:p>
        </p:txBody>
      </p:sp>
      <p:sp>
        <p:nvSpPr>
          <p:cNvPr id="17419" name="TextBox 17418"/>
          <p:cNvSpPr txBox="1"/>
          <p:nvPr/>
        </p:nvSpPr>
        <p:spPr>
          <a:xfrm>
            <a:off x="8321040" y="3831335"/>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Watch the network deteriorate through June to September and recover. The hazard box separates landslides from floods, because they hit different roads.</a:t>
            </a:r>
          </a:p>
        </p:txBody>
      </p:sp>
      <p:sp>
        <p:nvSpPr>
          <p:cNvPr id="17420" name="TextBox 17419"/>
          <p:cNvSpPr txBox="1"/>
          <p:nvPr/>
        </p:nvSpPr>
        <p:spPr>
          <a:xfrm>
            <a:off x="8321040" y="4681727"/>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The worst list is Meghalaya, and it is flood</a:t>
            </a:r>
          </a:p>
        </p:txBody>
      </p:sp>
      <p:sp>
        <p:nvSpPr>
          <p:cNvPr id="17421" name="TextBox 17420"/>
          <p:cNvSpPr txBox="1"/>
          <p:nvPr/>
        </p:nvSpPr>
        <p:spPr>
          <a:xfrm>
            <a:off x="8321040" y="4910327"/>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Shella and Jasir at 57%. Of all the roads shown, 6,316 are at more risk from flooding than from landslides.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600" b="1">
                <a:solidFill>
                  <a:srgbClr val="1A1A1A"/>
                </a:solidFill>
                <a:latin typeface="Calibri"/>
              </a:rPr>
              <a:t>Result 3 — Who is cut off</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7410" name="Picture 17409" descr="image.png"/>
          <p:cNvPicPr>
            <a:picLocks noChangeAspect="1"/>
          </p:cNvPicPr>
          <p:nvPr/>
        </p:nvPicPr>
        <p:blipFill>
          <a:blip r:embed="rId2"/>
          <a:stretch>
            <a:fillRect/>
          </a:stretch>
        </p:blipFill>
        <p:spPr>
          <a:xfrm>
            <a:off x="9780086" y="1500"/>
            <a:ext cx="2249850" cy="1062337"/>
          </a:xfrm>
          <a:prstGeom prst="rect">
            <a:avLst/>
          </a:prstGeom>
        </p:spPr>
      </p:pic>
      <p:sp>
        <p:nvSpPr>
          <p:cNvPr id="17411" name="TextBox 17410"/>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5,505 towns and villages scored on travel hours, not map distance</a:t>
            </a:r>
          </a:p>
        </p:txBody>
      </p:sp>
      <p:pic>
        <p:nvPicPr>
          <p:cNvPr id="17412" name="Picture 17411" descr="03-access.png"/>
          <p:cNvPicPr>
            <a:picLocks noChangeAspect="1"/>
          </p:cNvPicPr>
          <p:nvPr/>
        </p:nvPicPr>
        <p:blipFill>
          <a:blip r:embed="rId3"/>
          <a:stretch>
            <a:fillRect/>
          </a:stretch>
        </p:blipFill>
        <p:spPr>
          <a:xfrm>
            <a:off x="502920" y="1444752"/>
            <a:ext cx="7589520" cy="4507992"/>
          </a:xfrm>
          <a:prstGeom prst="rect">
            <a:avLst/>
          </a:prstGeom>
        </p:spPr>
      </p:pic>
      <p:sp>
        <p:nvSpPr>
          <p:cNvPr id="17413" name="Rectangle 17412"/>
          <p:cNvSpPr/>
          <p:nvPr/>
        </p:nvSpPr>
        <p:spPr>
          <a:xfrm>
            <a:off x="502920" y="1444752"/>
            <a:ext cx="7589520" cy="4507992"/>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4" name="TextBox 17413"/>
          <p:cNvSpPr txBox="1"/>
          <p:nvPr/>
        </p:nvSpPr>
        <p:spPr>
          <a:xfrm>
            <a:off x="8321040" y="1444752"/>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Scored out of 100</a:t>
            </a:r>
          </a:p>
        </p:txBody>
      </p:sp>
      <p:sp>
        <p:nvSpPr>
          <p:cNvPr id="17415" name="TextBox 17414"/>
          <p:cNvSpPr txBox="1"/>
          <p:nvPr/>
        </p:nvSpPr>
        <p:spPr>
          <a:xfrm>
            <a:off x="8321040" y="1673352"/>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100 is a place with a market, cold storage and the national gateway all close by. The score blends travel time to each, plus how much worse the monsoon makes it.</a:t>
            </a:r>
          </a:p>
        </p:txBody>
      </p:sp>
      <p:sp>
        <p:nvSpPr>
          <p:cNvPr id="17416" name="TextBox 17415"/>
          <p:cNvSpPr txBox="1"/>
          <p:nvPr/>
        </p:nvSpPr>
        <p:spPr>
          <a:xfrm>
            <a:off x="8321040" y="2523744"/>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Hours, never kilometres</a:t>
            </a:r>
          </a:p>
        </p:txBody>
      </p:sp>
      <p:sp>
        <p:nvSpPr>
          <p:cNvPr id="17417" name="TextBox 17416"/>
          <p:cNvSpPr txBox="1"/>
          <p:nvPr/>
        </p:nvSpPr>
        <p:spPr>
          <a:xfrm>
            <a:off x="8321040" y="2752344"/>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The score comes from a search over the real network. A village 20 km away across a gorge is not 20 km away.</a:t>
            </a:r>
          </a:p>
        </p:txBody>
      </p:sp>
      <p:sp>
        <p:nvSpPr>
          <p:cNvPr id="17418" name="TextBox 17417"/>
          <p:cNvSpPr txBox="1"/>
          <p:nvPr/>
        </p:nvSpPr>
        <p:spPr>
          <a:xfrm>
            <a:off x="8321040" y="3602735"/>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Namsai is 4.0 days from a market</a:t>
            </a:r>
          </a:p>
        </p:txBody>
      </p:sp>
      <p:sp>
        <p:nvSpPr>
          <p:cNvPr id="17419" name="TextBox 17418"/>
          <p:cNvSpPr txBox="1"/>
          <p:nvPr/>
        </p:nvSpPr>
        <p:spPr>
          <a:xfrm>
            <a:off x="8321040" y="3831335"/>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Changliang in Arunachal is 7.1 days. Billbari in Assam is 1.3 days — and that is in the monsoon.</a:t>
            </a:r>
          </a:p>
        </p:txBody>
      </p:sp>
      <p:sp>
        <p:nvSpPr>
          <p:cNvPr id="17420" name="TextBox 17419"/>
          <p:cNvSpPr txBox="1"/>
          <p:nvPr/>
        </p:nvSpPr>
        <p:spPr>
          <a:xfrm>
            <a:off x="8321040" y="4681727"/>
            <a:ext cx="336499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Mostly red, and we say why</a:t>
            </a:r>
          </a:p>
        </p:txBody>
      </p:sp>
      <p:sp>
        <p:nvSpPr>
          <p:cNvPr id="17421" name="TextBox 17420"/>
          <p:cNvSpPr txBox="1"/>
          <p:nvPr/>
        </p:nvSpPr>
        <p:spPr>
          <a:xfrm>
            <a:off x="8321040" y="4910327"/>
            <a:ext cx="3364992" cy="868680"/>
          </a:xfrm>
          <a:prstGeom prst="rect">
            <a:avLst/>
          </a:prstGeom>
          <a:noFill/>
        </p:spPr>
        <p:txBody>
          <a:bodyPr wrap="square" lIns="0" rIns="0" tIns="0" bIns="0" anchor="t">
            <a:spAutoFit/>
          </a:bodyPr>
          <a:lstStyle/>
          <a:p>
            <a:pPr algn="l">
              <a:lnSpc>
                <a:spcPct val="113000"/>
              </a:lnSpc>
              <a:spcAft>
                <a:spcPts val="0"/>
              </a:spcAft>
            </a:pPr>
            <a:r>
              <a:rPr sz="1000" b="0" i="0">
                <a:solidFill>
                  <a:srgbClr val="5F5F5F"/>
                </a:solidFill>
                <a:latin typeface="Calibri"/>
              </a:rPr>
              <a:t>Only 35 markets are mapped in the whole region, so the scores are pessimistic. Loading the Agmarknet market list is the single biggest improvement left.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600" b="1">
                <a:solidFill>
                  <a:srgbClr val="1A1A1A"/>
                </a:solidFill>
                <a:latin typeface="Calibri"/>
              </a:rPr>
              <a:t>Result 4 — Compare every option</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7410" name="Picture 17409" descr="image.png"/>
          <p:cNvPicPr>
            <a:picLocks noChangeAspect="1"/>
          </p:cNvPicPr>
          <p:nvPr/>
        </p:nvPicPr>
        <p:blipFill>
          <a:blip r:embed="rId2"/>
          <a:stretch>
            <a:fillRect/>
          </a:stretch>
        </p:blipFill>
        <p:spPr>
          <a:xfrm>
            <a:off x="9780086" y="1500"/>
            <a:ext cx="2249850" cy="1062337"/>
          </a:xfrm>
          <a:prstGeom prst="rect">
            <a:avLst/>
          </a:prstGeom>
        </p:spPr>
      </p:pic>
      <p:sp>
        <p:nvSpPr>
          <p:cNvPr id="17411" name="TextBox 17410"/>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The same consignment, seven ways, with the app's own plain-English reading</a:t>
            </a:r>
          </a:p>
        </p:txBody>
      </p:sp>
      <p:pic>
        <p:nvPicPr>
          <p:cNvPr id="17412" name="Picture 17411" descr="04b-compare-crop.png"/>
          <p:cNvPicPr>
            <a:picLocks noChangeAspect="1"/>
          </p:cNvPicPr>
          <p:nvPr/>
        </p:nvPicPr>
        <p:blipFill>
          <a:blip r:embed="rId3"/>
          <a:stretch>
            <a:fillRect/>
          </a:stretch>
        </p:blipFill>
        <p:spPr>
          <a:xfrm>
            <a:off x="502920" y="1444752"/>
            <a:ext cx="2532888" cy="4636008"/>
          </a:xfrm>
          <a:prstGeom prst="rect">
            <a:avLst/>
          </a:prstGeom>
        </p:spPr>
      </p:pic>
      <p:sp>
        <p:nvSpPr>
          <p:cNvPr id="17413" name="Rectangle 17412"/>
          <p:cNvSpPr/>
          <p:nvPr/>
        </p:nvSpPr>
        <p:spPr>
          <a:xfrm>
            <a:off x="502920" y="1444752"/>
            <a:ext cx="2532888" cy="4636008"/>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4" name="TextBox 17413"/>
          <p:cNvSpPr txBox="1"/>
          <p:nvPr/>
        </p:nvSpPr>
        <p:spPr>
          <a:xfrm>
            <a:off x="502920" y="6163056"/>
            <a:ext cx="2532888" cy="274320"/>
          </a:xfrm>
          <a:prstGeom prst="rect">
            <a:avLst/>
          </a:prstGeom>
          <a:noFill/>
        </p:spPr>
        <p:txBody>
          <a:bodyPr wrap="square" lIns="0" rIns="0" tIns="0" bIns="0" anchor="t">
            <a:spAutoFit/>
          </a:bodyPr>
          <a:lstStyle/>
          <a:p>
            <a:pPr algn="l">
              <a:lnSpc>
                <a:spcPct val="115000"/>
              </a:lnSpc>
              <a:spcAft>
                <a:spcPts val="0"/>
              </a:spcAft>
            </a:pPr>
            <a:r>
              <a:rPr sz="900" b="0" i="0">
                <a:solidFill>
                  <a:srgbClr val="8A8A8A"/>
                </a:solidFill>
                <a:latin typeface="Calibri"/>
              </a:rPr>
              <a:t>The Analysis panel, full height</a:t>
            </a:r>
          </a:p>
        </p:txBody>
      </p:sp>
      <p:sp>
        <p:nvSpPr>
          <p:cNvPr id="17415" name="Rectangle 17414"/>
          <p:cNvSpPr/>
          <p:nvPr/>
        </p:nvSpPr>
        <p:spPr>
          <a:xfrm>
            <a:off x="3310128" y="5413248"/>
            <a:ext cx="8375904" cy="6858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6" name="TextBox 17415"/>
          <p:cNvSpPr txBox="1"/>
          <p:nvPr/>
        </p:nvSpPr>
        <p:spPr>
          <a:xfrm>
            <a:off x="3538728" y="5541264"/>
            <a:ext cx="7918704" cy="457200"/>
          </a:xfrm>
          <a:prstGeom prst="rect">
            <a:avLst/>
          </a:prstGeom>
          <a:noFill/>
        </p:spPr>
        <p:txBody>
          <a:bodyPr wrap="square" lIns="0" rIns="0" tIns="0" bIns="0" anchor="t">
            <a:spAutoFit/>
          </a:bodyPr>
          <a:lstStyle/>
          <a:p>
            <a:pPr>
              <a:lnSpc>
                <a:spcPct val="115000"/>
              </a:lnSpc>
              <a:spcAft>
                <a:spcPts val="0"/>
              </a:spcAft>
            </a:pPr>
            <a:r>
              <a:rPr sz="1150" b="1">
                <a:solidFill>
                  <a:srgbClr val="1A1A1A"/>
                </a:solidFill>
                <a:latin typeface="Calibri"/>
              </a:rPr>
              <a:t>The app writes this itself:  </a:t>
            </a:r>
            <a:r>
              <a:rPr sz="1150" b="0">
                <a:solidFill>
                  <a:srgbClr val="5F5F5F"/>
                </a:solidFill>
                <a:latin typeface="Calibri"/>
              </a:rPr>
              <a:t>“Across all options the spread is ₹5,032 per tonne and 6.2 days — the cost of choosing badly on this lane.”</a:t>
            </a:r>
          </a:p>
        </p:txBody>
      </p:sp>
      <p:sp>
        <p:nvSpPr>
          <p:cNvPr id="17417" name="TextBox 17416"/>
          <p:cNvSpPr txBox="1"/>
          <p:nvPr/>
        </p:nvSpPr>
        <p:spPr>
          <a:xfrm>
            <a:off x="3310128" y="1444752"/>
            <a:ext cx="8375904" cy="237744"/>
          </a:xfrm>
          <a:prstGeom prst="rect">
            <a:avLst/>
          </a:prstGeom>
          <a:noFill/>
        </p:spPr>
        <p:txBody>
          <a:bodyPr wrap="square" lIns="0" rIns="0" tIns="0" bIns="0" anchor="t">
            <a:spAutoFit/>
          </a:bodyPr>
          <a:lstStyle/>
          <a:p>
            <a:pPr algn="l">
              <a:lnSpc>
                <a:spcPct val="115000"/>
              </a:lnSpc>
              <a:spcAft>
                <a:spcPts val="0"/>
              </a:spcAft>
            </a:pPr>
            <a:r>
              <a:rPr sz="1150" b="1" i="0">
                <a:solidFill>
                  <a:srgbClr val="1A1A1A"/>
                </a:solidFill>
                <a:latin typeface="Calibri"/>
              </a:rPr>
              <a:t>Every option, as the app lists it</a:t>
            </a:r>
          </a:p>
        </p:txBody>
      </p:sp>
      <p:graphicFrame>
        <p:nvGraphicFramePr>
          <p:cNvPr id="17418" name="Table 17417"/>
          <p:cNvGraphicFramePr>
            <a:graphicFrameLocks noGrp="1"/>
          </p:cNvGraphicFramePr>
          <p:nvPr/>
        </p:nvGraphicFramePr>
        <p:xfrm>
          <a:off x="3310128" y="1737360"/>
          <a:ext cx="8375904" cy="2395728"/>
        </p:xfrm>
        <a:graphic>
          <a:graphicData uri="http://schemas.openxmlformats.org/drawingml/2006/table">
            <a:tbl>
              <a:tblPr firstRow="1">
                <a:tableStyleId>{5C22544A-7EE6-4342-B048-85BDC9FD1C3A}</a:tableStyleId>
              </a:tblPr>
              <a:tblGrid>
                <a:gridCol w="2999232"/>
                <a:gridCol w="2103120"/>
                <a:gridCol w="1536192"/>
                <a:gridCol w="1737360"/>
              </a:tblGrid>
              <a:tr h="283464">
                <a:tc>
                  <a:txBody>
                    <a:bodyPr wrap="square"/>
                    <a:lstStyle/>
                    <a:p>
                      <a:pPr algn="l">
                        <a:lnSpc>
                          <a:spcPct val="100000"/>
                        </a:lnSpc>
                      </a:pPr>
                      <a:r>
                        <a:rPr sz="950" b="1">
                          <a:solidFill>
                            <a:srgbClr val="1A1A1A"/>
                          </a:solidFill>
                          <a:latin typeface="Calibri"/>
                        </a:rPr>
                        <a:t>Option</a:t>
                      </a:r>
                    </a:p>
                  </a:txBody>
                  <a:tcPr marL="64008" marR="64008" marT="18288" marB="18288" anchor="ctr">
                    <a:solidFill>
                      <a:srgbClr val="E4E8EB"/>
                    </a:solidFill>
                  </a:tcPr>
                </a:tc>
                <a:tc>
                  <a:txBody>
                    <a:bodyPr wrap="square"/>
                    <a:lstStyle/>
                    <a:p>
                      <a:pPr algn="l">
                        <a:lnSpc>
                          <a:spcPct val="100000"/>
                        </a:lnSpc>
                      </a:pPr>
                      <a:r>
                        <a:rPr sz="950" b="1">
                          <a:solidFill>
                            <a:srgbClr val="1A1A1A"/>
                          </a:solidFill>
                          <a:latin typeface="Calibri"/>
                        </a:rPr>
                        <a:t>Route</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Time</a:t>
                      </a:r>
                    </a:p>
                  </a:txBody>
                  <a:tcPr marL="64008" marR="64008" marT="18288" marB="18288" anchor="ctr">
                    <a:solidFill>
                      <a:srgbClr val="E4E8EB"/>
                    </a:solidFill>
                  </a:tcPr>
                </a:tc>
                <a:tc>
                  <a:txBody>
                    <a:bodyPr wrap="square"/>
                    <a:lstStyle/>
                    <a:p>
                      <a:pPr algn="r">
                        <a:lnSpc>
                          <a:spcPct val="100000"/>
                        </a:lnSpc>
                      </a:pPr>
                      <a:r>
                        <a:rPr sz="950" b="1">
                          <a:solidFill>
                            <a:srgbClr val="1A1A1A"/>
                          </a:solidFill>
                          <a:latin typeface="Calibri"/>
                        </a:rPr>
                        <a:t>Cost/t</a:t>
                      </a:r>
                    </a:p>
                  </a:txBody>
                  <a:tcPr marL="64008" marR="64008" marT="18288" marB="18288" anchor="ctr">
                    <a:solidFill>
                      <a:srgbClr val="E4E8EB"/>
                    </a:solidFill>
                  </a:tcPr>
                </a:tc>
              </a:tr>
              <a:tr h="301752">
                <a:tc>
                  <a:txBody>
                    <a:bodyPr wrap="square"/>
                    <a:lstStyle/>
                    <a:p>
                      <a:pPr algn="l">
                        <a:lnSpc>
                          <a:spcPct val="100000"/>
                        </a:lnSpc>
                      </a:pPr>
                      <a:r>
                        <a:rPr sz="1050" b="1">
                          <a:solidFill>
                            <a:srgbClr val="1A1A1A"/>
                          </a:solidFill>
                          <a:latin typeface="Calibri"/>
                        </a:rPr>
                        <a:t>Recommended</a:t>
                      </a:r>
                    </a:p>
                  </a:txBody>
                  <a:tcPr marL="64008" marR="64008" marT="18288" marB="18288" anchor="ctr">
                    <a:solidFill>
                      <a:srgbClr val="FFFFFF"/>
                    </a:solidFill>
                  </a:tcPr>
                </a:tc>
                <a:tc>
                  <a:txBody>
                    <a:bodyPr wrap="square"/>
                    <a:lstStyle/>
                    <a:p>
                      <a:pPr algn="l">
                        <a:lnSpc>
                          <a:spcPct val="100000"/>
                        </a:lnSpc>
                      </a:pPr>
                      <a:r>
                        <a:rPr sz="1050" b="1">
                          <a:solidFill>
                            <a:srgbClr val="1A1A1A"/>
                          </a:solidFill>
                          <a:latin typeface="Calibri"/>
                        </a:rPr>
                        <a:t>road → rail</a:t>
                      </a:r>
                    </a:p>
                  </a:txBody>
                  <a:tcPr marL="64008" marR="64008" marT="18288" marB="18288" anchor="ctr">
                    <a:solidFill>
                      <a:srgbClr val="FFFFFF"/>
                    </a:solidFill>
                  </a:tcPr>
                </a:tc>
                <a:tc>
                  <a:txBody>
                    <a:bodyPr wrap="square"/>
                    <a:lstStyle/>
                    <a:p>
                      <a:pPr algn="r">
                        <a:lnSpc>
                          <a:spcPct val="100000"/>
                        </a:lnSpc>
                      </a:pPr>
                      <a:r>
                        <a:rPr sz="1050" b="1">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50" b="1">
                          <a:solidFill>
                            <a:srgbClr val="1A1A1A"/>
                          </a:solidFill>
                          <a:latin typeface="Calibri"/>
                        </a:rPr>
                        <a:t>₹928</a:t>
                      </a:r>
                    </a:p>
                  </a:txBody>
                  <a:tcPr marL="64008" marR="64008" marT="18288" marB="18288" anchor="ctr">
                    <a:solidFill>
                      <a:srgbClr val="FFFFFF"/>
                    </a:solidFill>
                  </a:tcPr>
                </a:tc>
              </a:tr>
              <a:tr h="301752">
                <a:tc>
                  <a:txBody>
                    <a:bodyPr wrap="square"/>
                    <a:lstStyle/>
                    <a:p>
                      <a:pPr algn="l">
                        <a:lnSpc>
                          <a:spcPct val="100000"/>
                        </a:lnSpc>
                      </a:pPr>
                      <a:r>
                        <a:rPr sz="1050" b="0">
                          <a:solidFill>
                            <a:srgbClr val="1A1A1A"/>
                          </a:solidFill>
                          <a:latin typeface="Calibri"/>
                        </a:rPr>
                        <a:t>Lowest freight cost</a:t>
                      </a:r>
                    </a:p>
                  </a:txBody>
                  <a:tcPr marL="64008" marR="64008" marT="18288" marB="18288" anchor="ctr">
                    <a:solidFill>
                      <a:srgbClr val="FFFFFF"/>
                    </a:solidFill>
                  </a:tcPr>
                </a:tc>
                <a:tc>
                  <a:txBody>
                    <a:bodyPr wrap="square"/>
                    <a:lstStyle/>
                    <a:p>
                      <a:pPr algn="l">
                        <a:lnSpc>
                          <a:spcPct val="100000"/>
                        </a:lnSpc>
                      </a:pPr>
                      <a:r>
                        <a:rPr sz="1050" b="0">
                          <a:solidFill>
                            <a:srgbClr val="1A1A1A"/>
                          </a:solidFill>
                          <a:latin typeface="Calibri"/>
                        </a:rPr>
                        <a:t>road → rail</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₹922</a:t>
                      </a:r>
                    </a:p>
                  </a:txBody>
                  <a:tcPr marL="64008" marR="64008" marT="18288" marB="18288" anchor="ctr">
                    <a:solidFill>
                      <a:srgbClr val="FFFFFF"/>
                    </a:solidFill>
                  </a:tcPr>
                </a:tc>
              </a:tr>
              <a:tr h="301752">
                <a:tc>
                  <a:txBody>
                    <a:bodyPr wrap="square"/>
                    <a:lstStyle/>
                    <a:p>
                      <a:pPr algn="l">
                        <a:lnSpc>
                          <a:spcPct val="100000"/>
                        </a:lnSpc>
                      </a:pPr>
                      <a:r>
                        <a:rPr sz="1050" b="0">
                          <a:solidFill>
                            <a:srgbClr val="1A1A1A"/>
                          </a:solidFill>
                          <a:latin typeface="Calibri"/>
                        </a:rPr>
                        <a:t>Fastest door to door</a:t>
                      </a:r>
                    </a:p>
                  </a:txBody>
                  <a:tcPr marL="64008" marR="64008" marT="18288" marB="18288" anchor="ctr">
                    <a:solidFill>
                      <a:srgbClr val="FFFFFF"/>
                    </a:solidFill>
                  </a:tcPr>
                </a:tc>
                <a:tc>
                  <a:txBody>
                    <a:bodyPr wrap="square"/>
                    <a:lstStyle/>
                    <a:p>
                      <a:pPr algn="l">
                        <a:lnSpc>
                          <a:spcPct val="100000"/>
                        </a:lnSpc>
                      </a:pPr>
                      <a:r>
                        <a:rPr sz="1050" b="0">
                          <a:solidFill>
                            <a:srgbClr val="1A1A1A"/>
                          </a:solidFill>
                          <a:latin typeface="Calibri"/>
                        </a:rPr>
                        <a:t>road → air</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1.4 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₹5,954</a:t>
                      </a:r>
                    </a:p>
                  </a:txBody>
                  <a:tcPr marL="64008" marR="64008" marT="18288" marB="18288" anchor="ctr">
                    <a:solidFill>
                      <a:srgbClr val="FFFFFF"/>
                    </a:solidFill>
                  </a:tcPr>
                </a:tc>
              </a:tr>
              <a:tr h="301752">
                <a:tc>
                  <a:txBody>
                    <a:bodyPr wrap="square"/>
                    <a:lstStyle/>
                    <a:p>
                      <a:pPr algn="l">
                        <a:lnSpc>
                          <a:spcPct val="100000"/>
                        </a:lnSpc>
                      </a:pPr>
                      <a:r>
                        <a:rPr sz="1050" b="0">
                          <a:solidFill>
                            <a:srgbClr val="1A1A1A"/>
                          </a:solidFill>
                          <a:latin typeface="Calibri"/>
                        </a:rPr>
                        <a:t>Most reliable</a:t>
                      </a:r>
                    </a:p>
                  </a:txBody>
                  <a:tcPr marL="64008" marR="64008" marT="18288" marB="18288" anchor="ctr">
                    <a:solidFill>
                      <a:srgbClr val="FFFFFF"/>
                    </a:solidFill>
                  </a:tcPr>
                </a:tc>
                <a:tc>
                  <a:txBody>
                    <a:bodyPr wrap="square"/>
                    <a:lstStyle/>
                    <a:p>
                      <a:pPr algn="l">
                        <a:lnSpc>
                          <a:spcPct val="100000"/>
                        </a:lnSpc>
                      </a:pPr>
                      <a:r>
                        <a:rPr sz="1050" b="0">
                          <a:solidFill>
                            <a:srgbClr val="1A1A1A"/>
                          </a:solidFill>
                          <a:latin typeface="Calibri"/>
                        </a:rPr>
                        <a:t>road → rail</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₹928</a:t>
                      </a:r>
                    </a:p>
                  </a:txBody>
                  <a:tcPr marL="64008" marR="64008" marT="18288" marB="18288" anchor="ctr">
                    <a:solidFill>
                      <a:srgbClr val="FFFFFF"/>
                    </a:solidFill>
                  </a:tcPr>
                </a:tc>
              </a:tr>
              <a:tr h="301752">
                <a:tc>
                  <a:txBody>
                    <a:bodyPr wrap="square"/>
                    <a:lstStyle/>
                    <a:p>
                      <a:pPr algn="l">
                        <a:lnSpc>
                          <a:spcPct val="100000"/>
                        </a:lnSpc>
                      </a:pPr>
                      <a:r>
                        <a:rPr sz="1050" b="0">
                          <a:solidFill>
                            <a:srgbClr val="1A1A1A"/>
                          </a:solidFill>
                          <a:latin typeface="Calibri"/>
                        </a:rPr>
                        <a:t>Road only</a:t>
                      </a:r>
                    </a:p>
                  </a:txBody>
                  <a:tcPr marL="64008" marR="64008" marT="18288" marB="18288" anchor="ctr">
                    <a:solidFill>
                      <a:srgbClr val="FFFFFF"/>
                    </a:solidFill>
                  </a:tcPr>
                </a:tc>
                <a:tc>
                  <a:txBody>
                    <a:bodyPr wrap="square"/>
                    <a:lstStyle/>
                    <a:p>
                      <a:pPr algn="l">
                        <a:lnSpc>
                          <a:spcPct val="100000"/>
                        </a:lnSpc>
                      </a:pPr>
                      <a:r>
                        <a:rPr sz="1050" b="0">
                          <a:solidFill>
                            <a:srgbClr val="1A1A1A"/>
                          </a:solidFill>
                          <a:latin typeface="Calibri"/>
                        </a:rPr>
                        <a:t>road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7.6 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₹1,661</a:t>
                      </a:r>
                    </a:p>
                  </a:txBody>
                  <a:tcPr marL="64008" marR="64008" marT="18288" marB="18288" anchor="ctr">
                    <a:solidFill>
                      <a:srgbClr val="FFFFFF"/>
                    </a:solidFill>
                  </a:tcPr>
                </a:tc>
              </a:tr>
              <a:tr h="301752">
                <a:tc>
                  <a:txBody>
                    <a:bodyPr wrap="square"/>
                    <a:lstStyle/>
                    <a:p>
                      <a:pPr algn="l">
                        <a:lnSpc>
                          <a:spcPct val="100000"/>
                        </a:lnSpc>
                      </a:pPr>
                      <a:r>
                        <a:rPr sz="1050" b="0">
                          <a:solidFill>
                            <a:srgbClr val="1A1A1A"/>
                          </a:solidFill>
                          <a:latin typeface="Calibri"/>
                        </a:rPr>
                        <a:t>Surface only</a:t>
                      </a:r>
                    </a:p>
                  </a:txBody>
                  <a:tcPr marL="64008" marR="64008" marT="18288" marB="18288" anchor="ctr">
                    <a:solidFill>
                      <a:srgbClr val="FFFFFF"/>
                    </a:solidFill>
                  </a:tcPr>
                </a:tc>
                <a:tc>
                  <a:txBody>
                    <a:bodyPr wrap="square"/>
                    <a:lstStyle/>
                    <a:p>
                      <a:pPr algn="l">
                        <a:lnSpc>
                          <a:spcPct val="100000"/>
                        </a:lnSpc>
                      </a:pPr>
                      <a:r>
                        <a:rPr sz="1050" b="0">
                          <a:solidFill>
                            <a:srgbClr val="1A1A1A"/>
                          </a:solidFill>
                          <a:latin typeface="Calibri"/>
                        </a:rPr>
                        <a:t>road → rail</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₹928</a:t>
                      </a:r>
                    </a:p>
                  </a:txBody>
                  <a:tcPr marL="64008" marR="64008" marT="18288" marB="18288" anchor="ctr">
                    <a:solidFill>
                      <a:srgbClr val="FFFFFF"/>
                    </a:solidFill>
                  </a:tcPr>
                </a:tc>
              </a:tr>
              <a:tr h="301752">
                <a:tc>
                  <a:txBody>
                    <a:bodyPr wrap="square"/>
                    <a:lstStyle/>
                    <a:p>
                      <a:pPr algn="l">
                        <a:lnSpc>
                          <a:spcPct val="100000"/>
                        </a:lnSpc>
                      </a:pPr>
                      <a:r>
                        <a:rPr sz="1050" b="0">
                          <a:solidFill>
                            <a:srgbClr val="1A1A1A"/>
                          </a:solidFill>
                          <a:latin typeface="Calibri"/>
                        </a:rPr>
                        <a:t>Rail and waterway</a:t>
                      </a:r>
                    </a:p>
                  </a:txBody>
                  <a:tcPr marL="64008" marR="64008" marT="18288" marB="18288" anchor="ctr">
                    <a:solidFill>
                      <a:srgbClr val="FFFFFF"/>
                    </a:solidFill>
                  </a:tcPr>
                </a:tc>
                <a:tc>
                  <a:txBody>
                    <a:bodyPr wrap="square"/>
                    <a:lstStyle/>
                    <a:p>
                      <a:pPr algn="l">
                        <a:lnSpc>
                          <a:spcPct val="100000"/>
                        </a:lnSpc>
                      </a:pPr>
                      <a:r>
                        <a:rPr sz="1050" b="0">
                          <a:solidFill>
                            <a:srgbClr val="1A1A1A"/>
                          </a:solidFill>
                          <a:latin typeface="Calibri"/>
                        </a:rPr>
                        <a:t>road → rail</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2.0 d</a:t>
                      </a:r>
                    </a:p>
                  </a:txBody>
                  <a:tcPr marL="64008" marR="64008" marT="18288" marB="18288" anchor="ctr">
                    <a:solidFill>
                      <a:srgbClr val="FFFFFF"/>
                    </a:solidFill>
                  </a:tcPr>
                </a:tc>
                <a:tc>
                  <a:txBody>
                    <a:bodyPr wrap="square"/>
                    <a:lstStyle/>
                    <a:p>
                      <a:pPr algn="r">
                        <a:lnSpc>
                          <a:spcPct val="100000"/>
                        </a:lnSpc>
                      </a:pPr>
                      <a:r>
                        <a:rPr sz="1050" b="0">
                          <a:solidFill>
                            <a:srgbClr val="1A1A1A"/>
                          </a:solidFill>
                          <a:latin typeface="Calibri"/>
                        </a:rPr>
                        <a:t>₹928</a:t>
                      </a:r>
                    </a:p>
                  </a:txBody>
                  <a:tcPr marL="64008" marR="64008" marT="18288" marB="18288" anchor="ctr">
                    <a:solidFill>
                      <a:srgbClr val="FFFFFF"/>
                    </a:solidFill>
                  </a:tcPr>
                </a:tc>
              </a:tr>
            </a:tbl>
          </a:graphicData>
        </a:graphic>
      </p:graphicFrame>
      <p:sp>
        <p:nvSpPr>
          <p:cNvPr id="17419" name="TextBox 17418"/>
          <p:cNvSpPr txBox="1"/>
          <p:nvPr/>
        </p:nvSpPr>
        <p:spPr>
          <a:xfrm>
            <a:off x="3310128" y="4261104"/>
            <a:ext cx="4041648"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Why several options look identical</a:t>
            </a:r>
          </a:p>
        </p:txBody>
      </p:sp>
      <p:sp>
        <p:nvSpPr>
          <p:cNvPr id="17420" name="TextBox 17419"/>
          <p:cNvSpPr txBox="1"/>
          <p:nvPr/>
        </p:nvSpPr>
        <p:spPr>
          <a:xfrm>
            <a:off x="3310128" y="4517136"/>
            <a:ext cx="4041648" cy="777240"/>
          </a:xfrm>
          <a:prstGeom prst="rect">
            <a:avLst/>
          </a:prstGeom>
          <a:noFill/>
        </p:spPr>
        <p:txBody>
          <a:bodyPr wrap="square" lIns="0" rIns="0" tIns="0" bIns="0" anchor="t">
            <a:spAutoFit/>
          </a:bodyPr>
          <a:lstStyle/>
          <a:p>
            <a:pPr algn="l">
              <a:lnSpc>
                <a:spcPct val="115000"/>
              </a:lnSpc>
              <a:spcAft>
                <a:spcPts val="0"/>
              </a:spcAft>
            </a:pPr>
            <a:r>
              <a:rPr sz="1000" b="0" i="0">
                <a:solidFill>
                  <a:srgbClr val="5F5F5F"/>
                </a:solidFill>
                <a:latin typeface="Calibri"/>
              </a:rPr>
              <a:t>Because on this lane they are. Only 4 of the 7 are genuinely different journeys, and the app says so rather than padding the table out to look busy.</a:t>
            </a:r>
          </a:p>
        </p:txBody>
      </p:sp>
      <p:sp>
        <p:nvSpPr>
          <p:cNvPr id="17421" name="TextBox 17420"/>
          <p:cNvSpPr txBox="1"/>
          <p:nvPr/>
        </p:nvSpPr>
        <p:spPr>
          <a:xfrm>
            <a:off x="7644383" y="4261104"/>
            <a:ext cx="4041648"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Reading the fastest row</a:t>
            </a:r>
          </a:p>
        </p:txBody>
      </p:sp>
      <p:sp>
        <p:nvSpPr>
          <p:cNvPr id="17422" name="TextBox 17421"/>
          <p:cNvSpPr txBox="1"/>
          <p:nvPr/>
        </p:nvSpPr>
        <p:spPr>
          <a:xfrm>
            <a:off x="7644383" y="4517136"/>
            <a:ext cx="4041648" cy="868680"/>
          </a:xfrm>
          <a:prstGeom prst="rect">
            <a:avLst/>
          </a:prstGeom>
          <a:noFill/>
        </p:spPr>
        <p:txBody>
          <a:bodyPr wrap="square" lIns="0" rIns="0" tIns="0" bIns="0" anchor="t">
            <a:spAutoFit/>
          </a:bodyPr>
          <a:lstStyle/>
          <a:p>
            <a:pPr algn="l">
              <a:lnSpc>
                <a:spcPct val="115000"/>
              </a:lnSpc>
              <a:spcAft>
                <a:spcPts val="0"/>
              </a:spcAft>
            </a:pPr>
            <a:r>
              <a:rPr sz="1000" b="0" i="0">
                <a:solidFill>
                  <a:srgbClr val="5F5F5F"/>
                </a:solidFill>
                <a:latin typeface="Calibri"/>
              </a:rPr>
              <a:t>Air saves 14.1 hours and costs ₹5,026 a tonne more. Worth it only if the cargo loses more than that while it waits — which is exactly the judgement a rate card cannot make for 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09728"/>
            <a:ext cx="7818120" cy="914400"/>
          </a:xfrm>
        </p:spPr>
        <p:txBody>
          <a:bodyPr wrap="square"/>
          <a:lstStyle/>
          <a:p>
            <a:pPr eaLnBrk="1" hangingPunct="1"/>
            <a:r>
              <a:rPr sz="2600" b="1">
                <a:solidFill>
                  <a:srgbClr val="1A1A1A"/>
                </a:solidFill>
                <a:latin typeface="Calibri"/>
              </a:rPr>
              <a:t>What is finished, and what comes next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7410" name="Picture 17409" descr="image.png"/>
          <p:cNvPicPr>
            <a:picLocks noChangeAspect="1"/>
          </p:cNvPicPr>
          <p:nvPr/>
        </p:nvPicPr>
        <p:blipFill>
          <a:blip r:embed="rId2"/>
          <a:stretch>
            <a:fillRect/>
          </a:stretch>
        </p:blipFill>
        <p:spPr>
          <a:xfrm>
            <a:off x="9780086" y="1500"/>
            <a:ext cx="2249850" cy="1062337"/>
          </a:xfrm>
          <a:prstGeom prst="rect">
            <a:avLst/>
          </a:prstGeom>
        </p:spPr>
      </p:pic>
      <p:sp>
        <p:nvSpPr>
          <p:cNvPr id="17411" name="TextBox 17410"/>
          <p:cNvSpPr txBox="1"/>
          <p:nvPr/>
        </p:nvSpPr>
        <p:spPr>
          <a:xfrm>
            <a:off x="502920" y="1078992"/>
            <a:ext cx="11155680" cy="256032"/>
          </a:xfrm>
          <a:prstGeom prst="rect">
            <a:avLst/>
          </a:prstGeom>
          <a:noFill/>
        </p:spPr>
        <p:txBody>
          <a:bodyPr wrap="square" lIns="0" rIns="0" tIns="0" bIns="0" anchor="t">
            <a:spAutoFit/>
          </a:bodyPr>
          <a:lstStyle/>
          <a:p>
            <a:pPr algn="l">
              <a:lnSpc>
                <a:spcPct val="115000"/>
              </a:lnSpc>
              <a:spcAft>
                <a:spcPts val="0"/>
              </a:spcAft>
            </a:pPr>
            <a:r>
              <a:rPr sz="1150" b="0" i="0">
                <a:solidFill>
                  <a:srgbClr val="1F4E79"/>
                </a:solidFill>
                <a:latin typeface="Calibri"/>
              </a:rPr>
              <a:t>Stated plainly, because the gaps are as informative as the features</a:t>
            </a:r>
          </a:p>
        </p:txBody>
      </p:sp>
      <p:sp>
        <p:nvSpPr>
          <p:cNvPr id="17412" name="TextBox 17411"/>
          <p:cNvSpPr txBox="1"/>
          <p:nvPr/>
        </p:nvSpPr>
        <p:spPr>
          <a:xfrm>
            <a:off x="502920" y="1463040"/>
            <a:ext cx="5532120"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Working now</a:t>
            </a:r>
          </a:p>
        </p:txBody>
      </p:sp>
      <p:graphicFrame>
        <p:nvGraphicFramePr>
          <p:cNvPr id="17413" name="Table 17412"/>
          <p:cNvGraphicFramePr>
            <a:graphicFrameLocks noGrp="1"/>
          </p:cNvGraphicFramePr>
          <p:nvPr/>
        </p:nvGraphicFramePr>
        <p:xfrm>
          <a:off x="502920" y="1755648"/>
          <a:ext cx="5532119" cy="2459736"/>
        </p:xfrm>
        <a:graphic>
          <a:graphicData uri="http://schemas.openxmlformats.org/drawingml/2006/table">
            <a:tbl>
              <a:tblPr firstRow="1">
                <a:tableStyleId>{5C22544A-7EE6-4342-B048-85BDC9FD1C3A}</a:tableStyleId>
              </a:tblPr>
              <a:tblGrid>
                <a:gridCol w="3977639"/>
                <a:gridCol w="1554480"/>
              </a:tblGrid>
              <a:tr h="265176">
                <a:tc>
                  <a:txBody>
                    <a:bodyPr wrap="square"/>
                    <a:lstStyle/>
                    <a:p>
                      <a:pPr algn="l">
                        <a:lnSpc>
                          <a:spcPct val="100000"/>
                        </a:lnSpc>
                      </a:pPr>
                      <a:r>
                        <a:rPr sz="950" b="1">
                          <a:solidFill>
                            <a:srgbClr val="1A1A1A"/>
                          </a:solidFill>
                          <a:latin typeface="Calibri"/>
                        </a:rPr>
                        <a:t>Capability</a:t>
                      </a:r>
                    </a:p>
                  </a:txBody>
                  <a:tcPr marL="64008" marR="64008" marT="18288" marB="18288" anchor="ctr">
                    <a:solidFill>
                      <a:srgbClr val="E4E8EB"/>
                    </a:solidFill>
                  </a:tcPr>
                </a:tc>
                <a:tc>
                  <a:txBody>
                    <a:bodyPr wrap="square"/>
                    <a:lstStyle/>
                    <a:p>
                      <a:pPr algn="l">
                        <a:lnSpc>
                          <a:spcPct val="100000"/>
                        </a:lnSpc>
                      </a:pPr>
                      <a:r>
                        <a:rPr sz="950" b="1">
                          <a:solidFill>
                            <a:srgbClr val="1A1A1A"/>
                          </a:solidFill>
                          <a:latin typeface="Calibri"/>
                        </a:rPr>
                        <a:t>State</a:t>
                      </a:r>
                    </a:p>
                  </a:txBody>
                  <a:tcPr marL="64008" marR="64008" marT="18288" marB="18288" anchor="ctr">
                    <a:solidFill>
                      <a:srgbClr val="E4E8EB"/>
                    </a:solidFill>
                  </a:tcPr>
                </a:tc>
              </a:tr>
              <a:tr h="274320">
                <a:tc>
                  <a:txBody>
                    <a:bodyPr wrap="square"/>
                    <a:lstStyle/>
                    <a:p>
                      <a:pPr algn="l">
                        <a:lnSpc>
                          <a:spcPct val="100000"/>
                        </a:lnSpc>
                      </a:pPr>
                      <a:r>
                        <a:rPr sz="1000" b="0">
                          <a:solidFill>
                            <a:srgbClr val="1A1A1A"/>
                          </a:solidFill>
                          <a:latin typeface="Calibri"/>
                        </a:rPr>
                        <a:t>Multimodal route planning</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Alternative routes</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Dry season vs monsoon comparison</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Option comparison, seven scenarios</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Risk map, landslide and flood</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Accessibility scoring, 5,505 places</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Facility siting</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r h="274320">
                <a:tc>
                  <a:txBody>
                    <a:bodyPr wrap="square"/>
                    <a:lstStyle/>
                    <a:p>
                      <a:pPr algn="l">
                        <a:lnSpc>
                          <a:spcPct val="100000"/>
                        </a:lnSpc>
                      </a:pPr>
                      <a:r>
                        <a:rPr sz="1000" b="0">
                          <a:solidFill>
                            <a:srgbClr val="1A1A1A"/>
                          </a:solidFill>
                          <a:latin typeface="Calibri"/>
                        </a:rPr>
                        <a:t>Closure simulation (shut a road, re-plan)</a:t>
                      </a:r>
                    </a:p>
                  </a:txBody>
                  <a:tcPr marL="64008" marR="64008" marT="18288" marB="18288" anchor="ctr">
                    <a:solidFill>
                      <a:srgbClr val="FFFFFF"/>
                    </a:solidFill>
                  </a:tcPr>
                </a:tc>
                <a:tc>
                  <a:txBody>
                    <a:bodyPr wrap="square"/>
                    <a:lstStyle/>
                    <a:p>
                      <a:pPr algn="l">
                        <a:lnSpc>
                          <a:spcPct val="100000"/>
                        </a:lnSpc>
                      </a:pPr>
                      <a:r>
                        <a:rPr sz="1000" b="0">
                          <a:solidFill>
                            <a:srgbClr val="1A1A1A"/>
                          </a:solidFill>
                          <a:latin typeface="Calibri"/>
                        </a:rPr>
                        <a:t>Working</a:t>
                      </a:r>
                    </a:p>
                  </a:txBody>
                  <a:tcPr marL="64008" marR="64008" marT="18288" marB="18288" anchor="ctr">
                    <a:solidFill>
                      <a:srgbClr val="FFFFFF"/>
                    </a:solidFill>
                  </a:tcPr>
                </a:tc>
              </a:tr>
            </a:tbl>
          </a:graphicData>
        </a:graphic>
      </p:graphicFrame>
      <p:sp>
        <p:nvSpPr>
          <p:cNvPr id="17414" name="TextBox 17413"/>
          <p:cNvSpPr txBox="1"/>
          <p:nvPr/>
        </p:nvSpPr>
        <p:spPr>
          <a:xfrm>
            <a:off x="6355080" y="1463040"/>
            <a:ext cx="5330952" cy="256032"/>
          </a:xfrm>
          <a:prstGeom prst="rect">
            <a:avLst/>
          </a:prstGeom>
          <a:noFill/>
        </p:spPr>
        <p:txBody>
          <a:bodyPr wrap="square" lIns="0" rIns="0" tIns="0" bIns="0" anchor="t">
            <a:spAutoFit/>
          </a:bodyPr>
          <a:lstStyle/>
          <a:p>
            <a:pPr algn="l">
              <a:lnSpc>
                <a:spcPct val="115000"/>
              </a:lnSpc>
              <a:spcAft>
                <a:spcPts val="0"/>
              </a:spcAft>
            </a:pPr>
            <a:r>
              <a:rPr sz="1250" b="1" i="0">
                <a:solidFill>
                  <a:srgbClr val="1A1A1A"/>
                </a:solidFill>
                <a:latin typeface="Calibri"/>
              </a:rPr>
              <a:t>Next, in the order we would do it</a:t>
            </a:r>
          </a:p>
        </p:txBody>
      </p:sp>
      <p:sp>
        <p:nvSpPr>
          <p:cNvPr id="17415" name="TextBox 17414"/>
          <p:cNvSpPr txBox="1"/>
          <p:nvPr/>
        </p:nvSpPr>
        <p:spPr>
          <a:xfrm>
            <a:off x="6355080" y="1783080"/>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Load the Agmarknet market list</a:t>
            </a:r>
          </a:p>
        </p:txBody>
      </p:sp>
      <p:sp>
        <p:nvSpPr>
          <p:cNvPr id="17416" name="TextBox 17415"/>
          <p:cNvSpPr txBox="1"/>
          <p:nvPr/>
        </p:nvSpPr>
        <p:spPr>
          <a:xfrm>
            <a:off x="6355080" y="2020824"/>
            <a:ext cx="5330952" cy="73152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35 mapped markets for 5,594 villages is why most places score zero. This is the one change that most improves the accessibility answer.</a:t>
            </a:r>
          </a:p>
        </p:txBody>
      </p:sp>
      <p:sp>
        <p:nvSpPr>
          <p:cNvPr id="17417" name="TextBox 17416"/>
          <p:cNvSpPr txBox="1"/>
          <p:nvPr/>
        </p:nvSpPr>
        <p:spPr>
          <a:xfrm>
            <a:off x="6355080" y="2715768"/>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Join the Census 2011 village directory</a:t>
            </a:r>
          </a:p>
        </p:txBody>
      </p:sp>
      <p:sp>
        <p:nvSpPr>
          <p:cNvPr id="17418" name="TextBox 17417"/>
          <p:cNvSpPr txBox="1"/>
          <p:nvPr/>
        </p:nvSpPr>
        <p:spPr>
          <a:xfrm>
            <a:off x="6355080" y="2953511"/>
            <a:ext cx="5330952" cy="73152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Replaces the 15% of population figures OpenStreetMap happens to carry.</a:t>
            </a:r>
          </a:p>
        </p:txBody>
      </p:sp>
      <p:sp>
        <p:nvSpPr>
          <p:cNvPr id="17419" name="TextBox 17418"/>
          <p:cNvSpPr txBox="1"/>
          <p:nvPr/>
        </p:nvSpPr>
        <p:spPr>
          <a:xfrm>
            <a:off x="6355080" y="3648456"/>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Add observed flood extent (Sentinel-1)</a:t>
            </a:r>
          </a:p>
        </p:txBody>
      </p:sp>
      <p:sp>
        <p:nvSpPr>
          <p:cNvPr id="17420" name="TextBox 17419"/>
          <p:cNvSpPr txBox="1"/>
          <p:nvPr/>
        </p:nvSpPr>
        <p:spPr>
          <a:xfrm>
            <a:off x="6355080" y="3886200"/>
            <a:ext cx="5330952" cy="73152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Replaces the single constant that stands in for how much floodplain road is actually cut in a normal monsoon.</a:t>
            </a:r>
          </a:p>
        </p:txBody>
      </p:sp>
      <p:sp>
        <p:nvSpPr>
          <p:cNvPr id="17421" name="TextBox 17420"/>
          <p:cNvSpPr txBox="1"/>
          <p:nvPr/>
        </p:nvSpPr>
        <p:spPr>
          <a:xfrm>
            <a:off x="6355080" y="4581144"/>
            <a:ext cx="5330952" cy="237744"/>
          </a:xfrm>
          <a:prstGeom prst="rect">
            <a:avLst/>
          </a:prstGeom>
          <a:noFill/>
        </p:spPr>
        <p:txBody>
          <a:bodyPr wrap="square" lIns="0" rIns="0" tIns="0" bIns="0" anchor="t">
            <a:spAutoFit/>
          </a:bodyPr>
          <a:lstStyle/>
          <a:p>
            <a:pPr algn="l">
              <a:lnSpc>
                <a:spcPct val="115000"/>
              </a:lnSpc>
              <a:spcAft>
                <a:spcPts val="0"/>
              </a:spcAft>
            </a:pPr>
            <a:r>
              <a:rPr sz="1100" b="1" i="0">
                <a:solidFill>
                  <a:srgbClr val="1A1A1A"/>
                </a:solidFill>
                <a:latin typeface="Calibri"/>
              </a:rPr>
              <a:t>Collect closure reports in the app</a:t>
            </a:r>
          </a:p>
        </p:txBody>
      </p:sp>
      <p:sp>
        <p:nvSpPr>
          <p:cNvPr id="17422" name="TextBox 17421"/>
          <p:cNvSpPr txBox="1"/>
          <p:nvPr/>
        </p:nvSpPr>
        <p:spPr>
          <a:xfrm>
            <a:off x="6355080" y="4818888"/>
            <a:ext cx="5330952" cy="731520"/>
          </a:xfrm>
          <a:prstGeom prst="rect">
            <a:avLst/>
          </a:prstGeom>
          <a:noFill/>
        </p:spPr>
        <p:txBody>
          <a:bodyPr wrap="square" lIns="0" rIns="0" tIns="0" bIns="0" anchor="t">
            <a:spAutoFit/>
          </a:bodyPr>
          <a:lstStyle/>
          <a:p>
            <a:pPr algn="l">
              <a:lnSpc>
                <a:spcPct val="112000"/>
              </a:lnSpc>
              <a:spcAft>
                <a:spcPts val="0"/>
              </a:spcAft>
            </a:pPr>
            <a:r>
              <a:rPr sz="1000" b="0" i="0">
                <a:solidFill>
                  <a:srgbClr val="5F5F5F"/>
                </a:solidFill>
                <a:latin typeface="Calibri"/>
              </a:rPr>
              <a:t>The only way to turn a prediction into something that learns.</a:t>
            </a:r>
          </a:p>
        </p:txBody>
      </p:sp>
      <p:sp>
        <p:nvSpPr>
          <p:cNvPr id="17423" name="Rectangle 17422"/>
          <p:cNvSpPr/>
          <p:nvPr/>
        </p:nvSpPr>
        <p:spPr>
          <a:xfrm>
            <a:off x="502920" y="4892040"/>
            <a:ext cx="5532120" cy="1207008"/>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4" name="TextBox 17423"/>
          <p:cNvSpPr txBox="1"/>
          <p:nvPr/>
        </p:nvSpPr>
        <p:spPr>
          <a:xfrm>
            <a:off x="731520" y="5047488"/>
            <a:ext cx="5074920" cy="914400"/>
          </a:xfrm>
          <a:prstGeom prst="rect">
            <a:avLst/>
          </a:prstGeom>
          <a:noFill/>
        </p:spPr>
        <p:txBody>
          <a:bodyPr wrap="square" lIns="0" rIns="0" tIns="0" bIns="0" anchor="t">
            <a:spAutoFit/>
          </a:bodyPr>
          <a:lstStyle/>
          <a:p>
            <a:pPr algn="l">
              <a:lnSpc>
                <a:spcPct val="115000"/>
              </a:lnSpc>
              <a:spcAft>
                <a:spcPts val="400"/>
              </a:spcAft>
            </a:pPr>
            <a:r>
              <a:rPr sz="1100" b="1" i="0">
                <a:solidFill>
                  <a:srgbClr val="1A1A1A"/>
                </a:solidFill>
                <a:latin typeface="Calibri"/>
              </a:rPr>
              <a:t>Not modelled, and worth saying out loud</a:t>
            </a:r>
          </a:p>
          <a:p>
            <a:pPr algn="l">
              <a:lnSpc>
                <a:spcPct val="115000"/>
              </a:lnSpc>
              <a:spcAft>
                <a:spcPts val="0"/>
              </a:spcAft>
            </a:pPr>
            <a:r>
              <a:rPr sz="1000" b="0" i="0">
                <a:solidFill>
                  <a:srgbClr val="5F5F5F"/>
                </a:solidFill>
                <a:latin typeface="Calibri"/>
              </a:rPr>
              <a:t>Earthquakes. The North East is in Seismic Zone V, India's highest, so a major quake is the single largest threat to these corridors — and this platform says nothing about it. Nor about bandhs, blockades or bridge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