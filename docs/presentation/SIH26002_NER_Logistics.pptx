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The one sentence to land: existing tools optimise distance; the North East</a:t>
            </a:r>
          </a:p>
          <a:p>
            <a:r>
              <a:t>punishes that.</a:t>
            </a:r>
          </a:p>
          <a:p/>
          <a:p>
            <a:r>
              <a:t>Card 1 - modes are separate graph layers. Moving cargo from a truck to a train</a:t>
            </a:r>
          </a:p>
          <a:p>
            <a:r>
              <a:t>costs handling money and terminal time, so we charge it. Flat graphs give that</a:t>
            </a:r>
          </a:p>
          <a:p>
            <a:r>
              <a:t>away free, which is exactly why paper multimodal plans fall apart in a yard.</a:t>
            </a:r>
          </a:p>
          <a:p/>
          <a:p>
            <a:r>
              <a:t>Card 2 - every segment carries a monsoon disruption probability from terrain,</a:t>
            </a:r>
          </a:p>
          <a:p>
            <a:r>
              <a:t>elevation and that place's own NASA rainfall. Two hazards, landslide and flood,</a:t>
            </a:r>
          </a:p>
          <a:p>
            <a:r>
              <a:t>combined as independent risks.</a:t>
            </a:r>
          </a:p>
          <a:p/>
          <a:p>
            <a:r>
              <a:t>Card 3 - the accessibility half. 5,594 settlements scored on travel HOURS to</a:t>
            </a:r>
          </a:p>
          <a:p>
            <a:r>
              <a:t>market and cold chain over the real network, never straight-line distance.</a:t>
            </a:r>
          </a:p>
          <a:p/>
          <a:p>
            <a:r>
              <a:t>The number at the bottom is the whole pitch: the same Aizawl-Guwahati plan is</a:t>
            </a:r>
          </a:p>
          <a:p>
            <a:r>
              <a:t>64.5 hours in January and 135.3 in July. That is the decision the platform makes</a:t>
            </a:r>
          </a:p>
          <a:p>
            <a:r>
              <a:t>visible before the truck leaves.</a:t>
            </a:r>
          </a:p>
          <a:p/>
          <a:p>
            <a:r>
              <a:t>If asked what is unique: we optimise generalised cost - rupees plus time plus</a:t>
            </a:r>
          </a:p>
          <a:p>
            <a:r>
              <a:t>expected disruption - and we separate the chance a road is shut sometime in July</a:t>
            </a:r>
          </a:p>
          <a:p>
            <a:r>
              <a:t>from the chance THIS trip meets it. Conflating those makes every hill route look</a:t>
            </a:r>
          </a:p>
          <a:p>
            <a:r>
              <a:t>unusable instead of merely expensive.</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Keep this slide brisk - five steps, one line each.</a:t>
            </a:r>
          </a:p>
          <a:p/>
          <a:p>
            <a:r>
              <a:t>The step worth dwelling on is 2. OpenStreetMap is a drawing, not a graph: one</a:t>
            </a:r>
          </a:p>
          <a:p>
            <a:r>
              <a:t>highway is hundreds of way objects. We keep junctions and endpoints, contract</a:t>
            </a:r>
          </a:p>
          <a:p>
            <a:r>
              <a:t>everything between them, and carry the real traced length. That is how 14,531</a:t>
            </a:r>
          </a:p>
          <a:p>
            <a:r>
              <a:t>ways become 7,181 usable segments.</a:t>
            </a:r>
          </a:p>
          <a:p/>
          <a:p>
            <a:r>
              <a:t>Step 3: the analytic model is the default and the machine-learned one is</a:t>
            </a:r>
          </a:p>
          <a:p>
            <a:r>
              <a:t>optional. That is deliberate - a district officer can act on 'narrow carriageway,</a:t>
            </a:r>
          </a:p>
          <a:p>
            <a:r>
              <a:t>high rainfall, steep terrain'. They cannot act on 'the gradient booster said</a:t>
            </a:r>
          </a:p>
          <a:p>
            <a:r>
              <a:t>0.62'.</a:t>
            </a:r>
          </a:p>
          <a:p/>
          <a:p>
            <a:r>
              <a:t>Step 5 answers the demo question before it is asked: no CDN, no build step,</a:t>
            </a:r>
          </a:p>
          <a:p>
            <a:r>
              <a:t>MapLibre is vendored. It runs on a blocked venue network.</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This is the slide that separates us from an idea.</a:t>
            </a:r>
          </a:p>
          <a:p/>
          <a:p>
            <a:r>
              <a:t>Left: it is built. 25,360 km of network, 5,594 settlements, 290 automated tests.</a:t>
            </a:r>
          </a:p>
          <a:p>
            <a:r>
              <a:t>Zero rupees of data cost, because OpenStreetMap, NASA POWER and Copernicus are</a:t>
            </a:r>
          </a:p>
          <a:p>
            <a:r>
              <a:t>open. The built data ships inside the repository, so a fresh clone runs with no</a:t>
            </a:r>
          </a:p>
          <a:p>
            <a:r>
              <a:t>API key and no download.</a:t>
            </a:r>
          </a:p>
          <a:p/>
          <a:p>
            <a:r>
              <a:t>Right: be straight about the limits - judges reward it.</a:t>
            </a:r>
          </a:p>
          <a:p/>
          <a:p>
            <a:r>
              <a:t>The honest one is the first. India has no machine-readable road-closure feed.</a:t>
            </a:r>
          </a:p>
          <a:p>
            <a:r>
              <a:t>So we predict from rainfall and terrain, and the platform is designed to close</a:t>
            </a:r>
          </a:p>
          <a:p>
            <a:r>
              <a:t>that loop with driver reports collected in-app.</a:t>
            </a:r>
          </a:p>
          <a:p/>
          <a:p>
            <a:r>
              <a:t>Second: OSM has population on only 15% of settlements. Ranking sites by</a:t>
            </a:r>
          </a:p>
          <a:p>
            <a:r>
              <a:t>population would rank where volunteers typed a number. On the real network that</a:t>
            </a:r>
          </a:p>
          <a:p>
            <a:r>
              <a:t>actually reversed our cold-store recommendation, so we rank by settlements</a:t>
            </a:r>
          </a:p>
          <a:p>
            <a:r>
              <a:t>reached instead. Census 2011 is the clean fix.</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Three numbers, then who they are for.</a:t>
            </a:r>
          </a:p>
          <a:p/>
          <a:p>
            <a:r>
              <a:t>Rs 5,032 per tonne separates the best and worst way to move the same consignment</a:t>
            </a:r>
          </a:p>
          <a:p>
            <a:r>
              <a:t>Kohima to Guwahati in July. Rail-mixed is 48.3 hours at Rs 928; air is 34.2 hours</a:t>
            </a:r>
          </a:p>
          <a:p>
            <a:r>
              <a:t>at Rs 5,954. Nobody should be picking between those blind.</a:t>
            </a:r>
          </a:p>
          <a:p/>
          <a:p>
            <a:r>
              <a:t>70.8 hours is what the monsoon adds to the Aizawl-Guwahati plan.</a:t>
            </a:r>
          </a:p>
          <a:p/>
          <a:p>
            <a:r>
              <a:t>1,309 of 4,033 major roads are at severe risk in July - and on 1,055 the</a:t>
            </a:r>
          </a:p>
          <a:p>
            <a:r>
              <a:t>dominant hazard is flood, not landslide. That distinction changes what you build:</a:t>
            </a:r>
          </a:p>
          <a:p>
            <a:r>
              <a:t>you do not fix a flood problem with slope stabilisation.</a:t>
            </a:r>
          </a:p>
          <a:p/>
          <a:p>
            <a:r>
              <a:t>The Billbari example is the human one - 3.9 hours to a market in the dry season,</a:t>
            </a:r>
          </a:p>
          <a:p>
            <a:r>
              <a:t>32.0 in the monsoon. That is a farmer's planting decision.</a:t>
            </a:r>
          </a:p>
          <a:p/>
          <a:p>
            <a:r>
              <a:t>The MDoNER line is the investment case: the platform put a cold store where it</a:t>
            </a:r>
          </a:p>
          <a:p>
            <a:r>
              <a:t>reaches 155 settlements instead of 79.</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Every source is open, free and cited in the repository - no licensed data,</a:t>
            </a:r>
          </a:p>
          <a:p>
            <a:r>
              <a:t>no scraped data, nothing that stops this being deployed.</a:t>
            </a:r>
          </a:p>
          <a:p/>
          <a:p>
            <a:r>
              <a:t>COOLR is listed because the landslide-history feature is wired and waiting on</a:t>
            </a:r>
          </a:p>
          <a:p>
            <a:r>
              <a:t>that download; say so if asked rather than implying it is loaded.</a:t>
            </a:r>
          </a:p>
          <a:p/>
          <a:p>
            <a:r>
              <a:t>Close on the repository: the code, the tests and the method notes are public. If</a:t>
            </a:r>
          </a:p>
          <a:p>
            <a:r>
              <a:t>the judges want to run it, they can - clone, pip install, one command.</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geography, not the software.</a:t>
            </a:r>
          </a:p>
          <a:p/>
          <a:p>
            <a:r>
              <a:t>The eight North Eastern states reach the rest of India through the 22 km</a:t>
            </a:r>
          </a:p>
          <a:p>
            <a:r>
              <a:t>Siliguri Corridor. National highways are single-lane and thread landslide-prone</a:t>
            </a:r>
          </a:p>
          <a:p>
            <a:r>
              <a:t>gorges. Rail gauge conversion is incomplete. The Brahmaputra is a navigable</a:t>
            </a:r>
          </a:p>
          <a:p>
            <a:r>
              <a:t>national waterway that is barely used. For four months a year the monsoon closes</a:t>
            </a:r>
          </a:p>
          <a:p>
            <a:r>
              <a:t>the corridors the other eight months depend on.</a:t>
            </a:r>
          </a:p>
          <a:p/>
          <a:p>
            <a:r>
              <a:t>MDoNER asked for a platform that plans freight across all of that AND tells them</a:t>
            </a:r>
          </a:p>
          <a:p>
            <a:r>
              <a:t>which places are cut off. We built both halves. Everything you are about to see</a:t>
            </a:r>
          </a:p>
          <a:p>
            <a:r>
              <a:t>is running software, not a mock-up.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r>
              <a:rPr sz="2000" b="1">
                <a:solidFill>
                  <a:srgbClr val="10323C"/>
                </a:solidFill>
                <a:latin typeface="Calibri"/>
              </a:rPr>
              <a:t>IDEA SUBMISSION</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pPr>
              <a:spcAft>
                <a:spcPts val="900"/>
              </a:spcAft>
            </a:pPr>
            <a:r>
              <a:rPr sz="1300" b="1">
                <a:solidFill>
                  <a:srgbClr val="0070C0"/>
                </a:solidFill>
                <a:latin typeface="Calibri"/>
              </a:rPr>
              <a:t>Problem Statement ID — </a:t>
            </a:r>
            <a:r>
              <a:rPr sz="1300" b="0">
                <a:solidFill>
                  <a:srgbClr val="10323C"/>
                </a:solidFill>
                <a:latin typeface="Calibri"/>
              </a:rPr>
              <a:t>SIH26002</a:t>
            </a:r>
            <a:endParaRPr lang="en-US" dirty="0"/>
          </a:p>
          <a:p>
            <a:pPr>
              <a:spcAft>
                <a:spcPts val="900"/>
              </a:spcAft>
            </a:pPr>
            <a:r>
              <a:rPr sz="1300" b="1">
                <a:solidFill>
                  <a:srgbClr val="0070C0"/>
                </a:solidFill>
                <a:latin typeface="Calibri"/>
              </a:rPr>
              <a:t>Problem Statement — </a:t>
            </a:r>
            <a:r>
              <a:rPr sz="1300" b="0">
                <a:solidFill>
                  <a:srgbClr val="10323C"/>
                </a:solidFill>
                <a:latin typeface="Calibri"/>
              </a:rPr>
              <a:t>AI-Based Smart Logistics and Accessibility Intelligence Platform for the North Eastern Region</a:t>
            </a:r>
          </a:p>
          <a:p>
            <a:pPr>
              <a:spcAft>
                <a:spcPts val="900"/>
              </a:spcAft>
            </a:pPr>
            <a:r>
              <a:rPr sz="1300" b="1">
                <a:solidFill>
                  <a:srgbClr val="0070C0"/>
                </a:solidFill>
                <a:latin typeface="Calibri"/>
              </a:rPr>
              <a:t>Theme — </a:t>
            </a:r>
            <a:r>
              <a:rPr sz="1300" b="0">
                <a:solidFill>
                  <a:srgbClr val="10323C"/>
                </a:solidFill>
                <a:latin typeface="Calibri"/>
              </a:rPr>
              <a:t>Smart Automation  ·  MDoNER</a:t>
            </a:r>
          </a:p>
          <a:p>
            <a:pPr>
              <a:spcAft>
                <a:spcPts val="900"/>
              </a:spcAft>
            </a:pPr>
            <a:r>
              <a:rPr sz="1300" b="1">
                <a:solidFill>
                  <a:srgbClr val="0070C0"/>
                </a:solidFill>
                <a:latin typeface="Calibri"/>
              </a:rPr>
              <a:t>PS Category — </a:t>
            </a:r>
            <a:r>
              <a:rPr sz="1300" b="0">
                <a:solidFill>
                  <a:srgbClr val="10323C"/>
                </a:solidFill>
                <a:latin typeface="Calibri"/>
              </a:rPr>
              <a:t>Software</a:t>
            </a:r>
          </a:p>
          <a:p>
            <a:pPr>
              <a:spcAft>
                <a:spcPts val="900"/>
              </a:spcAft>
            </a:pPr>
            <a:r>
              <a:rPr sz="1300" b="1">
                <a:solidFill>
                  <a:srgbClr val="0070C0"/>
                </a:solidFill>
                <a:latin typeface="Calibri"/>
              </a:rPr>
              <a:t>Team ID — </a:t>
            </a:r>
            <a:r>
              <a:rPr sz="1300" b="0">
                <a:solidFill>
                  <a:srgbClr val="10323C"/>
                </a:solidFill>
                <a:latin typeface="Calibri"/>
              </a:rPr>
              <a:t>&lt;your team ID&gt;</a:t>
            </a:r>
          </a:p>
          <a:p>
            <a:pPr>
              <a:spcAft>
                <a:spcPts val="900"/>
              </a:spcAft>
            </a:pPr>
            <a:r>
              <a:rPr sz="1300" b="1">
                <a:solidFill>
                  <a:srgbClr val="0070C0"/>
                </a:solidFill>
                <a:latin typeface="Calibri"/>
              </a:rPr>
              <a:t>Team Name — </a:t>
            </a:r>
            <a:r>
              <a:rPr sz="1300" b="0">
                <a:solidFill>
                  <a:srgbClr val="10323C"/>
                </a:solidFill>
                <a:latin typeface="Calibri"/>
              </a:rPr>
              <a:t>&lt;your registered team name&gt;</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783080" y="91440"/>
            <a:ext cx="7818120" cy="960120"/>
          </a:xfrm>
        </p:spPr>
        <p:txBody>
          <a:bodyPr wrap="square"/>
          <a:lstStyle/>
          <a:p>
            <a:pPr eaLnBrk="1" hangingPunct="1"/>
            <a:br>
              <a:rPr lang="en-US" sz="3600" b="1" dirty="0">
                <a:latin typeface="Times New Roman" panose="02020603050405020304" pitchFamily="18" charset="0"/>
                <a:ea typeface="ＭＳ Ｐゴシック" pitchFamily="1" charset="-128"/>
                <a:cs typeface="Times New Roman" panose="02020603050405020304" pitchFamily="18" charset="0"/>
              </a:rPr>
            </a:br>
            <a:r>
              <a:rPr sz="2700" b="1">
                <a:solidFill>
                  <a:srgbClr val="10323C"/>
                </a:solidFill>
                <a:latin typeface="Calibri"/>
              </a:rPr>
              <a:t>Route the North East by risk, not by distance</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502920" y="1188720"/>
            <a:ext cx="10058400" cy="274320"/>
          </a:xfrm>
          <a:prstGeom prst="rect">
            <a:avLst/>
          </a:prstGeom>
          <a:noFill/>
        </p:spPr>
        <p:txBody>
          <a:bodyPr wrap="square" lIns="0" rIns="0" tIns="0" bIns="0" anchor="t">
            <a:spAutoFit/>
          </a:bodyPr>
          <a:lstStyle/>
          <a:p>
            <a:pPr algn="l">
              <a:spcAft>
                <a:spcPts val="0"/>
              </a:spcAft>
            </a:pPr>
            <a:r>
              <a:rPr sz="1200" b="1" i="0">
                <a:solidFill>
                  <a:srgbClr val="0070C0"/>
                </a:solidFill>
                <a:latin typeface="Calibri"/>
              </a:rPr>
              <a:t>PROPOSED SOLUTION</a:t>
            </a:r>
          </a:p>
        </p:txBody>
      </p:sp>
      <p:sp>
        <p:nvSpPr>
          <p:cNvPr id="15363" name="Rounded Rectangle 15362"/>
          <p:cNvSpPr/>
          <p:nvPr/>
        </p:nvSpPr>
        <p:spPr>
          <a:xfrm>
            <a:off x="502920" y="1627632"/>
            <a:ext cx="3538728" cy="2395728"/>
          </a:xfrm>
          <a:prstGeom prst="roundRect">
            <a:avLst>
              <a:gd name="adj" fmla="val 6000"/>
            </a:avLst>
          </a:prstGeom>
          <a:solidFill>
            <a:srgbClr val="EEF3F6"/>
          </a:solidFill>
          <a:ln w="9525">
            <a:solidFill>
              <a:srgbClr val="D2DD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64" name="Oval 15363"/>
          <p:cNvSpPr/>
          <p:nvPr/>
        </p:nvSpPr>
        <p:spPr>
          <a:xfrm>
            <a:off x="740664" y="1828800"/>
            <a:ext cx="365760" cy="36576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5365" name="TextBox 15364"/>
          <p:cNvSpPr txBox="1"/>
          <p:nvPr/>
        </p:nvSpPr>
        <p:spPr>
          <a:xfrm>
            <a:off x="740664" y="2304288"/>
            <a:ext cx="3063240" cy="310896"/>
          </a:xfrm>
          <a:prstGeom prst="rect">
            <a:avLst/>
          </a:prstGeom>
          <a:noFill/>
        </p:spPr>
        <p:txBody>
          <a:bodyPr wrap="square" lIns="0" rIns="0" tIns="0" bIns="0" anchor="t">
            <a:spAutoFit/>
          </a:bodyPr>
          <a:lstStyle/>
          <a:p>
            <a:pPr algn="l">
              <a:spcAft>
                <a:spcPts val="0"/>
              </a:spcAft>
            </a:pPr>
            <a:r>
              <a:rPr sz="1400" b="1" i="0">
                <a:solidFill>
                  <a:srgbClr val="10323C"/>
                </a:solidFill>
                <a:latin typeface="Calibri"/>
              </a:rPr>
              <a:t>One graph, four modes</a:t>
            </a:r>
          </a:p>
        </p:txBody>
      </p:sp>
      <p:sp>
        <p:nvSpPr>
          <p:cNvPr id="15366" name="TextBox 15365"/>
          <p:cNvSpPr txBox="1"/>
          <p:nvPr/>
        </p:nvSpPr>
        <p:spPr>
          <a:xfrm>
            <a:off x="740664" y="2670048"/>
            <a:ext cx="3063240" cy="1207008"/>
          </a:xfrm>
          <a:prstGeom prst="rect">
            <a:avLst/>
          </a:prstGeom>
          <a:noFill/>
        </p:spPr>
        <p:txBody>
          <a:bodyPr wrap="square" lIns="0" rIns="0" tIns="0" bIns="0" anchor="t">
            <a:spAutoFit/>
          </a:bodyPr>
          <a:lstStyle/>
          <a:p>
            <a:pPr algn="l">
              <a:lnSpc>
                <a:spcPct val="118000"/>
              </a:lnSpc>
              <a:spcAft>
                <a:spcPts val="0"/>
              </a:spcAft>
            </a:pPr>
            <a:r>
              <a:rPr sz="1100" b="0" i="0">
                <a:solidFill>
                  <a:srgbClr val="54666E"/>
                </a:solidFill>
                <a:latin typeface="Calibri"/>
              </a:rPr>
              <a:t>Road, rail, the NW-2 waterway and air are separate layers joined by transfer edges that charge real handling cost and terminal dwell. A flat graph gives transhipment away free — which is why naive multimodal plans look better on paper than in a yard.</a:t>
            </a:r>
          </a:p>
        </p:txBody>
      </p:sp>
      <p:sp>
        <p:nvSpPr>
          <p:cNvPr id="15367" name="Rounded Rectangle 15366"/>
          <p:cNvSpPr/>
          <p:nvPr/>
        </p:nvSpPr>
        <p:spPr>
          <a:xfrm>
            <a:off x="4325112" y="1627632"/>
            <a:ext cx="3538728" cy="2395728"/>
          </a:xfrm>
          <a:prstGeom prst="roundRect">
            <a:avLst>
              <a:gd name="adj" fmla="val 6000"/>
            </a:avLst>
          </a:prstGeom>
          <a:solidFill>
            <a:srgbClr val="EEF3F6"/>
          </a:solidFill>
          <a:ln w="9525">
            <a:solidFill>
              <a:srgbClr val="D2DD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68" name="Oval 15367"/>
          <p:cNvSpPr/>
          <p:nvPr/>
        </p:nvSpPr>
        <p:spPr>
          <a:xfrm>
            <a:off x="4562855" y="1828800"/>
            <a:ext cx="365760" cy="365760"/>
          </a:xfrm>
          <a:prstGeom prst="ellipse">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5369" name="TextBox 15368"/>
          <p:cNvSpPr txBox="1"/>
          <p:nvPr/>
        </p:nvSpPr>
        <p:spPr>
          <a:xfrm>
            <a:off x="4562855" y="2304288"/>
            <a:ext cx="3063240" cy="310896"/>
          </a:xfrm>
          <a:prstGeom prst="rect">
            <a:avLst/>
          </a:prstGeom>
          <a:noFill/>
        </p:spPr>
        <p:txBody>
          <a:bodyPr wrap="square" lIns="0" rIns="0" tIns="0" bIns="0" anchor="t">
            <a:spAutoFit/>
          </a:bodyPr>
          <a:lstStyle/>
          <a:p>
            <a:pPr algn="l">
              <a:spcAft>
                <a:spcPts val="0"/>
              </a:spcAft>
            </a:pPr>
            <a:r>
              <a:rPr sz="1400" b="1" i="0">
                <a:solidFill>
                  <a:srgbClr val="10323C"/>
                </a:solidFill>
                <a:latin typeface="Calibri"/>
              </a:rPr>
              <a:t>The monsoon, priced per segment</a:t>
            </a:r>
          </a:p>
        </p:txBody>
      </p:sp>
      <p:sp>
        <p:nvSpPr>
          <p:cNvPr id="15370" name="TextBox 15369"/>
          <p:cNvSpPr txBox="1"/>
          <p:nvPr/>
        </p:nvSpPr>
        <p:spPr>
          <a:xfrm>
            <a:off x="4562855" y="2670048"/>
            <a:ext cx="3063240" cy="1207008"/>
          </a:xfrm>
          <a:prstGeom prst="rect">
            <a:avLst/>
          </a:prstGeom>
          <a:noFill/>
        </p:spPr>
        <p:txBody>
          <a:bodyPr wrap="square" lIns="0" rIns="0" tIns="0" bIns="0" anchor="t">
            <a:spAutoFit/>
          </a:bodyPr>
          <a:lstStyle/>
          <a:p>
            <a:pPr algn="l">
              <a:lnSpc>
                <a:spcPct val="118000"/>
              </a:lnSpc>
              <a:spcAft>
                <a:spcPts val="0"/>
              </a:spcAft>
            </a:pPr>
            <a:r>
              <a:rPr sz="1100" b="0" i="0">
                <a:solidFill>
                  <a:srgbClr val="54666E"/>
                </a:solidFill>
                <a:latin typeface="Calibri"/>
              </a:rPr>
              <a:t>Landslide and flood susceptibility from terrain, elevation and per-place NASA rainfall, combined as independent hazards and turned into expected delay hours and rupees on every one of 7,181 segments.</a:t>
            </a:r>
          </a:p>
        </p:txBody>
      </p:sp>
      <p:sp>
        <p:nvSpPr>
          <p:cNvPr id="15371" name="Rounded Rectangle 15370"/>
          <p:cNvSpPr/>
          <p:nvPr/>
        </p:nvSpPr>
        <p:spPr>
          <a:xfrm>
            <a:off x="8147304" y="1627632"/>
            <a:ext cx="3538728" cy="2395728"/>
          </a:xfrm>
          <a:prstGeom prst="roundRect">
            <a:avLst>
              <a:gd name="adj" fmla="val 6000"/>
            </a:avLst>
          </a:prstGeom>
          <a:solidFill>
            <a:srgbClr val="EEF3F6"/>
          </a:solidFill>
          <a:ln w="9525">
            <a:solidFill>
              <a:srgbClr val="D2DD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72" name="Oval 15371"/>
          <p:cNvSpPr/>
          <p:nvPr/>
        </p:nvSpPr>
        <p:spPr>
          <a:xfrm>
            <a:off x="8385048" y="1828800"/>
            <a:ext cx="365760" cy="36576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5373" name="TextBox 15372"/>
          <p:cNvSpPr txBox="1"/>
          <p:nvPr/>
        </p:nvSpPr>
        <p:spPr>
          <a:xfrm>
            <a:off x="8385048" y="2304288"/>
            <a:ext cx="3063240" cy="310896"/>
          </a:xfrm>
          <a:prstGeom prst="rect">
            <a:avLst/>
          </a:prstGeom>
          <a:noFill/>
        </p:spPr>
        <p:txBody>
          <a:bodyPr wrap="square" lIns="0" rIns="0" tIns="0" bIns="0" anchor="t">
            <a:spAutoFit/>
          </a:bodyPr>
          <a:lstStyle/>
          <a:p>
            <a:pPr algn="l">
              <a:spcAft>
                <a:spcPts val="0"/>
              </a:spcAft>
            </a:pPr>
            <a:r>
              <a:rPr sz="1400" b="1" i="0">
                <a:solidFill>
                  <a:srgbClr val="10323C"/>
                </a:solidFill>
                <a:latin typeface="Calibri"/>
              </a:rPr>
              <a:t>Access, not just routes</a:t>
            </a:r>
          </a:p>
        </p:txBody>
      </p:sp>
      <p:sp>
        <p:nvSpPr>
          <p:cNvPr id="15374" name="TextBox 15373"/>
          <p:cNvSpPr txBox="1"/>
          <p:nvPr/>
        </p:nvSpPr>
        <p:spPr>
          <a:xfrm>
            <a:off x="8385048" y="2670048"/>
            <a:ext cx="3063240" cy="1207008"/>
          </a:xfrm>
          <a:prstGeom prst="rect">
            <a:avLst/>
          </a:prstGeom>
          <a:noFill/>
        </p:spPr>
        <p:txBody>
          <a:bodyPr wrap="square" lIns="0" rIns="0" tIns="0" bIns="0" anchor="t">
            <a:spAutoFit/>
          </a:bodyPr>
          <a:lstStyle/>
          <a:p>
            <a:pPr algn="l">
              <a:lnSpc>
                <a:spcPct val="118000"/>
              </a:lnSpc>
              <a:spcAft>
                <a:spcPts val="0"/>
              </a:spcAft>
            </a:pPr>
            <a:r>
              <a:rPr sz="1100" b="0" i="0">
                <a:solidFill>
                  <a:srgbClr val="54666E"/>
                </a:solidFill>
                <a:latin typeface="Calibri"/>
              </a:rPr>
              <a:t>5,594 settlements scored on network travel-hours to market, cold chain and the Siliguri gateway — plus where the next facility would bring the most places into reach, before anything is built.</a:t>
            </a:r>
          </a:p>
        </p:txBody>
      </p:sp>
      <p:sp>
        <p:nvSpPr>
          <p:cNvPr id="15375" name="Rounded Rectangle 15374"/>
          <p:cNvSpPr/>
          <p:nvPr/>
        </p:nvSpPr>
        <p:spPr>
          <a:xfrm>
            <a:off x="502920" y="4224528"/>
            <a:ext cx="11183112" cy="1874519"/>
          </a:xfrm>
          <a:prstGeom prst="roundRect">
            <a:avLst>
              <a:gd name="adj" fmla="val 6000"/>
            </a:avLst>
          </a:prstGeom>
          <a:solidFill>
            <a:srgbClr val="10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76" name="TextBox 15375"/>
          <p:cNvSpPr txBox="1"/>
          <p:nvPr/>
        </p:nvSpPr>
        <p:spPr>
          <a:xfrm>
            <a:off x="822960" y="4443984"/>
            <a:ext cx="6720840" cy="274320"/>
          </a:xfrm>
          <a:prstGeom prst="rect">
            <a:avLst/>
          </a:prstGeom>
          <a:noFill/>
        </p:spPr>
        <p:txBody>
          <a:bodyPr wrap="square" lIns="0" rIns="0" tIns="0" bIns="0" anchor="t">
            <a:spAutoFit/>
          </a:bodyPr>
          <a:lstStyle/>
          <a:p>
            <a:pPr algn="l">
              <a:spcAft>
                <a:spcPts val="0"/>
              </a:spcAft>
            </a:pPr>
            <a:r>
              <a:rPr sz="1200" b="1" i="0">
                <a:solidFill>
                  <a:srgbClr val="8FC5E8"/>
                </a:solidFill>
                <a:latin typeface="Calibri"/>
              </a:rPr>
              <a:t>WHY THIS IS DIFFERENT</a:t>
            </a:r>
          </a:p>
        </p:txBody>
      </p:sp>
      <p:sp>
        <p:nvSpPr>
          <p:cNvPr id="15377" name="TextBox 15376"/>
          <p:cNvSpPr txBox="1"/>
          <p:nvPr/>
        </p:nvSpPr>
        <p:spPr>
          <a:xfrm>
            <a:off x="822960" y="4791456"/>
            <a:ext cx="6720840" cy="1097280"/>
          </a:xfrm>
          <a:prstGeom prst="rect">
            <a:avLst/>
          </a:prstGeom>
          <a:noFill/>
        </p:spPr>
        <p:txBody>
          <a:bodyPr wrap="square" lIns="0" rIns="0" tIns="0" bIns="0" anchor="t">
            <a:spAutoFit/>
          </a:bodyPr>
          <a:lstStyle/>
          <a:p>
            <a:pPr algn="l">
              <a:lnSpc>
                <a:spcPct val="110000"/>
              </a:lnSpc>
              <a:spcAft>
                <a:spcPts val="700"/>
              </a:spcAft>
            </a:pPr>
            <a:r>
              <a:rPr sz="1200" b="0" i="0">
                <a:solidFill>
                  <a:srgbClr val="FFFFFF"/>
                </a:solidFill>
                <a:latin typeface="Calibri"/>
              </a:rPr>
              <a:t>•   Optimises generalised cost — ₹ + time + expected disruption — never distance.</a:t>
            </a:r>
          </a:p>
          <a:p>
            <a:pPr algn="l">
              <a:lnSpc>
                <a:spcPct val="110000"/>
              </a:lnSpc>
              <a:spcAft>
                <a:spcPts val="700"/>
              </a:spcAft>
            </a:pPr>
            <a:r>
              <a:rPr sz="1200" b="0" i="0">
                <a:solidFill>
                  <a:srgbClr val="FFFFFF"/>
                </a:solidFill>
                <a:latin typeface="Calibri"/>
              </a:rPr>
              <a:t>•   Separates monthly risk from per-trip risk, so a hill route is expensive, not unusable.</a:t>
            </a:r>
          </a:p>
          <a:p>
            <a:pPr algn="l">
              <a:lnSpc>
                <a:spcPct val="110000"/>
              </a:lnSpc>
              <a:spcAft>
                <a:spcPts val="700"/>
              </a:spcAft>
            </a:pPr>
            <a:r>
              <a:rPr sz="1200" b="0" i="0">
                <a:solidFill>
                  <a:srgbClr val="FFFFFF"/>
                </a:solidFill>
                <a:latin typeface="Calibri"/>
              </a:rPr>
              <a:t>•   Answers the accessibility half MDoNER actually invests against, not only the routing half.</a:t>
            </a:r>
          </a:p>
        </p:txBody>
      </p:sp>
      <p:sp>
        <p:nvSpPr>
          <p:cNvPr id="15378" name="Rounded Rectangle 15377"/>
          <p:cNvSpPr/>
          <p:nvPr/>
        </p:nvSpPr>
        <p:spPr>
          <a:xfrm>
            <a:off x="7863840" y="4443984"/>
            <a:ext cx="3657600" cy="1444752"/>
          </a:xfrm>
          <a:prstGeom prst="roundRect">
            <a:avLst>
              <a:gd name="adj" fmla="val 6000"/>
            </a:avLst>
          </a:prstGeom>
          <a:solidFill>
            <a:srgbClr val="1B4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79" name="TextBox 15378"/>
          <p:cNvSpPr txBox="1"/>
          <p:nvPr/>
        </p:nvSpPr>
        <p:spPr>
          <a:xfrm>
            <a:off x="8065008" y="4590288"/>
            <a:ext cx="3255264" cy="256032"/>
          </a:xfrm>
          <a:prstGeom prst="rect">
            <a:avLst/>
          </a:prstGeom>
          <a:noFill/>
        </p:spPr>
        <p:txBody>
          <a:bodyPr wrap="square" lIns="0" rIns="0" tIns="0" bIns="0" anchor="t">
            <a:spAutoFit/>
          </a:bodyPr>
          <a:lstStyle/>
          <a:p>
            <a:pPr algn="l">
              <a:spcAft>
                <a:spcPts val="0"/>
              </a:spcAft>
            </a:pPr>
            <a:r>
              <a:rPr sz="1000" b="1" i="0">
                <a:solidFill>
                  <a:srgbClr val="9FD2C4"/>
                </a:solidFill>
                <a:latin typeface="Calibri"/>
              </a:rPr>
              <a:t>AIZAWL → GUWAHATI, SAME PLAN</a:t>
            </a:r>
          </a:p>
        </p:txBody>
      </p:sp>
      <p:sp>
        <p:nvSpPr>
          <p:cNvPr id="15380" name="TextBox 15379"/>
          <p:cNvSpPr txBox="1"/>
          <p:nvPr/>
        </p:nvSpPr>
        <p:spPr>
          <a:xfrm>
            <a:off x="8065008" y="4882896"/>
            <a:ext cx="3255264" cy="566928"/>
          </a:xfrm>
          <a:prstGeom prst="rect">
            <a:avLst/>
          </a:prstGeom>
          <a:noFill/>
        </p:spPr>
        <p:txBody>
          <a:bodyPr wrap="square" lIns="0" rIns="0" tIns="0" bIns="0" anchor="t">
            <a:spAutoFit/>
          </a:bodyPr>
          <a:lstStyle/>
          <a:p>
            <a:r>
              <a:rPr sz="2800" b="1">
                <a:solidFill>
                  <a:srgbClr val="1BAF7A"/>
                </a:solidFill>
                <a:latin typeface="Cambria"/>
              </a:rPr>
              <a:t>64.5 h</a:t>
            </a:r>
            <a:r>
              <a:rPr sz="1800">
                <a:solidFill>
                  <a:srgbClr val="FFFFFF"/>
                </a:solidFill>
                <a:latin typeface="Calibri"/>
              </a:rPr>
              <a:t>   →   </a:t>
            </a:r>
            <a:r>
              <a:rPr sz="2800" b="1">
                <a:solidFill>
                  <a:srgbClr val="D03B3B"/>
                </a:solidFill>
                <a:latin typeface="Cambria"/>
              </a:rPr>
              <a:t>135.3 h</a:t>
            </a:r>
          </a:p>
        </p:txBody>
      </p:sp>
      <p:sp>
        <p:nvSpPr>
          <p:cNvPr id="15381" name="TextBox 15380"/>
          <p:cNvSpPr txBox="1"/>
          <p:nvPr/>
        </p:nvSpPr>
        <p:spPr>
          <a:xfrm>
            <a:off x="8065008" y="5504688"/>
            <a:ext cx="3255264" cy="274320"/>
          </a:xfrm>
          <a:prstGeom prst="rect">
            <a:avLst/>
          </a:prstGeom>
          <a:noFill/>
        </p:spPr>
        <p:txBody>
          <a:bodyPr wrap="square" lIns="0" rIns="0" tIns="0" bIns="0" anchor="t">
            <a:spAutoFit/>
          </a:bodyPr>
          <a:lstStyle/>
          <a:p>
            <a:pPr algn="l">
              <a:spcAft>
                <a:spcPts val="0"/>
              </a:spcAft>
            </a:pPr>
            <a:r>
              <a:rPr sz="1050" b="0" i="0">
                <a:solidFill>
                  <a:srgbClr val="C8D8DE"/>
                </a:solidFill>
                <a:latin typeface="Calibri"/>
              </a:rPr>
              <a:t>January vs July · ₹1,715 → ₹2,102 per tonne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a:xfrm>
            <a:off x="1783080" y="91440"/>
            <a:ext cx="7818120" cy="960120"/>
          </a:xfrm>
        </p:spPr>
        <p:txBody>
          <a:bodyPr wrap="square"/>
          <a:lstStyle/>
          <a:p>
            <a:pPr eaLnBrk="1" hangingPunct="1"/>
            <a:r>
              <a:rPr sz="3000" b="1">
                <a:solidFill>
                  <a:srgbClr val="10323C"/>
                </a:solidFill>
                <a:latin typeface="Calibri"/>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02920" y="1188720"/>
            <a:ext cx="10058400" cy="274320"/>
          </a:xfrm>
          <a:prstGeom prst="rect">
            <a:avLst/>
          </a:prstGeom>
          <a:noFill/>
        </p:spPr>
        <p:txBody>
          <a:bodyPr wrap="square" lIns="0" rIns="0" tIns="0" bIns="0" anchor="t">
            <a:spAutoFit/>
          </a:bodyPr>
          <a:lstStyle/>
          <a:p>
            <a:pPr algn="l">
              <a:spcAft>
                <a:spcPts val="0"/>
              </a:spcAft>
            </a:pPr>
            <a:r>
              <a:rPr sz="1200" b="1" i="0">
                <a:solidFill>
                  <a:srgbClr val="0070C0"/>
                </a:solidFill>
                <a:latin typeface="Calibri"/>
              </a:rPr>
              <a:t>FROM OPEN DATA TO A ROUTING DECISION</a:t>
            </a:r>
          </a:p>
        </p:txBody>
      </p:sp>
      <p:sp>
        <p:nvSpPr>
          <p:cNvPr id="17411" name="Oval 17410"/>
          <p:cNvSpPr/>
          <p:nvPr/>
        </p:nvSpPr>
        <p:spPr>
          <a:xfrm>
            <a:off x="502920" y="1682496"/>
            <a:ext cx="384048" cy="38404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7412" name="TextBox 17411"/>
          <p:cNvSpPr txBox="1"/>
          <p:nvPr/>
        </p:nvSpPr>
        <p:spPr>
          <a:xfrm>
            <a:off x="1078992" y="1645920"/>
            <a:ext cx="5897880" cy="256032"/>
          </a:xfrm>
          <a:prstGeom prst="rect">
            <a:avLst/>
          </a:prstGeom>
          <a:noFill/>
        </p:spPr>
        <p:txBody>
          <a:bodyPr wrap="square" lIns="0" rIns="0" tIns="0" bIns="0" anchor="t">
            <a:spAutoFit/>
          </a:bodyPr>
          <a:lstStyle/>
          <a:p>
            <a:pPr algn="l">
              <a:spcAft>
                <a:spcPts val="0"/>
              </a:spcAft>
            </a:pPr>
            <a:r>
              <a:rPr sz="1350" b="1" i="0">
                <a:solidFill>
                  <a:srgbClr val="10323C"/>
                </a:solidFill>
                <a:latin typeface="Calibri"/>
              </a:rPr>
              <a:t>Ingest open data</a:t>
            </a:r>
          </a:p>
        </p:txBody>
      </p:sp>
      <p:sp>
        <p:nvSpPr>
          <p:cNvPr id="17413" name="TextBox 17412"/>
          <p:cNvSpPr txBox="1"/>
          <p:nvPr/>
        </p:nvSpPr>
        <p:spPr>
          <a:xfrm>
            <a:off x="1078992" y="1956816"/>
            <a:ext cx="5897880" cy="548640"/>
          </a:xfrm>
          <a:prstGeom prst="rect">
            <a:avLst/>
          </a:prstGeom>
          <a:noFill/>
        </p:spPr>
        <p:txBody>
          <a:bodyPr wrap="square" lIns="0" rIns="0" tIns="0" bIns="0" anchor="t">
            <a:spAutoFit/>
          </a:bodyPr>
          <a:lstStyle/>
          <a:p>
            <a:pPr algn="l">
              <a:lnSpc>
                <a:spcPct val="114000"/>
              </a:lnSpc>
              <a:spcAft>
                <a:spcPts val="0"/>
              </a:spcAft>
            </a:pPr>
            <a:r>
              <a:rPr sz="1050" b="0" i="0">
                <a:solidFill>
                  <a:srgbClr val="54666E"/>
                </a:solidFill>
                <a:latin typeface="Calibri"/>
              </a:rPr>
              <a:t>OpenStreetMap via Overpass, scoped to nine state relations · NASA POWER rainfall climatology · Copernicus DEM elevation. No keys, no licences.</a:t>
            </a:r>
          </a:p>
        </p:txBody>
      </p:sp>
      <p:sp>
        <p:nvSpPr>
          <p:cNvPr id="17414" name="Oval 17413"/>
          <p:cNvSpPr/>
          <p:nvPr/>
        </p:nvSpPr>
        <p:spPr>
          <a:xfrm>
            <a:off x="502920" y="2578608"/>
            <a:ext cx="384048" cy="38404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7415" name="TextBox 17414"/>
          <p:cNvSpPr txBox="1"/>
          <p:nvPr/>
        </p:nvSpPr>
        <p:spPr>
          <a:xfrm>
            <a:off x="1078992" y="2542032"/>
            <a:ext cx="5897880" cy="256032"/>
          </a:xfrm>
          <a:prstGeom prst="rect">
            <a:avLst/>
          </a:prstGeom>
          <a:noFill/>
        </p:spPr>
        <p:txBody>
          <a:bodyPr wrap="square" lIns="0" rIns="0" tIns="0" bIns="0" anchor="t">
            <a:spAutoFit/>
          </a:bodyPr>
          <a:lstStyle/>
          <a:p>
            <a:pPr algn="l">
              <a:spcAft>
                <a:spcPts val="0"/>
              </a:spcAft>
            </a:pPr>
            <a:r>
              <a:rPr sz="1350" b="1" i="0">
                <a:solidFill>
                  <a:srgbClr val="10323C"/>
                </a:solidFill>
                <a:latin typeface="Calibri"/>
              </a:rPr>
              <a:t>Build the graph</a:t>
            </a:r>
          </a:p>
        </p:txBody>
      </p:sp>
      <p:sp>
        <p:nvSpPr>
          <p:cNvPr id="17416" name="TextBox 17415"/>
          <p:cNvSpPr txBox="1"/>
          <p:nvPr/>
        </p:nvSpPr>
        <p:spPr>
          <a:xfrm>
            <a:off x="1078992" y="2852927"/>
            <a:ext cx="5897880" cy="548640"/>
          </a:xfrm>
          <a:prstGeom prst="rect">
            <a:avLst/>
          </a:prstGeom>
          <a:noFill/>
        </p:spPr>
        <p:txBody>
          <a:bodyPr wrap="square" lIns="0" rIns="0" tIns="0" bIns="0" anchor="t">
            <a:spAutoFit/>
          </a:bodyPr>
          <a:lstStyle/>
          <a:p>
            <a:pPr algn="l">
              <a:lnSpc>
                <a:spcPct val="114000"/>
              </a:lnSpc>
              <a:spcAft>
                <a:spcPts val="0"/>
              </a:spcAft>
            </a:pPr>
            <a:r>
              <a:rPr sz="1050" b="0" i="0">
                <a:solidFill>
                  <a:srgbClr val="54666E"/>
                </a:solidFill>
                <a:latin typeface="Calibri"/>
              </a:rPr>
              <a:t>Contract 14,531 OSM ways into 7,181 segments over 6,502 junctions — 25,360 km — then layer it by mode and charge every transhipment.</a:t>
            </a:r>
          </a:p>
        </p:txBody>
      </p:sp>
      <p:sp>
        <p:nvSpPr>
          <p:cNvPr id="17417" name="Oval 17416"/>
          <p:cNvSpPr/>
          <p:nvPr/>
        </p:nvSpPr>
        <p:spPr>
          <a:xfrm>
            <a:off x="502920" y="3474720"/>
            <a:ext cx="384048" cy="384048"/>
          </a:xfrm>
          <a:prstGeom prst="ellipse">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7418" name="TextBox 17417"/>
          <p:cNvSpPr txBox="1"/>
          <p:nvPr/>
        </p:nvSpPr>
        <p:spPr>
          <a:xfrm>
            <a:off x="1078992" y="3438144"/>
            <a:ext cx="5897880" cy="256032"/>
          </a:xfrm>
          <a:prstGeom prst="rect">
            <a:avLst/>
          </a:prstGeom>
          <a:noFill/>
        </p:spPr>
        <p:txBody>
          <a:bodyPr wrap="square" lIns="0" rIns="0" tIns="0" bIns="0" anchor="t">
            <a:spAutoFit/>
          </a:bodyPr>
          <a:lstStyle/>
          <a:p>
            <a:pPr algn="l">
              <a:spcAft>
                <a:spcPts val="0"/>
              </a:spcAft>
            </a:pPr>
            <a:r>
              <a:rPr sz="1350" b="1" i="0">
                <a:solidFill>
                  <a:srgbClr val="10323C"/>
                </a:solidFill>
                <a:latin typeface="Calibri"/>
              </a:rPr>
              <a:t>Score the hazard</a:t>
            </a:r>
          </a:p>
        </p:txBody>
      </p:sp>
      <p:sp>
        <p:nvSpPr>
          <p:cNvPr id="17419" name="TextBox 17418"/>
          <p:cNvSpPr txBox="1"/>
          <p:nvPr/>
        </p:nvSpPr>
        <p:spPr>
          <a:xfrm>
            <a:off x="1078992" y="3749039"/>
            <a:ext cx="5897880" cy="548640"/>
          </a:xfrm>
          <a:prstGeom prst="rect">
            <a:avLst/>
          </a:prstGeom>
          <a:noFill/>
        </p:spPr>
        <p:txBody>
          <a:bodyPr wrap="square" lIns="0" rIns="0" tIns="0" bIns="0" anchor="t">
            <a:spAutoFit/>
          </a:bodyPr>
          <a:lstStyle/>
          <a:p>
            <a:pPr algn="l">
              <a:lnSpc>
                <a:spcPct val="114000"/>
              </a:lnSpc>
              <a:spcAft>
                <a:spcPts val="0"/>
              </a:spcAft>
            </a:pPr>
            <a:r>
              <a:rPr sz="1050" b="0" i="0">
                <a:solidFill>
                  <a:srgbClr val="54666E"/>
                </a:solidFill>
                <a:latin typeface="Calibri"/>
              </a:rPr>
              <a:t>Analytic susceptibility from terrain, rainfall, elevation and carriageway width; an optional gradient-boosted model refines it. Landslide ⊕ flood.</a:t>
            </a:r>
          </a:p>
        </p:txBody>
      </p:sp>
      <p:sp>
        <p:nvSpPr>
          <p:cNvPr id="17420" name="Oval 17419"/>
          <p:cNvSpPr/>
          <p:nvPr/>
        </p:nvSpPr>
        <p:spPr>
          <a:xfrm>
            <a:off x="502920" y="4370831"/>
            <a:ext cx="384048" cy="3840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7421" name="TextBox 17420"/>
          <p:cNvSpPr txBox="1"/>
          <p:nvPr/>
        </p:nvSpPr>
        <p:spPr>
          <a:xfrm>
            <a:off x="1078992" y="4334255"/>
            <a:ext cx="5897880" cy="256032"/>
          </a:xfrm>
          <a:prstGeom prst="rect">
            <a:avLst/>
          </a:prstGeom>
          <a:noFill/>
        </p:spPr>
        <p:txBody>
          <a:bodyPr wrap="square" lIns="0" rIns="0" tIns="0" bIns="0" anchor="t">
            <a:spAutoFit/>
          </a:bodyPr>
          <a:lstStyle/>
          <a:p>
            <a:pPr algn="l">
              <a:spcAft>
                <a:spcPts val="0"/>
              </a:spcAft>
            </a:pPr>
            <a:r>
              <a:rPr sz="1350" b="1" i="0">
                <a:solidFill>
                  <a:srgbClr val="10323C"/>
                </a:solidFill>
                <a:latin typeface="Calibri"/>
              </a:rPr>
              <a:t>Optimise</a:t>
            </a:r>
          </a:p>
        </p:txBody>
      </p:sp>
      <p:sp>
        <p:nvSpPr>
          <p:cNvPr id="17422" name="TextBox 17421"/>
          <p:cNvSpPr txBox="1"/>
          <p:nvPr/>
        </p:nvSpPr>
        <p:spPr>
          <a:xfrm>
            <a:off x="1078992" y="4645152"/>
            <a:ext cx="5897880" cy="548640"/>
          </a:xfrm>
          <a:prstGeom prst="rect">
            <a:avLst/>
          </a:prstGeom>
          <a:noFill/>
        </p:spPr>
        <p:txBody>
          <a:bodyPr wrap="square" lIns="0" rIns="0" tIns="0" bIns="0" anchor="t">
            <a:spAutoFit/>
          </a:bodyPr>
          <a:lstStyle/>
          <a:p>
            <a:pPr algn="l">
              <a:lnSpc>
                <a:spcPct val="114000"/>
              </a:lnSpc>
              <a:spcAft>
                <a:spcPts val="0"/>
              </a:spcAft>
            </a:pPr>
            <a:r>
              <a:rPr sz="1050" b="0" i="0">
                <a:solidFill>
                  <a:srgbClr val="54666E"/>
                </a:solidFill>
                <a:latin typeface="Calibri"/>
              </a:rPr>
              <a:t>Dijkstra on generalised cost for the plan, Yen's k-shortest paths for the alternatives, per-request weights over cost, time and risk.</a:t>
            </a:r>
          </a:p>
        </p:txBody>
      </p:sp>
      <p:sp>
        <p:nvSpPr>
          <p:cNvPr id="17423" name="Oval 17422"/>
          <p:cNvSpPr/>
          <p:nvPr/>
        </p:nvSpPr>
        <p:spPr>
          <a:xfrm>
            <a:off x="502920" y="5266943"/>
            <a:ext cx="384048" cy="3840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7424" name="TextBox 17423"/>
          <p:cNvSpPr txBox="1"/>
          <p:nvPr/>
        </p:nvSpPr>
        <p:spPr>
          <a:xfrm>
            <a:off x="1078992" y="5230367"/>
            <a:ext cx="5897880" cy="256032"/>
          </a:xfrm>
          <a:prstGeom prst="rect">
            <a:avLst/>
          </a:prstGeom>
          <a:noFill/>
        </p:spPr>
        <p:txBody>
          <a:bodyPr wrap="square" lIns="0" rIns="0" tIns="0" bIns="0" anchor="t">
            <a:spAutoFit/>
          </a:bodyPr>
          <a:lstStyle/>
          <a:p>
            <a:pPr algn="l">
              <a:spcAft>
                <a:spcPts val="0"/>
              </a:spcAft>
            </a:pPr>
            <a:r>
              <a:rPr sz="1350" b="1" i="0">
                <a:solidFill>
                  <a:srgbClr val="10323C"/>
                </a:solidFill>
                <a:latin typeface="Calibri"/>
              </a:rPr>
              <a:t>Serve</a:t>
            </a:r>
          </a:p>
        </p:txBody>
      </p:sp>
      <p:sp>
        <p:nvSpPr>
          <p:cNvPr id="17425" name="TextBox 17424"/>
          <p:cNvSpPr txBox="1"/>
          <p:nvPr/>
        </p:nvSpPr>
        <p:spPr>
          <a:xfrm>
            <a:off x="1078992" y="5541264"/>
            <a:ext cx="5897880" cy="548640"/>
          </a:xfrm>
          <a:prstGeom prst="rect">
            <a:avLst/>
          </a:prstGeom>
          <a:noFill/>
        </p:spPr>
        <p:txBody>
          <a:bodyPr wrap="square" lIns="0" rIns="0" tIns="0" bIns="0" anchor="t">
            <a:spAutoFit/>
          </a:bodyPr>
          <a:lstStyle/>
          <a:p>
            <a:pPr algn="l">
              <a:lnSpc>
                <a:spcPct val="114000"/>
              </a:lnSpc>
              <a:spcAft>
                <a:spcPts val="0"/>
              </a:spcAft>
            </a:pPr>
            <a:r>
              <a:rPr sz="1050" b="0" i="0">
                <a:solidFill>
                  <a:srgbClr val="54666E"/>
                </a:solidFill>
                <a:latin typeface="Calibri"/>
              </a:rPr>
              <a:t>One FastAPI process serves the API and the MapLibre dashboard. No build step, no CDN, no runtime npm — it demos on a blocked venue network.</a:t>
            </a:r>
          </a:p>
        </p:txBody>
      </p:sp>
      <p:sp>
        <p:nvSpPr>
          <p:cNvPr id="17426" name="Rounded Rectangle 17425"/>
          <p:cNvSpPr/>
          <p:nvPr/>
        </p:nvSpPr>
        <p:spPr>
          <a:xfrm>
            <a:off x="7360920" y="1627632"/>
            <a:ext cx="4325112" cy="1920240"/>
          </a:xfrm>
          <a:prstGeom prst="roundRect">
            <a:avLst>
              <a:gd name="adj" fmla="val 6000"/>
            </a:avLst>
          </a:prstGeom>
          <a:solidFill>
            <a:srgbClr val="EEF3F6"/>
          </a:solidFill>
          <a:ln w="9525">
            <a:solidFill>
              <a:srgbClr val="D2DD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7" name="TextBox 17426"/>
          <p:cNvSpPr txBox="1"/>
          <p:nvPr/>
        </p:nvSpPr>
        <p:spPr>
          <a:xfrm>
            <a:off x="7607808" y="1810512"/>
            <a:ext cx="3831336" cy="256032"/>
          </a:xfrm>
          <a:prstGeom prst="rect">
            <a:avLst/>
          </a:prstGeom>
          <a:noFill/>
        </p:spPr>
        <p:txBody>
          <a:bodyPr wrap="square" lIns="0" rIns="0" tIns="0" bIns="0" anchor="t">
            <a:spAutoFit/>
          </a:bodyPr>
          <a:lstStyle/>
          <a:p>
            <a:pPr algn="l">
              <a:spcAft>
                <a:spcPts val="0"/>
              </a:spcAft>
            </a:pPr>
            <a:r>
              <a:rPr sz="1100" b="1" i="0">
                <a:solidFill>
                  <a:srgbClr val="0070C0"/>
                </a:solidFill>
                <a:latin typeface="Calibri"/>
              </a:rPr>
              <a:t>STACK</a:t>
            </a:r>
          </a:p>
        </p:txBody>
      </p:sp>
      <p:sp>
        <p:nvSpPr>
          <p:cNvPr id="17428" name="TextBox 17427"/>
          <p:cNvSpPr txBox="1"/>
          <p:nvPr/>
        </p:nvSpPr>
        <p:spPr>
          <a:xfrm>
            <a:off x="7607808" y="2139696"/>
            <a:ext cx="3831336" cy="1481328"/>
          </a:xfrm>
          <a:prstGeom prst="rect">
            <a:avLst/>
          </a:prstGeom>
          <a:noFill/>
        </p:spPr>
        <p:txBody>
          <a:bodyPr wrap="square" lIns="0" rIns="0" tIns="0" bIns="0" anchor="t">
            <a:spAutoFit/>
          </a:bodyPr>
          <a:lstStyle/>
          <a:p>
            <a:pPr algn="l">
              <a:spcAft>
                <a:spcPts val="500"/>
              </a:spcAft>
            </a:pPr>
            <a:r>
              <a:rPr sz="1100" b="0" i="0">
                <a:solidFill>
                  <a:srgbClr val="10323C"/>
                </a:solidFill>
                <a:latin typeface="Calibri"/>
              </a:rPr>
              <a:t>•  Python 3 · FastAPI · Pydantic</a:t>
            </a:r>
          </a:p>
          <a:p>
            <a:pPr algn="l">
              <a:spcAft>
                <a:spcPts val="500"/>
              </a:spcAft>
            </a:pPr>
            <a:r>
              <a:rPr sz="1100" b="0" i="0">
                <a:solidFill>
                  <a:srgbClr val="10323C"/>
                </a:solidFill>
                <a:latin typeface="Calibri"/>
              </a:rPr>
              <a:t>•  NetworkX — mode-layered graph</a:t>
            </a:r>
          </a:p>
          <a:p>
            <a:pPr algn="l">
              <a:spcAft>
                <a:spcPts val="500"/>
              </a:spcAft>
            </a:pPr>
            <a:r>
              <a:rPr sz="1100" b="0" i="0">
                <a:solidFill>
                  <a:srgbClr val="10323C"/>
                </a:solidFill>
                <a:latin typeface="Calibri"/>
              </a:rPr>
              <a:t>•  scikit-learn — optional risk model</a:t>
            </a:r>
          </a:p>
          <a:p>
            <a:pPr algn="l">
              <a:spcAft>
                <a:spcPts val="500"/>
              </a:spcAft>
            </a:pPr>
            <a:r>
              <a:rPr sz="1100" b="0" i="0">
                <a:solidFill>
                  <a:srgbClr val="10323C"/>
                </a:solidFill>
                <a:latin typeface="Calibri"/>
              </a:rPr>
              <a:t>•  MapLibre GL, vendored locally</a:t>
            </a:r>
          </a:p>
          <a:p>
            <a:pPr algn="l">
              <a:spcAft>
                <a:spcPts val="500"/>
              </a:spcAft>
            </a:pPr>
            <a:r>
              <a:rPr sz="1100" b="0" i="0">
                <a:solidFill>
                  <a:srgbClr val="10323C"/>
                </a:solidFill>
                <a:latin typeface="Calibri"/>
              </a:rPr>
              <a:t>•  Pure static frontend, zero build</a:t>
            </a:r>
          </a:p>
        </p:txBody>
      </p:sp>
      <p:sp>
        <p:nvSpPr>
          <p:cNvPr id="17429" name="Rounded Rectangle 17428"/>
          <p:cNvSpPr/>
          <p:nvPr/>
        </p:nvSpPr>
        <p:spPr>
          <a:xfrm>
            <a:off x="7360920" y="3712463"/>
            <a:ext cx="4325112" cy="2322576"/>
          </a:xfrm>
          <a:prstGeom prst="roundRect">
            <a:avLst>
              <a:gd name="adj" fmla="val 6000"/>
            </a:avLst>
          </a:prstGeom>
          <a:solidFill>
            <a:srgbClr val="EEF3F6"/>
          </a:solidFill>
          <a:ln w="9525">
            <a:solidFill>
              <a:srgbClr val="D2DD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0" name="TextBox 17429"/>
          <p:cNvSpPr txBox="1"/>
          <p:nvPr/>
        </p:nvSpPr>
        <p:spPr>
          <a:xfrm>
            <a:off x="7607808" y="3913632"/>
            <a:ext cx="3831336" cy="256032"/>
          </a:xfrm>
          <a:prstGeom prst="rect">
            <a:avLst/>
          </a:prstGeom>
          <a:noFill/>
        </p:spPr>
        <p:txBody>
          <a:bodyPr wrap="square" lIns="0" rIns="0" tIns="0" bIns="0" anchor="t">
            <a:spAutoFit/>
          </a:bodyPr>
          <a:lstStyle/>
          <a:p>
            <a:pPr algn="l">
              <a:spcAft>
                <a:spcPts val="0"/>
              </a:spcAft>
            </a:pPr>
            <a:r>
              <a:rPr sz="1100" b="1" i="0">
                <a:solidFill>
                  <a:srgbClr val="1BAF7A"/>
                </a:solidFill>
                <a:latin typeface="Calibri"/>
              </a:rPr>
              <a:t>PROVEN, NOT PROMISED</a:t>
            </a:r>
          </a:p>
        </p:txBody>
      </p:sp>
      <p:sp>
        <p:nvSpPr>
          <p:cNvPr id="17431" name="TextBox 17430"/>
          <p:cNvSpPr txBox="1"/>
          <p:nvPr/>
        </p:nvSpPr>
        <p:spPr>
          <a:xfrm>
            <a:off x="7607808" y="4261104"/>
            <a:ext cx="3831336" cy="1645920"/>
          </a:xfrm>
          <a:prstGeom prst="rect">
            <a:avLst/>
          </a:prstGeom>
          <a:noFill/>
        </p:spPr>
        <p:txBody>
          <a:bodyPr wrap="square" lIns="0" rIns="0" tIns="0" bIns="0" anchor="t">
            <a:spAutoFit/>
          </a:bodyPr>
          <a:lstStyle/>
          <a:p>
            <a:pPr algn="l">
              <a:lnSpc>
                <a:spcPct val="112000"/>
              </a:lnSpc>
              <a:spcAft>
                <a:spcPts val="600"/>
              </a:spcAft>
            </a:pPr>
            <a:r>
              <a:rPr sz="1100" b="0" i="0">
                <a:solidFill>
                  <a:srgbClr val="10323C"/>
                </a:solidFill>
                <a:latin typeface="Calibri"/>
              </a:rPr>
              <a:t>•  260 unit tests · 30 browser checks</a:t>
            </a:r>
          </a:p>
          <a:p>
            <a:pPr algn="l">
              <a:lnSpc>
                <a:spcPct val="112000"/>
              </a:lnSpc>
              <a:spcAft>
                <a:spcPts val="600"/>
              </a:spcAft>
            </a:pPr>
            <a:r>
              <a:rPr sz="1100" b="0" i="0">
                <a:solidFill>
                  <a:srgbClr val="10323C"/>
                </a:solidFill>
                <a:latin typeface="Calibri"/>
              </a:rPr>
              <a:t>•  Runs offline on a fresh clone — network, rainfall and elevation are committed</a:t>
            </a:r>
          </a:p>
          <a:p>
            <a:pPr algn="l">
              <a:lnSpc>
                <a:spcPct val="112000"/>
              </a:lnSpc>
              <a:spcAft>
                <a:spcPts val="600"/>
              </a:spcAft>
            </a:pPr>
            <a:r>
              <a:rPr sz="1100" b="0" i="0">
                <a:solidFill>
                  <a:srgbClr val="10323C"/>
                </a:solidFill>
                <a:latin typeface="Calibri"/>
              </a:rPr>
              <a:t>•  /health reports connectivity, so a fragmented build is visible before anyone trusts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1783080" y="91440"/>
            <a:ext cx="7818120" cy="960120"/>
          </a:xfrm>
        </p:spPr>
        <p:txBody>
          <a:bodyPr wrap="square"/>
          <a:lstStyle/>
          <a:p>
            <a:pPr eaLnBrk="1" hangingPunct="1"/>
            <a:r>
              <a:rPr sz="3000" b="1">
                <a:solidFill>
                  <a:srgbClr val="10323C"/>
                </a:solidFill>
                <a:latin typeface="Calibri"/>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02920" y="1188720"/>
            <a:ext cx="10058400" cy="274320"/>
          </a:xfrm>
          <a:prstGeom prst="rect">
            <a:avLst/>
          </a:prstGeom>
          <a:noFill/>
        </p:spPr>
        <p:txBody>
          <a:bodyPr wrap="square" lIns="0" rIns="0" tIns="0" bIns="0" anchor="t">
            <a:spAutoFit/>
          </a:bodyPr>
          <a:lstStyle/>
          <a:p>
            <a:pPr algn="l">
              <a:spcAft>
                <a:spcPts val="0"/>
              </a:spcAft>
            </a:pPr>
            <a:r>
              <a:rPr sz="1200" b="1" i="0">
                <a:solidFill>
                  <a:srgbClr val="0070C0"/>
                </a:solidFill>
                <a:latin typeface="Calibri"/>
              </a:rPr>
              <a:t>BUILT AND RUNNING TODAY, ON FREE-TIER RESOURCES</a:t>
            </a:r>
          </a:p>
        </p:txBody>
      </p:sp>
      <p:sp>
        <p:nvSpPr>
          <p:cNvPr id="17411" name="Rounded Rectangle 17410"/>
          <p:cNvSpPr/>
          <p:nvPr/>
        </p:nvSpPr>
        <p:spPr>
          <a:xfrm>
            <a:off x="502920" y="1691640"/>
            <a:ext cx="2487168" cy="1316736"/>
          </a:xfrm>
          <a:prstGeom prst="roundRect">
            <a:avLst>
              <a:gd name="adj" fmla="val 6000"/>
            </a:avLst>
          </a:prstGeom>
          <a:solidFill>
            <a:srgbClr val="EEF3F6"/>
          </a:solidFill>
          <a:ln w="9525">
            <a:solidFill>
              <a:srgbClr val="D2DD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2" name="TextBox 17411"/>
          <p:cNvSpPr txBox="1"/>
          <p:nvPr/>
        </p:nvSpPr>
        <p:spPr>
          <a:xfrm>
            <a:off x="704088" y="1874520"/>
            <a:ext cx="2084831" cy="502920"/>
          </a:xfrm>
          <a:prstGeom prst="rect">
            <a:avLst/>
          </a:prstGeom>
          <a:noFill/>
        </p:spPr>
        <p:txBody>
          <a:bodyPr wrap="square" lIns="0" rIns="0" tIns="0" bIns="0" anchor="t">
            <a:spAutoFit/>
          </a:bodyPr>
          <a:lstStyle/>
          <a:p>
            <a:pPr algn="l">
              <a:spcAft>
                <a:spcPts val="0"/>
              </a:spcAft>
            </a:pPr>
            <a:r>
              <a:rPr sz="2600" b="1" i="0">
                <a:solidFill>
                  <a:srgbClr val="0070C0"/>
                </a:solidFill>
                <a:latin typeface="Cambria"/>
              </a:rPr>
              <a:t>25,360</a:t>
            </a:r>
          </a:p>
        </p:txBody>
      </p:sp>
      <p:sp>
        <p:nvSpPr>
          <p:cNvPr id="17413" name="TextBox 17412"/>
          <p:cNvSpPr txBox="1"/>
          <p:nvPr/>
        </p:nvSpPr>
        <p:spPr>
          <a:xfrm>
            <a:off x="704088" y="2423160"/>
            <a:ext cx="2084831" cy="475488"/>
          </a:xfrm>
          <a:prstGeom prst="rect">
            <a:avLst/>
          </a:prstGeom>
          <a:noFill/>
        </p:spPr>
        <p:txBody>
          <a:bodyPr wrap="square" lIns="0" rIns="0" tIns="0" bIns="0" anchor="t">
            <a:spAutoFit/>
          </a:bodyPr>
          <a:lstStyle/>
          <a:p>
            <a:pPr algn="l">
              <a:lnSpc>
                <a:spcPct val="112000"/>
              </a:lnSpc>
              <a:spcAft>
                <a:spcPts val="0"/>
              </a:spcAft>
            </a:pPr>
            <a:r>
              <a:rPr sz="1050" b="0" i="0">
                <a:solidFill>
                  <a:srgbClr val="54666E"/>
                </a:solidFill>
                <a:latin typeface="Calibri"/>
              </a:rPr>
              <a:t>km of road network built from OSM</a:t>
            </a:r>
          </a:p>
        </p:txBody>
      </p:sp>
      <p:sp>
        <p:nvSpPr>
          <p:cNvPr id="17414" name="Rounded Rectangle 17413"/>
          <p:cNvSpPr/>
          <p:nvPr/>
        </p:nvSpPr>
        <p:spPr>
          <a:xfrm>
            <a:off x="3154680" y="1691640"/>
            <a:ext cx="2487168" cy="1316736"/>
          </a:xfrm>
          <a:prstGeom prst="roundRect">
            <a:avLst>
              <a:gd name="adj" fmla="val 6000"/>
            </a:avLst>
          </a:prstGeom>
          <a:solidFill>
            <a:srgbClr val="EEF3F6"/>
          </a:solidFill>
          <a:ln w="9525">
            <a:solidFill>
              <a:srgbClr val="D2DD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5" name="TextBox 17414"/>
          <p:cNvSpPr txBox="1"/>
          <p:nvPr/>
        </p:nvSpPr>
        <p:spPr>
          <a:xfrm>
            <a:off x="3355848" y="1874520"/>
            <a:ext cx="2084831" cy="502920"/>
          </a:xfrm>
          <a:prstGeom prst="rect">
            <a:avLst/>
          </a:prstGeom>
          <a:noFill/>
        </p:spPr>
        <p:txBody>
          <a:bodyPr wrap="square" lIns="0" rIns="0" tIns="0" bIns="0" anchor="t">
            <a:spAutoFit/>
          </a:bodyPr>
          <a:lstStyle/>
          <a:p>
            <a:pPr algn="l">
              <a:spcAft>
                <a:spcPts val="0"/>
              </a:spcAft>
            </a:pPr>
            <a:r>
              <a:rPr sz="2600" b="1" i="0">
                <a:solidFill>
                  <a:srgbClr val="0070C0"/>
                </a:solidFill>
                <a:latin typeface="Cambria"/>
              </a:rPr>
              <a:t>5,594</a:t>
            </a:r>
          </a:p>
        </p:txBody>
      </p:sp>
      <p:sp>
        <p:nvSpPr>
          <p:cNvPr id="17416" name="TextBox 17415"/>
          <p:cNvSpPr txBox="1"/>
          <p:nvPr/>
        </p:nvSpPr>
        <p:spPr>
          <a:xfrm>
            <a:off x="3355848" y="2423160"/>
            <a:ext cx="2084831" cy="475488"/>
          </a:xfrm>
          <a:prstGeom prst="rect">
            <a:avLst/>
          </a:prstGeom>
          <a:noFill/>
        </p:spPr>
        <p:txBody>
          <a:bodyPr wrap="square" lIns="0" rIns="0" tIns="0" bIns="0" anchor="t">
            <a:spAutoFit/>
          </a:bodyPr>
          <a:lstStyle/>
          <a:p>
            <a:pPr algn="l">
              <a:lnSpc>
                <a:spcPct val="112000"/>
              </a:lnSpc>
              <a:spcAft>
                <a:spcPts val="0"/>
              </a:spcAft>
            </a:pPr>
            <a:r>
              <a:rPr sz="1050" b="0" i="0">
                <a:solidFill>
                  <a:srgbClr val="54666E"/>
                </a:solidFill>
                <a:latin typeface="Calibri"/>
              </a:rPr>
              <a:t>settlements scored for accessibility</a:t>
            </a:r>
          </a:p>
        </p:txBody>
      </p:sp>
      <p:sp>
        <p:nvSpPr>
          <p:cNvPr id="17417" name="Rounded Rectangle 17416"/>
          <p:cNvSpPr/>
          <p:nvPr/>
        </p:nvSpPr>
        <p:spPr>
          <a:xfrm>
            <a:off x="502920" y="3172968"/>
            <a:ext cx="2487168" cy="1316736"/>
          </a:xfrm>
          <a:prstGeom prst="roundRect">
            <a:avLst>
              <a:gd name="adj" fmla="val 6000"/>
            </a:avLst>
          </a:prstGeom>
          <a:solidFill>
            <a:srgbClr val="EEF3F6"/>
          </a:solidFill>
          <a:ln w="9525">
            <a:solidFill>
              <a:srgbClr val="D2DD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8" name="TextBox 17417"/>
          <p:cNvSpPr txBox="1"/>
          <p:nvPr/>
        </p:nvSpPr>
        <p:spPr>
          <a:xfrm>
            <a:off x="704088" y="3355848"/>
            <a:ext cx="2084831" cy="502920"/>
          </a:xfrm>
          <a:prstGeom prst="rect">
            <a:avLst/>
          </a:prstGeom>
          <a:noFill/>
        </p:spPr>
        <p:txBody>
          <a:bodyPr wrap="square" lIns="0" rIns="0" tIns="0" bIns="0" anchor="t">
            <a:spAutoFit/>
          </a:bodyPr>
          <a:lstStyle/>
          <a:p>
            <a:pPr algn="l">
              <a:spcAft>
                <a:spcPts val="0"/>
              </a:spcAft>
            </a:pPr>
            <a:r>
              <a:rPr sz="2600" b="1" i="0">
                <a:solidFill>
                  <a:srgbClr val="0070C0"/>
                </a:solidFill>
                <a:latin typeface="Cambria"/>
              </a:rPr>
              <a:t>290</a:t>
            </a:r>
          </a:p>
        </p:txBody>
      </p:sp>
      <p:sp>
        <p:nvSpPr>
          <p:cNvPr id="17419" name="TextBox 17418"/>
          <p:cNvSpPr txBox="1"/>
          <p:nvPr/>
        </p:nvSpPr>
        <p:spPr>
          <a:xfrm>
            <a:off x="704088" y="3904488"/>
            <a:ext cx="2084831" cy="475488"/>
          </a:xfrm>
          <a:prstGeom prst="rect">
            <a:avLst/>
          </a:prstGeom>
          <a:noFill/>
        </p:spPr>
        <p:txBody>
          <a:bodyPr wrap="square" lIns="0" rIns="0" tIns="0" bIns="0" anchor="t">
            <a:spAutoFit/>
          </a:bodyPr>
          <a:lstStyle/>
          <a:p>
            <a:pPr algn="l">
              <a:lnSpc>
                <a:spcPct val="112000"/>
              </a:lnSpc>
              <a:spcAft>
                <a:spcPts val="0"/>
              </a:spcAft>
            </a:pPr>
            <a:r>
              <a:rPr sz="1050" b="0" i="0">
                <a:solidFill>
                  <a:srgbClr val="54666E"/>
                </a:solidFill>
                <a:latin typeface="Calibri"/>
              </a:rPr>
              <a:t>automated tests, unit and browser</a:t>
            </a:r>
          </a:p>
        </p:txBody>
      </p:sp>
      <p:sp>
        <p:nvSpPr>
          <p:cNvPr id="17420" name="Rounded Rectangle 17419"/>
          <p:cNvSpPr/>
          <p:nvPr/>
        </p:nvSpPr>
        <p:spPr>
          <a:xfrm>
            <a:off x="3154680" y="3172968"/>
            <a:ext cx="2487168" cy="1316736"/>
          </a:xfrm>
          <a:prstGeom prst="roundRect">
            <a:avLst>
              <a:gd name="adj" fmla="val 6000"/>
            </a:avLst>
          </a:prstGeom>
          <a:solidFill>
            <a:srgbClr val="EEF3F6"/>
          </a:solidFill>
          <a:ln w="9525">
            <a:solidFill>
              <a:srgbClr val="D2DD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1" name="TextBox 17420"/>
          <p:cNvSpPr txBox="1"/>
          <p:nvPr/>
        </p:nvSpPr>
        <p:spPr>
          <a:xfrm>
            <a:off x="3355848" y="3355848"/>
            <a:ext cx="2084831" cy="502920"/>
          </a:xfrm>
          <a:prstGeom prst="rect">
            <a:avLst/>
          </a:prstGeom>
          <a:noFill/>
        </p:spPr>
        <p:txBody>
          <a:bodyPr wrap="square" lIns="0" rIns="0" tIns="0" bIns="0" anchor="t">
            <a:spAutoFit/>
          </a:bodyPr>
          <a:lstStyle/>
          <a:p>
            <a:pPr algn="l">
              <a:spcAft>
                <a:spcPts val="0"/>
              </a:spcAft>
            </a:pPr>
            <a:r>
              <a:rPr sz="2600" b="1" i="0">
                <a:solidFill>
                  <a:srgbClr val="0070C0"/>
                </a:solidFill>
                <a:latin typeface="Cambria"/>
              </a:rPr>
              <a:t>₹0</a:t>
            </a:r>
          </a:p>
        </p:txBody>
      </p:sp>
      <p:sp>
        <p:nvSpPr>
          <p:cNvPr id="17422" name="TextBox 17421"/>
          <p:cNvSpPr txBox="1"/>
          <p:nvPr/>
        </p:nvSpPr>
        <p:spPr>
          <a:xfrm>
            <a:off x="3355848" y="3904488"/>
            <a:ext cx="2084831" cy="475488"/>
          </a:xfrm>
          <a:prstGeom prst="rect">
            <a:avLst/>
          </a:prstGeom>
          <a:noFill/>
        </p:spPr>
        <p:txBody>
          <a:bodyPr wrap="square" lIns="0" rIns="0" tIns="0" bIns="0" anchor="t">
            <a:spAutoFit/>
          </a:bodyPr>
          <a:lstStyle/>
          <a:p>
            <a:pPr algn="l">
              <a:lnSpc>
                <a:spcPct val="112000"/>
              </a:lnSpc>
              <a:spcAft>
                <a:spcPts val="0"/>
              </a:spcAft>
            </a:pPr>
            <a:r>
              <a:rPr sz="1050" b="0" i="0">
                <a:solidFill>
                  <a:srgbClr val="54666E"/>
                </a:solidFill>
                <a:latin typeface="Calibri"/>
              </a:rPr>
              <a:t>data cost — every source is open</a:t>
            </a:r>
          </a:p>
        </p:txBody>
      </p:sp>
      <p:sp>
        <p:nvSpPr>
          <p:cNvPr id="17423" name="TextBox 17422"/>
          <p:cNvSpPr txBox="1"/>
          <p:nvPr/>
        </p:nvSpPr>
        <p:spPr>
          <a:xfrm>
            <a:off x="502920" y="4754880"/>
            <a:ext cx="4681728" cy="1188720"/>
          </a:xfrm>
          <a:prstGeom prst="rect">
            <a:avLst/>
          </a:prstGeom>
          <a:noFill/>
        </p:spPr>
        <p:txBody>
          <a:bodyPr wrap="square" lIns="0" rIns="0" tIns="0" bIns="0" anchor="t">
            <a:spAutoFit/>
          </a:bodyPr>
          <a:lstStyle/>
          <a:p>
            <a:pPr algn="l">
              <a:spcAft>
                <a:spcPts val="0"/>
              </a:spcAft>
            </a:pPr>
            <a:r>
              <a:rPr sz="1250" b="1" i="0">
                <a:solidFill>
                  <a:srgbClr val="10323C"/>
                </a:solidFill>
                <a:latin typeface="Calibri"/>
              </a:rPr>
              <a:t>Free tier is not a compromise here.</a:t>
            </a:r>
          </a:p>
          <a:p>
            <a:pPr algn="l">
              <a:lnSpc>
                <a:spcPct val="116000"/>
              </a:lnSpc>
              <a:spcAft>
                <a:spcPts val="0"/>
              </a:spcAft>
            </a:pPr>
            <a:r>
              <a:rPr sz="1100" b="0" i="0">
                <a:solidFill>
                  <a:srgbClr val="54666E"/>
                </a:solidFill>
                <a:latin typeface="Calibri"/>
              </a:rPr>
              <a:t>OpenStreetMap, NASA POWER and Copernicus are open and unmetered. The built network ships inside the repository, so a fresh clone runs with no API key, no account and no download.</a:t>
            </a:r>
          </a:p>
        </p:txBody>
      </p:sp>
      <p:sp>
        <p:nvSpPr>
          <p:cNvPr id="17424" name="Rounded Rectangle 17423"/>
          <p:cNvSpPr/>
          <p:nvPr/>
        </p:nvSpPr>
        <p:spPr>
          <a:xfrm>
            <a:off x="5870448" y="1691640"/>
            <a:ext cx="5815584" cy="4279392"/>
          </a:xfrm>
          <a:prstGeom prst="roundRect">
            <a:avLst>
              <a:gd name="adj" fmla="val 6000"/>
            </a:avLst>
          </a:prstGeom>
          <a:solidFill>
            <a:srgbClr val="EEF3F6"/>
          </a:solidFill>
          <a:ln w="9525">
            <a:solidFill>
              <a:srgbClr val="D2DD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5" name="TextBox 17424"/>
          <p:cNvSpPr txBox="1"/>
          <p:nvPr/>
        </p:nvSpPr>
        <p:spPr>
          <a:xfrm>
            <a:off x="6163056" y="1883664"/>
            <a:ext cx="5230368" cy="256032"/>
          </a:xfrm>
          <a:prstGeom prst="rect">
            <a:avLst/>
          </a:prstGeom>
          <a:noFill/>
        </p:spPr>
        <p:txBody>
          <a:bodyPr wrap="square" lIns="0" rIns="0" tIns="0" bIns="0" anchor="t">
            <a:spAutoFit/>
          </a:bodyPr>
          <a:lstStyle/>
          <a:p>
            <a:pPr algn="l">
              <a:spcAft>
                <a:spcPts val="0"/>
              </a:spcAft>
            </a:pPr>
            <a:r>
              <a:rPr sz="1100" b="1" i="0">
                <a:solidFill>
                  <a:srgbClr val="10323C"/>
                </a:solidFill>
                <a:latin typeface="Calibri"/>
              </a:rPr>
              <a:t>CHALLENGES, AND HOW THEY ARE HANDLED</a:t>
            </a:r>
          </a:p>
        </p:txBody>
      </p:sp>
      <p:sp>
        <p:nvSpPr>
          <p:cNvPr id="17426" name="Oval 17425"/>
          <p:cNvSpPr/>
          <p:nvPr/>
        </p:nvSpPr>
        <p:spPr>
          <a:xfrm>
            <a:off x="6163056" y="2295144"/>
            <a:ext cx="182880" cy="182880"/>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
            </a:r>
          </a:p>
        </p:txBody>
      </p:sp>
      <p:sp>
        <p:nvSpPr>
          <p:cNvPr id="17427" name="TextBox 17426"/>
          <p:cNvSpPr txBox="1"/>
          <p:nvPr/>
        </p:nvSpPr>
        <p:spPr>
          <a:xfrm>
            <a:off x="6492240" y="2249424"/>
            <a:ext cx="4901184" cy="274320"/>
          </a:xfrm>
          <a:prstGeom prst="rect">
            <a:avLst/>
          </a:prstGeom>
          <a:noFill/>
        </p:spPr>
        <p:txBody>
          <a:bodyPr wrap="square" lIns="0" rIns="0" tIns="0" bIns="0" anchor="t">
            <a:spAutoFit/>
          </a:bodyPr>
          <a:lstStyle/>
          <a:p>
            <a:pPr algn="l">
              <a:spcAft>
                <a:spcPts val="0"/>
              </a:spcAft>
            </a:pPr>
            <a:r>
              <a:rPr sz="1200" b="1" i="0">
                <a:solidFill>
                  <a:srgbClr val="10323C"/>
                </a:solidFill>
                <a:latin typeface="Calibri"/>
              </a:rPr>
              <a:t>No live road-closure feed exists, at any price</a:t>
            </a:r>
          </a:p>
        </p:txBody>
      </p:sp>
      <p:sp>
        <p:nvSpPr>
          <p:cNvPr id="17428" name="TextBox 17427"/>
          <p:cNvSpPr txBox="1"/>
          <p:nvPr/>
        </p:nvSpPr>
        <p:spPr>
          <a:xfrm>
            <a:off x="6492240" y="2560320"/>
            <a:ext cx="4901184" cy="868680"/>
          </a:xfrm>
          <a:prstGeom prst="rect">
            <a:avLst/>
          </a:prstGeom>
          <a:noFill/>
        </p:spPr>
        <p:txBody>
          <a:bodyPr wrap="square" lIns="0" rIns="0" tIns="0" bIns="0" anchor="t">
            <a:spAutoFit/>
          </a:bodyPr>
          <a:lstStyle/>
          <a:p>
            <a:pPr algn="l">
              <a:lnSpc>
                <a:spcPct val="115000"/>
              </a:lnSpc>
              <a:spcAft>
                <a:spcPts val="0"/>
              </a:spcAft>
            </a:pPr>
            <a:r>
              <a:rPr sz="1050" b="0" i="0">
                <a:solidFill>
                  <a:srgbClr val="54666E"/>
                </a:solidFill>
                <a:latin typeface="Calibri"/>
              </a:rPr>
              <a:t>State PWD and NHIDCL publish closures as irregular press notes. So the platform predicts risk from rainfall and terrain, and is designed to close the loop with driver and operator reports collected in-app.</a:t>
            </a:r>
          </a:p>
        </p:txBody>
      </p:sp>
      <p:sp>
        <p:nvSpPr>
          <p:cNvPr id="17429" name="Oval 17428"/>
          <p:cNvSpPr/>
          <p:nvPr/>
        </p:nvSpPr>
        <p:spPr>
          <a:xfrm>
            <a:off x="6163056" y="3557015"/>
            <a:ext cx="182880" cy="182880"/>
          </a:xfrm>
          <a:prstGeom prst="ellipse">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
            </a:r>
          </a:p>
        </p:txBody>
      </p:sp>
      <p:sp>
        <p:nvSpPr>
          <p:cNvPr id="17430" name="TextBox 17429"/>
          <p:cNvSpPr txBox="1"/>
          <p:nvPr/>
        </p:nvSpPr>
        <p:spPr>
          <a:xfrm>
            <a:off x="6492240" y="3511296"/>
            <a:ext cx="4901184" cy="274320"/>
          </a:xfrm>
          <a:prstGeom prst="rect">
            <a:avLst/>
          </a:prstGeom>
          <a:noFill/>
        </p:spPr>
        <p:txBody>
          <a:bodyPr wrap="square" lIns="0" rIns="0" tIns="0" bIns="0" anchor="t">
            <a:spAutoFit/>
          </a:bodyPr>
          <a:lstStyle/>
          <a:p>
            <a:pPr algn="l">
              <a:spcAft>
                <a:spcPts val="0"/>
              </a:spcAft>
            </a:pPr>
            <a:r>
              <a:rPr sz="1200" b="1" i="0">
                <a:solidFill>
                  <a:srgbClr val="10323C"/>
                </a:solidFill>
                <a:latin typeface="Calibri"/>
              </a:rPr>
              <a:t>OSM records population on only 15% of settlements</a:t>
            </a:r>
          </a:p>
        </p:txBody>
      </p:sp>
      <p:sp>
        <p:nvSpPr>
          <p:cNvPr id="17431" name="TextBox 17430"/>
          <p:cNvSpPr txBox="1"/>
          <p:nvPr/>
        </p:nvSpPr>
        <p:spPr>
          <a:xfrm>
            <a:off x="6492240" y="3822191"/>
            <a:ext cx="4901184" cy="868680"/>
          </a:xfrm>
          <a:prstGeom prst="rect">
            <a:avLst/>
          </a:prstGeom>
          <a:noFill/>
        </p:spPr>
        <p:txBody>
          <a:bodyPr wrap="square" lIns="0" rIns="0" tIns="0" bIns="0" anchor="t">
            <a:spAutoFit/>
          </a:bodyPr>
          <a:lstStyle/>
          <a:p>
            <a:pPr algn="l">
              <a:lnSpc>
                <a:spcPct val="115000"/>
              </a:lnSpc>
              <a:spcAft>
                <a:spcPts val="0"/>
              </a:spcAft>
            </a:pPr>
            <a:r>
              <a:rPr sz="1050" b="0" i="0">
                <a:solidFill>
                  <a:srgbClr val="54666E"/>
                </a:solidFill>
                <a:latin typeface="Calibri"/>
              </a:rPr>
              <a:t>Ranking by population ranks where contributors filled in a number. Facility siting therefore ranks by settlements reached and reports coverage alongside. The Census 2011 village directory is the clean fix.</a:t>
            </a:r>
          </a:p>
        </p:txBody>
      </p:sp>
      <p:sp>
        <p:nvSpPr>
          <p:cNvPr id="17432" name="Oval 17431"/>
          <p:cNvSpPr/>
          <p:nvPr/>
        </p:nvSpPr>
        <p:spPr>
          <a:xfrm>
            <a:off x="6163056" y="4818888"/>
            <a:ext cx="182880" cy="18288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
            </a:r>
          </a:p>
        </p:txBody>
      </p:sp>
      <p:sp>
        <p:nvSpPr>
          <p:cNvPr id="17433" name="TextBox 17432"/>
          <p:cNvSpPr txBox="1"/>
          <p:nvPr/>
        </p:nvSpPr>
        <p:spPr>
          <a:xfrm>
            <a:off x="6492240" y="4773168"/>
            <a:ext cx="4901184" cy="274320"/>
          </a:xfrm>
          <a:prstGeom prst="rect">
            <a:avLst/>
          </a:prstGeom>
          <a:noFill/>
        </p:spPr>
        <p:txBody>
          <a:bodyPr wrap="square" lIns="0" rIns="0" tIns="0" bIns="0" anchor="t">
            <a:spAutoFit/>
          </a:bodyPr>
          <a:lstStyle/>
          <a:p>
            <a:pPr algn="l">
              <a:spcAft>
                <a:spcPts val="0"/>
              </a:spcAft>
            </a:pPr>
            <a:r>
              <a:rPr sz="1200" b="1" i="0">
                <a:solidFill>
                  <a:srgbClr val="10323C"/>
                </a:solidFill>
                <a:latin typeface="Calibri"/>
              </a:rPr>
              <a:t>Overpass and DEM APIs rate-limit hard</a:t>
            </a:r>
          </a:p>
        </p:txBody>
      </p:sp>
      <p:sp>
        <p:nvSpPr>
          <p:cNvPr id="17434" name="TextBox 17433"/>
          <p:cNvSpPr txBox="1"/>
          <p:nvPr/>
        </p:nvSpPr>
        <p:spPr>
          <a:xfrm>
            <a:off x="6492240" y="5084064"/>
            <a:ext cx="4901184" cy="868680"/>
          </a:xfrm>
          <a:prstGeom prst="rect">
            <a:avLst/>
          </a:prstGeom>
          <a:noFill/>
        </p:spPr>
        <p:txBody>
          <a:bodyPr wrap="square" lIns="0" rIns="0" tIns="0" bIns="0" anchor="t">
            <a:spAutoFit/>
          </a:bodyPr>
          <a:lstStyle/>
          <a:p>
            <a:pPr algn="l">
              <a:lnSpc>
                <a:spcPct val="115000"/>
              </a:lnSpc>
              <a:spcAft>
                <a:spcPts val="0"/>
              </a:spcAft>
            </a:pPr>
            <a:r>
              <a:rPr sz="1050" b="0" i="0">
                <a:solidFill>
                  <a:srgbClr val="54666E"/>
                </a:solidFill>
                <a:latin typeface="Calibri"/>
              </a:rPr>
              <a:t>Download is an isolated layer with an offline --from-file path. One teammate fetches once; the built artefacts are committed, so nothing at runtime depends on a mirror being up.</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1783080" y="91440"/>
            <a:ext cx="7818120" cy="960120"/>
          </a:xfrm>
        </p:spPr>
        <p:txBody>
          <a:bodyPr wrap="square"/>
          <a:lstStyle/>
          <a:p>
            <a:pPr eaLnBrk="1" hangingPunct="1"/>
            <a:r>
              <a:rPr sz="3000" b="1">
                <a:solidFill>
                  <a:srgbClr val="10323C"/>
                </a:solidFill>
                <a:latin typeface="Calibri"/>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02920" y="1188720"/>
            <a:ext cx="10058400" cy="274320"/>
          </a:xfrm>
          <a:prstGeom prst="rect">
            <a:avLst/>
          </a:prstGeom>
          <a:noFill/>
        </p:spPr>
        <p:txBody>
          <a:bodyPr wrap="square" lIns="0" rIns="0" tIns="0" bIns="0" anchor="t">
            <a:spAutoFit/>
          </a:bodyPr>
          <a:lstStyle/>
          <a:p>
            <a:pPr algn="l">
              <a:spcAft>
                <a:spcPts val="0"/>
              </a:spcAft>
            </a:pPr>
            <a:r>
              <a:rPr sz="1200" b="1" i="0">
                <a:solidFill>
                  <a:srgbClr val="0070C0"/>
                </a:solidFill>
                <a:latin typeface="Calibri"/>
              </a:rPr>
              <a:t>WHAT THE PLATFORM CHANGES, IN NUMBERS IT PRODUCES TODAY</a:t>
            </a:r>
          </a:p>
        </p:txBody>
      </p:sp>
      <p:sp>
        <p:nvSpPr>
          <p:cNvPr id="17411" name="Rounded Rectangle 17410"/>
          <p:cNvSpPr/>
          <p:nvPr/>
        </p:nvSpPr>
        <p:spPr>
          <a:xfrm>
            <a:off x="502920" y="1627632"/>
            <a:ext cx="3538728" cy="1938528"/>
          </a:xfrm>
          <a:prstGeom prst="roundRect">
            <a:avLst>
              <a:gd name="adj" fmla="val 6000"/>
            </a:avLst>
          </a:prstGeom>
          <a:solidFill>
            <a:srgbClr val="EEF3F6"/>
          </a:solidFill>
          <a:ln w="9525">
            <a:solidFill>
              <a:srgbClr val="D2DD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2" name="TextBox 17411"/>
          <p:cNvSpPr txBox="1"/>
          <p:nvPr/>
        </p:nvSpPr>
        <p:spPr>
          <a:xfrm>
            <a:off x="740664" y="1810512"/>
            <a:ext cx="3063240" cy="548640"/>
          </a:xfrm>
          <a:prstGeom prst="rect">
            <a:avLst/>
          </a:prstGeom>
          <a:noFill/>
        </p:spPr>
        <p:txBody>
          <a:bodyPr wrap="square" lIns="0" rIns="0" tIns="0" bIns="0" anchor="t">
            <a:spAutoFit/>
          </a:bodyPr>
          <a:lstStyle/>
          <a:p>
            <a:pPr algn="l">
              <a:spcAft>
                <a:spcPts val="0"/>
              </a:spcAft>
            </a:pPr>
            <a:r>
              <a:rPr sz="3000" b="1" i="0">
                <a:solidFill>
                  <a:srgbClr val="D03B3B"/>
                </a:solidFill>
                <a:latin typeface="Cambria"/>
              </a:rPr>
              <a:t>₹5,032</a:t>
            </a:r>
          </a:p>
        </p:txBody>
      </p:sp>
      <p:sp>
        <p:nvSpPr>
          <p:cNvPr id="17413" name="TextBox 17412"/>
          <p:cNvSpPr txBox="1"/>
          <p:nvPr/>
        </p:nvSpPr>
        <p:spPr>
          <a:xfrm>
            <a:off x="740664" y="2395728"/>
            <a:ext cx="3063240" cy="237744"/>
          </a:xfrm>
          <a:prstGeom prst="rect">
            <a:avLst/>
          </a:prstGeom>
          <a:noFill/>
        </p:spPr>
        <p:txBody>
          <a:bodyPr wrap="square" lIns="0" rIns="0" tIns="0" bIns="0" anchor="t">
            <a:spAutoFit/>
          </a:bodyPr>
          <a:lstStyle/>
          <a:p>
            <a:pPr algn="l">
              <a:spcAft>
                <a:spcPts val="0"/>
              </a:spcAft>
            </a:pPr>
            <a:r>
              <a:rPr sz="1000" b="1" i="0">
                <a:solidFill>
                  <a:srgbClr val="54666E"/>
                </a:solidFill>
                <a:latin typeface="Calibri"/>
              </a:rPr>
              <a:t>PER TONNE</a:t>
            </a:r>
          </a:p>
        </p:txBody>
      </p:sp>
      <p:sp>
        <p:nvSpPr>
          <p:cNvPr id="17414" name="TextBox 17413"/>
          <p:cNvSpPr txBox="1"/>
          <p:nvPr/>
        </p:nvSpPr>
        <p:spPr>
          <a:xfrm>
            <a:off x="740664" y="2706624"/>
            <a:ext cx="3063240" cy="877824"/>
          </a:xfrm>
          <a:prstGeom prst="rect">
            <a:avLst/>
          </a:prstGeom>
          <a:noFill/>
        </p:spPr>
        <p:txBody>
          <a:bodyPr wrap="square" lIns="0" rIns="0" tIns="0" bIns="0" anchor="t">
            <a:spAutoFit/>
          </a:bodyPr>
          <a:lstStyle/>
          <a:p>
            <a:pPr algn="l">
              <a:lnSpc>
                <a:spcPct val="116000"/>
              </a:lnSpc>
              <a:spcAft>
                <a:spcPts val="0"/>
              </a:spcAft>
            </a:pPr>
            <a:r>
              <a:rPr sz="1100" b="0" i="0">
                <a:solidFill>
                  <a:srgbClr val="10323C"/>
                </a:solidFill>
                <a:latin typeface="Calibri"/>
              </a:rPr>
              <a:t>separates the best and worst way to move freight Kohima → Guwahati in July. Rail-mixed: 48.3 h at ₹928. Air: 34.2 h at ₹5,954.</a:t>
            </a:r>
          </a:p>
        </p:txBody>
      </p:sp>
      <p:sp>
        <p:nvSpPr>
          <p:cNvPr id="17415" name="Rounded Rectangle 17414"/>
          <p:cNvSpPr/>
          <p:nvPr/>
        </p:nvSpPr>
        <p:spPr>
          <a:xfrm>
            <a:off x="4325112" y="1627632"/>
            <a:ext cx="3538728" cy="1938528"/>
          </a:xfrm>
          <a:prstGeom prst="roundRect">
            <a:avLst>
              <a:gd name="adj" fmla="val 6000"/>
            </a:avLst>
          </a:prstGeom>
          <a:solidFill>
            <a:srgbClr val="EEF3F6"/>
          </a:solidFill>
          <a:ln w="9525">
            <a:solidFill>
              <a:srgbClr val="D2DD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6" name="TextBox 17415"/>
          <p:cNvSpPr txBox="1"/>
          <p:nvPr/>
        </p:nvSpPr>
        <p:spPr>
          <a:xfrm>
            <a:off x="4562855" y="1810512"/>
            <a:ext cx="3063240" cy="548640"/>
          </a:xfrm>
          <a:prstGeom prst="rect">
            <a:avLst/>
          </a:prstGeom>
          <a:noFill/>
        </p:spPr>
        <p:txBody>
          <a:bodyPr wrap="square" lIns="0" rIns="0" tIns="0" bIns="0" anchor="t">
            <a:spAutoFit/>
          </a:bodyPr>
          <a:lstStyle/>
          <a:p>
            <a:pPr algn="l">
              <a:spcAft>
                <a:spcPts val="0"/>
              </a:spcAft>
            </a:pPr>
            <a:r>
              <a:rPr sz="3000" b="1" i="0">
                <a:solidFill>
                  <a:srgbClr val="E0A100"/>
                </a:solidFill>
                <a:latin typeface="Cambria"/>
              </a:rPr>
              <a:t>+70.8 h</a:t>
            </a:r>
          </a:p>
        </p:txBody>
      </p:sp>
      <p:sp>
        <p:nvSpPr>
          <p:cNvPr id="17417" name="TextBox 17416"/>
          <p:cNvSpPr txBox="1"/>
          <p:nvPr/>
        </p:nvSpPr>
        <p:spPr>
          <a:xfrm>
            <a:off x="4562855" y="2395728"/>
            <a:ext cx="3063240" cy="237744"/>
          </a:xfrm>
          <a:prstGeom prst="rect">
            <a:avLst/>
          </a:prstGeom>
          <a:noFill/>
        </p:spPr>
        <p:txBody>
          <a:bodyPr wrap="square" lIns="0" rIns="0" tIns="0" bIns="0" anchor="t">
            <a:spAutoFit/>
          </a:bodyPr>
          <a:lstStyle/>
          <a:p>
            <a:pPr algn="l">
              <a:spcAft>
                <a:spcPts val="0"/>
              </a:spcAft>
            </a:pPr>
            <a:r>
              <a:rPr sz="1000" b="1" i="0">
                <a:solidFill>
                  <a:srgbClr val="54666E"/>
                </a:solidFill>
                <a:latin typeface="Calibri"/>
              </a:rPr>
              <a:t>MONSOON PENALTY</a:t>
            </a:r>
          </a:p>
        </p:txBody>
      </p:sp>
      <p:sp>
        <p:nvSpPr>
          <p:cNvPr id="17418" name="TextBox 17417"/>
          <p:cNvSpPr txBox="1"/>
          <p:nvPr/>
        </p:nvSpPr>
        <p:spPr>
          <a:xfrm>
            <a:off x="4562855" y="2706624"/>
            <a:ext cx="3063240" cy="877824"/>
          </a:xfrm>
          <a:prstGeom prst="rect">
            <a:avLst/>
          </a:prstGeom>
          <a:noFill/>
        </p:spPr>
        <p:txBody>
          <a:bodyPr wrap="square" lIns="0" rIns="0" tIns="0" bIns="0" anchor="t">
            <a:spAutoFit/>
          </a:bodyPr>
          <a:lstStyle/>
          <a:p>
            <a:pPr algn="l">
              <a:lnSpc>
                <a:spcPct val="116000"/>
              </a:lnSpc>
              <a:spcAft>
                <a:spcPts val="0"/>
              </a:spcAft>
            </a:pPr>
            <a:r>
              <a:rPr sz="1100" b="0" i="0">
                <a:solidFill>
                  <a:srgbClr val="10323C"/>
                </a:solidFill>
                <a:latin typeface="Calibri"/>
              </a:rPr>
              <a:t>on the same Aizawl → Guwahati plan — 64.5 h in January, 135.3 h in July. Shippers see it before the truck leaves, not after.</a:t>
            </a:r>
          </a:p>
        </p:txBody>
      </p:sp>
      <p:sp>
        <p:nvSpPr>
          <p:cNvPr id="17419" name="Rounded Rectangle 17418"/>
          <p:cNvSpPr/>
          <p:nvPr/>
        </p:nvSpPr>
        <p:spPr>
          <a:xfrm>
            <a:off x="8147304" y="1627632"/>
            <a:ext cx="3538728" cy="1938528"/>
          </a:xfrm>
          <a:prstGeom prst="roundRect">
            <a:avLst>
              <a:gd name="adj" fmla="val 6000"/>
            </a:avLst>
          </a:prstGeom>
          <a:solidFill>
            <a:srgbClr val="EEF3F6"/>
          </a:solidFill>
          <a:ln w="9525">
            <a:solidFill>
              <a:srgbClr val="D2DD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0" name="TextBox 17419"/>
          <p:cNvSpPr txBox="1"/>
          <p:nvPr/>
        </p:nvSpPr>
        <p:spPr>
          <a:xfrm>
            <a:off x="8385048" y="1810512"/>
            <a:ext cx="3063240" cy="548640"/>
          </a:xfrm>
          <a:prstGeom prst="rect">
            <a:avLst/>
          </a:prstGeom>
          <a:noFill/>
        </p:spPr>
        <p:txBody>
          <a:bodyPr wrap="square" lIns="0" rIns="0" tIns="0" bIns="0" anchor="t">
            <a:spAutoFit/>
          </a:bodyPr>
          <a:lstStyle/>
          <a:p>
            <a:pPr algn="l">
              <a:spcAft>
                <a:spcPts val="0"/>
              </a:spcAft>
            </a:pPr>
            <a:r>
              <a:rPr sz="3000" b="1" i="0">
                <a:solidFill>
                  <a:srgbClr val="0070C0"/>
                </a:solidFill>
                <a:latin typeface="Cambria"/>
              </a:rPr>
              <a:t>1,309</a:t>
            </a:r>
          </a:p>
        </p:txBody>
      </p:sp>
      <p:sp>
        <p:nvSpPr>
          <p:cNvPr id="17421" name="TextBox 17420"/>
          <p:cNvSpPr txBox="1"/>
          <p:nvPr/>
        </p:nvSpPr>
        <p:spPr>
          <a:xfrm>
            <a:off x="8385048" y="2395728"/>
            <a:ext cx="3063240" cy="237744"/>
          </a:xfrm>
          <a:prstGeom prst="rect">
            <a:avLst/>
          </a:prstGeom>
          <a:noFill/>
        </p:spPr>
        <p:txBody>
          <a:bodyPr wrap="square" lIns="0" rIns="0" tIns="0" bIns="0" anchor="t">
            <a:spAutoFit/>
          </a:bodyPr>
          <a:lstStyle/>
          <a:p>
            <a:pPr algn="l">
              <a:spcAft>
                <a:spcPts val="0"/>
              </a:spcAft>
            </a:pPr>
            <a:r>
              <a:rPr sz="1000" b="1" i="0">
                <a:solidFill>
                  <a:srgbClr val="54666E"/>
                </a:solidFill>
                <a:latin typeface="Calibri"/>
              </a:rPr>
              <a:t>SEGMENTS AT SEVERE RISK</a:t>
            </a:r>
          </a:p>
        </p:txBody>
      </p:sp>
      <p:sp>
        <p:nvSpPr>
          <p:cNvPr id="17422" name="TextBox 17421"/>
          <p:cNvSpPr txBox="1"/>
          <p:nvPr/>
        </p:nvSpPr>
        <p:spPr>
          <a:xfrm>
            <a:off x="8385048" y="2706624"/>
            <a:ext cx="3063240" cy="877824"/>
          </a:xfrm>
          <a:prstGeom prst="rect">
            <a:avLst/>
          </a:prstGeom>
          <a:noFill/>
        </p:spPr>
        <p:txBody>
          <a:bodyPr wrap="square" lIns="0" rIns="0" tIns="0" bIns="0" anchor="t">
            <a:spAutoFit/>
          </a:bodyPr>
          <a:lstStyle/>
          <a:p>
            <a:pPr algn="l">
              <a:lnSpc>
                <a:spcPct val="116000"/>
              </a:lnSpc>
              <a:spcAft>
                <a:spcPts val="0"/>
              </a:spcAft>
            </a:pPr>
            <a:r>
              <a:rPr sz="1100" b="0" i="0">
                <a:solidFill>
                  <a:srgbClr val="10323C"/>
                </a:solidFill>
                <a:latin typeface="Calibri"/>
              </a:rPr>
              <a:t>of the 4,033 major roads in July — and on 1,055 of them it is flood, not landslide, that dominates. That changes what you build.</a:t>
            </a:r>
          </a:p>
        </p:txBody>
      </p:sp>
      <p:sp>
        <p:nvSpPr>
          <p:cNvPr id="17423" name="Rounded Rectangle 17422"/>
          <p:cNvSpPr/>
          <p:nvPr/>
        </p:nvSpPr>
        <p:spPr>
          <a:xfrm>
            <a:off x="502920" y="3767328"/>
            <a:ext cx="11183112" cy="2331720"/>
          </a:xfrm>
          <a:prstGeom prst="roundRect">
            <a:avLst>
              <a:gd name="adj" fmla="val 6000"/>
            </a:avLst>
          </a:prstGeom>
          <a:solidFill>
            <a:srgbClr val="EEF3F6"/>
          </a:solidFill>
          <a:ln w="9525">
            <a:solidFill>
              <a:srgbClr val="D2DD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4" name="TextBox 17423"/>
          <p:cNvSpPr txBox="1"/>
          <p:nvPr/>
        </p:nvSpPr>
        <p:spPr>
          <a:xfrm>
            <a:off x="804672" y="3968496"/>
            <a:ext cx="10579608" cy="256032"/>
          </a:xfrm>
          <a:prstGeom prst="rect">
            <a:avLst/>
          </a:prstGeom>
          <a:noFill/>
        </p:spPr>
        <p:txBody>
          <a:bodyPr wrap="square" lIns="0" rIns="0" tIns="0" bIns="0" anchor="t">
            <a:spAutoFit/>
          </a:bodyPr>
          <a:lstStyle/>
          <a:p>
            <a:pPr algn="l">
              <a:spcAft>
                <a:spcPts val="0"/>
              </a:spcAft>
            </a:pPr>
            <a:r>
              <a:rPr sz="1100" b="1" i="0">
                <a:solidFill>
                  <a:srgbClr val="10323C"/>
                </a:solidFill>
                <a:latin typeface="Calibri"/>
              </a:rPr>
              <a:t>WHO BENEFITS</a:t>
            </a:r>
          </a:p>
        </p:txBody>
      </p:sp>
      <p:sp>
        <p:nvSpPr>
          <p:cNvPr id="17425" name="Oval 17424"/>
          <p:cNvSpPr/>
          <p:nvPr/>
        </p:nvSpPr>
        <p:spPr>
          <a:xfrm>
            <a:off x="804672" y="4389120"/>
            <a:ext cx="182880" cy="18288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
            </a:r>
          </a:p>
        </p:txBody>
      </p:sp>
      <p:sp>
        <p:nvSpPr>
          <p:cNvPr id="17426" name="TextBox 17425"/>
          <p:cNvSpPr txBox="1"/>
          <p:nvPr/>
        </p:nvSpPr>
        <p:spPr>
          <a:xfrm>
            <a:off x="1133856" y="4343400"/>
            <a:ext cx="2468880" cy="274320"/>
          </a:xfrm>
          <a:prstGeom prst="rect">
            <a:avLst/>
          </a:prstGeom>
          <a:noFill/>
        </p:spPr>
        <p:txBody>
          <a:bodyPr wrap="square" lIns="0" rIns="0" tIns="0" bIns="0" anchor="t">
            <a:spAutoFit/>
          </a:bodyPr>
          <a:lstStyle/>
          <a:p>
            <a:pPr algn="l">
              <a:spcAft>
                <a:spcPts val="0"/>
              </a:spcAft>
            </a:pPr>
            <a:r>
              <a:rPr sz="1200" b="1" i="0">
                <a:solidFill>
                  <a:srgbClr val="10323C"/>
                </a:solidFill>
                <a:latin typeface="Calibri"/>
              </a:rPr>
              <a:t>Farmers and FPOs</a:t>
            </a:r>
          </a:p>
        </p:txBody>
      </p:sp>
      <p:sp>
        <p:nvSpPr>
          <p:cNvPr id="17427" name="TextBox 17426"/>
          <p:cNvSpPr txBox="1"/>
          <p:nvPr/>
        </p:nvSpPr>
        <p:spPr>
          <a:xfrm>
            <a:off x="3749039" y="4343400"/>
            <a:ext cx="7635240" cy="475488"/>
          </a:xfrm>
          <a:prstGeom prst="rect">
            <a:avLst/>
          </a:prstGeom>
          <a:noFill/>
        </p:spPr>
        <p:txBody>
          <a:bodyPr wrap="square" lIns="0" rIns="0" tIns="0" bIns="0" anchor="t">
            <a:spAutoFit/>
          </a:bodyPr>
          <a:lstStyle/>
          <a:p>
            <a:pPr algn="l">
              <a:lnSpc>
                <a:spcPct val="114000"/>
              </a:lnSpc>
              <a:spcAft>
                <a:spcPts val="0"/>
              </a:spcAft>
            </a:pPr>
            <a:r>
              <a:rPr sz="1100" b="0" i="0">
                <a:solidFill>
                  <a:srgbClr val="54666E"/>
                </a:solidFill>
                <a:latin typeface="Calibri"/>
              </a:rPr>
              <a:t>Billbari reaches a market in 3.9 h in the dry season and 32.0 h in the monsoon. Knowing which day it is decides what you plant and when you sell.</a:t>
            </a:r>
          </a:p>
        </p:txBody>
      </p:sp>
      <p:sp>
        <p:nvSpPr>
          <p:cNvPr id="17428" name="Oval 17427"/>
          <p:cNvSpPr/>
          <p:nvPr/>
        </p:nvSpPr>
        <p:spPr>
          <a:xfrm>
            <a:off x="804672" y="4937759"/>
            <a:ext cx="182880" cy="18288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
            </a:r>
          </a:p>
        </p:txBody>
      </p:sp>
      <p:sp>
        <p:nvSpPr>
          <p:cNvPr id="17429" name="TextBox 17428"/>
          <p:cNvSpPr txBox="1"/>
          <p:nvPr/>
        </p:nvSpPr>
        <p:spPr>
          <a:xfrm>
            <a:off x="1133856" y="4892040"/>
            <a:ext cx="2468880" cy="274320"/>
          </a:xfrm>
          <a:prstGeom prst="rect">
            <a:avLst/>
          </a:prstGeom>
          <a:noFill/>
        </p:spPr>
        <p:txBody>
          <a:bodyPr wrap="square" lIns="0" rIns="0" tIns="0" bIns="0" anchor="t">
            <a:spAutoFit/>
          </a:bodyPr>
          <a:lstStyle/>
          <a:p>
            <a:pPr algn="l">
              <a:spcAft>
                <a:spcPts val="0"/>
              </a:spcAft>
            </a:pPr>
            <a:r>
              <a:rPr sz="1200" b="1" i="0">
                <a:solidFill>
                  <a:srgbClr val="10323C"/>
                </a:solidFill>
                <a:latin typeface="Calibri"/>
              </a:rPr>
              <a:t>Transporters and 3PLs</a:t>
            </a:r>
          </a:p>
        </p:txBody>
      </p:sp>
      <p:sp>
        <p:nvSpPr>
          <p:cNvPr id="17430" name="TextBox 17429"/>
          <p:cNvSpPr txBox="1"/>
          <p:nvPr/>
        </p:nvSpPr>
        <p:spPr>
          <a:xfrm>
            <a:off x="3749039" y="4892040"/>
            <a:ext cx="7635240" cy="475488"/>
          </a:xfrm>
          <a:prstGeom prst="rect">
            <a:avLst/>
          </a:prstGeom>
          <a:noFill/>
        </p:spPr>
        <p:txBody>
          <a:bodyPr wrap="square" lIns="0" rIns="0" tIns="0" bIns="0" anchor="t">
            <a:spAutoFit/>
          </a:bodyPr>
          <a:lstStyle/>
          <a:p>
            <a:pPr algn="l">
              <a:lnSpc>
                <a:spcPct val="114000"/>
              </a:lnSpc>
              <a:spcAft>
                <a:spcPts val="0"/>
              </a:spcAft>
            </a:pPr>
            <a:r>
              <a:rPr sz="1100" b="0" i="0">
                <a:solidFill>
                  <a:srgbClr val="54666E"/>
                </a:solidFill>
                <a:latin typeface="Calibri"/>
              </a:rPr>
              <a:t>A defensible mode mix per consignment, with the transhipment cost counted and the monsoon delay priced, instead of a rate card and a guess.</a:t>
            </a:r>
          </a:p>
        </p:txBody>
      </p:sp>
      <p:sp>
        <p:nvSpPr>
          <p:cNvPr id="17431" name="Oval 17430"/>
          <p:cNvSpPr/>
          <p:nvPr/>
        </p:nvSpPr>
        <p:spPr>
          <a:xfrm>
            <a:off x="804672" y="5486399"/>
            <a:ext cx="182880" cy="182880"/>
          </a:xfrm>
          <a:prstGeom prst="ellipse">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
            </a:r>
          </a:p>
        </p:txBody>
      </p:sp>
      <p:sp>
        <p:nvSpPr>
          <p:cNvPr id="17432" name="TextBox 17431"/>
          <p:cNvSpPr txBox="1"/>
          <p:nvPr/>
        </p:nvSpPr>
        <p:spPr>
          <a:xfrm>
            <a:off x="1133856" y="5440679"/>
            <a:ext cx="2468880" cy="274320"/>
          </a:xfrm>
          <a:prstGeom prst="rect">
            <a:avLst/>
          </a:prstGeom>
          <a:noFill/>
        </p:spPr>
        <p:txBody>
          <a:bodyPr wrap="square" lIns="0" rIns="0" tIns="0" bIns="0" anchor="t">
            <a:spAutoFit/>
          </a:bodyPr>
          <a:lstStyle/>
          <a:p>
            <a:pPr algn="l">
              <a:spcAft>
                <a:spcPts val="0"/>
              </a:spcAft>
            </a:pPr>
            <a:r>
              <a:rPr sz="1200" b="1" i="0">
                <a:solidFill>
                  <a:srgbClr val="10323C"/>
                </a:solidFill>
                <a:latin typeface="Calibri"/>
              </a:rPr>
              <a:t>MDoNER, NEC and state PWDs</a:t>
            </a:r>
          </a:p>
        </p:txBody>
      </p:sp>
      <p:sp>
        <p:nvSpPr>
          <p:cNvPr id="17433" name="TextBox 17432"/>
          <p:cNvSpPr txBox="1"/>
          <p:nvPr/>
        </p:nvSpPr>
        <p:spPr>
          <a:xfrm>
            <a:off x="3749039" y="5440679"/>
            <a:ext cx="7635240" cy="475488"/>
          </a:xfrm>
          <a:prstGeom prst="rect">
            <a:avLst/>
          </a:prstGeom>
          <a:noFill/>
        </p:spPr>
        <p:txBody>
          <a:bodyPr wrap="square" lIns="0" rIns="0" tIns="0" bIns="0" anchor="t">
            <a:spAutoFit/>
          </a:bodyPr>
          <a:lstStyle/>
          <a:p>
            <a:pPr algn="l">
              <a:lnSpc>
                <a:spcPct val="114000"/>
              </a:lnSpc>
              <a:spcAft>
                <a:spcPts val="0"/>
              </a:spcAft>
            </a:pPr>
            <a:r>
              <a:rPr sz="1100" b="0" i="0">
                <a:solidFill>
                  <a:srgbClr val="54666E"/>
                </a:solidFill>
                <a:latin typeface="Calibri"/>
              </a:rPr>
              <a:t>Site a cold store where it reaches 155 settlements rather than 79, and rank corridor spending by the risk that is actually there.</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1783080" y="91440"/>
            <a:ext cx="7818120" cy="960120"/>
          </a:xfrm>
        </p:spPr>
        <p:txBody>
          <a:bodyPr wrap="square"/>
          <a:lstStyle/>
          <a:p>
            <a:pPr eaLnBrk="1" hangingPunct="1"/>
            <a:r>
              <a:rPr sz="3000" b="1">
                <a:solidFill>
                  <a:srgbClr val="10323C"/>
                </a:solidFill>
                <a:latin typeface="Calibri"/>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02920" y="1188720"/>
            <a:ext cx="10058400" cy="274320"/>
          </a:xfrm>
          <a:prstGeom prst="rect">
            <a:avLst/>
          </a:prstGeom>
          <a:noFill/>
        </p:spPr>
        <p:txBody>
          <a:bodyPr wrap="square" lIns="0" rIns="0" tIns="0" bIns="0" anchor="t">
            <a:spAutoFit/>
          </a:bodyPr>
          <a:lstStyle/>
          <a:p>
            <a:pPr algn="l">
              <a:spcAft>
                <a:spcPts val="0"/>
              </a:spcAft>
            </a:pPr>
            <a:r>
              <a:rPr sz="1200" b="1" i="0">
                <a:solidFill>
                  <a:srgbClr val="0070C0"/>
                </a:solidFill>
                <a:latin typeface="Calibri"/>
              </a:rPr>
              <a:t>EVERY SOURCE IS OPEN, FREE AND CITED IN THE REPOSITORY</a:t>
            </a:r>
          </a:p>
        </p:txBody>
      </p:sp>
      <p:sp>
        <p:nvSpPr>
          <p:cNvPr id="17411" name="Rounded Rectangle 17410"/>
          <p:cNvSpPr/>
          <p:nvPr/>
        </p:nvSpPr>
        <p:spPr>
          <a:xfrm>
            <a:off x="502920" y="1627632"/>
            <a:ext cx="5312664" cy="3703320"/>
          </a:xfrm>
          <a:prstGeom prst="roundRect">
            <a:avLst>
              <a:gd name="adj" fmla="val 6000"/>
            </a:avLst>
          </a:prstGeom>
          <a:solidFill>
            <a:srgbClr val="EEF3F6"/>
          </a:solidFill>
          <a:ln w="9525">
            <a:solidFill>
              <a:srgbClr val="D2DD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2" name="TextBox 17411"/>
          <p:cNvSpPr txBox="1"/>
          <p:nvPr/>
        </p:nvSpPr>
        <p:spPr>
          <a:xfrm>
            <a:off x="758952" y="1810512"/>
            <a:ext cx="4800600" cy="256032"/>
          </a:xfrm>
          <a:prstGeom prst="rect">
            <a:avLst/>
          </a:prstGeom>
          <a:noFill/>
        </p:spPr>
        <p:txBody>
          <a:bodyPr wrap="square" lIns="0" rIns="0" tIns="0" bIns="0" anchor="t">
            <a:spAutoFit/>
          </a:bodyPr>
          <a:lstStyle/>
          <a:p>
            <a:pPr algn="l">
              <a:spcAft>
                <a:spcPts val="0"/>
              </a:spcAft>
            </a:pPr>
            <a:r>
              <a:rPr sz="1100" b="1" i="0">
                <a:solidFill>
                  <a:srgbClr val="0070C0"/>
                </a:solidFill>
                <a:latin typeface="Calibri"/>
              </a:rPr>
              <a:t>DATA SOURCES</a:t>
            </a:r>
          </a:p>
        </p:txBody>
      </p:sp>
      <p:sp>
        <p:nvSpPr>
          <p:cNvPr id="17413" name="TextBox 17412"/>
          <p:cNvSpPr txBox="1"/>
          <p:nvPr/>
        </p:nvSpPr>
        <p:spPr>
          <a:xfrm>
            <a:off x="758952" y="2157984"/>
            <a:ext cx="4800600" cy="256032"/>
          </a:xfrm>
          <a:prstGeom prst="rect">
            <a:avLst/>
          </a:prstGeom>
          <a:noFill/>
        </p:spPr>
        <p:txBody>
          <a:bodyPr wrap="square" lIns="0" rIns="0" tIns="0" bIns="0" anchor="t">
            <a:spAutoFit/>
          </a:bodyPr>
          <a:lstStyle/>
          <a:p>
            <a:pPr algn="l">
              <a:spcAft>
                <a:spcPts val="0"/>
              </a:spcAft>
            </a:pPr>
            <a:r>
              <a:rPr sz="1200" b="1" i="0">
                <a:solidFill>
                  <a:srgbClr val="10323C"/>
                </a:solidFill>
                <a:latin typeface="Calibri"/>
              </a:rPr>
              <a:t>OpenStreetMap · Overpass API</a:t>
            </a:r>
          </a:p>
        </p:txBody>
      </p:sp>
      <p:sp>
        <p:nvSpPr>
          <p:cNvPr id="17414" name="TextBox 17413"/>
          <p:cNvSpPr txBox="1"/>
          <p:nvPr/>
        </p:nvSpPr>
        <p:spPr>
          <a:xfrm>
            <a:off x="758952" y="2414015"/>
            <a:ext cx="4800600" cy="512064"/>
          </a:xfrm>
          <a:prstGeom prst="rect">
            <a:avLst/>
          </a:prstGeom>
          <a:noFill/>
        </p:spPr>
        <p:txBody>
          <a:bodyPr wrap="square" lIns="0" rIns="0" tIns="0" bIns="0" anchor="t">
            <a:spAutoFit/>
          </a:bodyPr>
          <a:lstStyle/>
          <a:p>
            <a:pPr algn="l">
              <a:lnSpc>
                <a:spcPct val="113000"/>
              </a:lnSpc>
              <a:spcAft>
                <a:spcPts val="0"/>
              </a:spcAft>
            </a:pPr>
            <a:r>
              <a:rPr sz="1050" b="0" i="0">
                <a:solidFill>
                  <a:srgbClr val="54666E"/>
                </a:solidFill>
                <a:latin typeface="Calibri"/>
              </a:rPr>
              <a:t>Road network and 8,092 named settlements. © OSM contributors, ODbL. overpass-api.de</a:t>
            </a:r>
          </a:p>
        </p:txBody>
      </p:sp>
      <p:sp>
        <p:nvSpPr>
          <p:cNvPr id="17415" name="TextBox 17414"/>
          <p:cNvSpPr txBox="1"/>
          <p:nvPr/>
        </p:nvSpPr>
        <p:spPr>
          <a:xfrm>
            <a:off x="758952" y="2953512"/>
            <a:ext cx="4800600" cy="256032"/>
          </a:xfrm>
          <a:prstGeom prst="rect">
            <a:avLst/>
          </a:prstGeom>
          <a:noFill/>
        </p:spPr>
        <p:txBody>
          <a:bodyPr wrap="square" lIns="0" rIns="0" tIns="0" bIns="0" anchor="t">
            <a:spAutoFit/>
          </a:bodyPr>
          <a:lstStyle/>
          <a:p>
            <a:pPr algn="l">
              <a:spcAft>
                <a:spcPts val="0"/>
              </a:spcAft>
            </a:pPr>
            <a:r>
              <a:rPr sz="1200" b="1" i="0">
                <a:solidFill>
                  <a:srgbClr val="10323C"/>
                </a:solidFill>
                <a:latin typeface="Calibri"/>
              </a:rPr>
              <a:t>NASA POWER</a:t>
            </a:r>
          </a:p>
        </p:txBody>
      </p:sp>
      <p:sp>
        <p:nvSpPr>
          <p:cNvPr id="17416" name="TextBox 17415"/>
          <p:cNvSpPr txBox="1"/>
          <p:nvPr/>
        </p:nvSpPr>
        <p:spPr>
          <a:xfrm>
            <a:off x="758952" y="3209544"/>
            <a:ext cx="4800600" cy="512064"/>
          </a:xfrm>
          <a:prstGeom prst="rect">
            <a:avLst/>
          </a:prstGeom>
          <a:noFill/>
        </p:spPr>
        <p:txBody>
          <a:bodyPr wrap="square" lIns="0" rIns="0" tIns="0" bIns="0" anchor="t">
            <a:spAutoFit/>
          </a:bodyPr>
          <a:lstStyle/>
          <a:p>
            <a:pPr algn="l">
              <a:lnSpc>
                <a:spcPct val="113000"/>
              </a:lnSpc>
              <a:spcAft>
                <a:spcPts val="0"/>
              </a:spcAft>
            </a:pPr>
            <a:r>
              <a:rPr sz="1050" b="0" i="0">
                <a:solidFill>
                  <a:srgbClr val="54666E"/>
                </a:solidFill>
                <a:latin typeface="Calibri"/>
              </a:rPr>
              <a:t>Monthly rainfall climatology per place, free and key-less. power.larc.nasa.gov</a:t>
            </a:r>
          </a:p>
        </p:txBody>
      </p:sp>
      <p:sp>
        <p:nvSpPr>
          <p:cNvPr id="17417" name="TextBox 17416"/>
          <p:cNvSpPr txBox="1"/>
          <p:nvPr/>
        </p:nvSpPr>
        <p:spPr>
          <a:xfrm>
            <a:off x="758952" y="3749039"/>
            <a:ext cx="4800600" cy="256032"/>
          </a:xfrm>
          <a:prstGeom prst="rect">
            <a:avLst/>
          </a:prstGeom>
          <a:noFill/>
        </p:spPr>
        <p:txBody>
          <a:bodyPr wrap="square" lIns="0" rIns="0" tIns="0" bIns="0" anchor="t">
            <a:spAutoFit/>
          </a:bodyPr>
          <a:lstStyle/>
          <a:p>
            <a:pPr algn="l">
              <a:spcAft>
                <a:spcPts val="0"/>
              </a:spcAft>
            </a:pPr>
            <a:r>
              <a:rPr sz="1200" b="1" i="0">
                <a:solidFill>
                  <a:srgbClr val="10323C"/>
                </a:solidFill>
                <a:latin typeface="Calibri"/>
              </a:rPr>
              <a:t>Copernicus DEM · Open-Meteo</a:t>
            </a:r>
          </a:p>
        </p:txBody>
      </p:sp>
      <p:sp>
        <p:nvSpPr>
          <p:cNvPr id="17418" name="TextBox 17417"/>
          <p:cNvSpPr txBox="1"/>
          <p:nvPr/>
        </p:nvSpPr>
        <p:spPr>
          <a:xfrm>
            <a:off x="758952" y="4005072"/>
            <a:ext cx="4800600" cy="512064"/>
          </a:xfrm>
          <a:prstGeom prst="rect">
            <a:avLst/>
          </a:prstGeom>
          <a:noFill/>
        </p:spPr>
        <p:txBody>
          <a:bodyPr wrap="square" lIns="0" rIns="0" tIns="0" bIns="0" anchor="t">
            <a:spAutoFit/>
          </a:bodyPr>
          <a:lstStyle/>
          <a:p>
            <a:pPr algn="l">
              <a:lnSpc>
                <a:spcPct val="113000"/>
              </a:lnSpc>
              <a:spcAft>
                <a:spcPts val="0"/>
              </a:spcAft>
            </a:pPr>
            <a:r>
              <a:rPr sz="1050" b="0" i="0">
                <a:solidFill>
                  <a:srgbClr val="54666E"/>
                </a:solidFill>
                <a:latin typeface="Calibri"/>
              </a:rPr>
              <a:t>Ground elevation for every network node, 8 m to 4,016 m. open-meteo.com/en/docs/elevation-api</a:t>
            </a:r>
          </a:p>
        </p:txBody>
      </p:sp>
      <p:sp>
        <p:nvSpPr>
          <p:cNvPr id="17419" name="TextBox 17418"/>
          <p:cNvSpPr txBox="1"/>
          <p:nvPr/>
        </p:nvSpPr>
        <p:spPr>
          <a:xfrm>
            <a:off x="758952" y="4544568"/>
            <a:ext cx="4800600" cy="256032"/>
          </a:xfrm>
          <a:prstGeom prst="rect">
            <a:avLst/>
          </a:prstGeom>
          <a:noFill/>
        </p:spPr>
        <p:txBody>
          <a:bodyPr wrap="square" lIns="0" rIns="0" tIns="0" bIns="0" anchor="t">
            <a:spAutoFit/>
          </a:bodyPr>
          <a:lstStyle/>
          <a:p>
            <a:pPr algn="l">
              <a:spcAft>
                <a:spcPts val="0"/>
              </a:spcAft>
            </a:pPr>
            <a:r>
              <a:rPr sz="1200" b="1" i="0">
                <a:solidFill>
                  <a:srgbClr val="10323C"/>
                </a:solidFill>
                <a:latin typeface="Calibri"/>
              </a:rPr>
              <a:t>NASA COOLR · Global Landslide Catalog</a:t>
            </a:r>
          </a:p>
        </p:txBody>
      </p:sp>
      <p:sp>
        <p:nvSpPr>
          <p:cNvPr id="17420" name="TextBox 17419"/>
          <p:cNvSpPr txBox="1"/>
          <p:nvPr/>
        </p:nvSpPr>
        <p:spPr>
          <a:xfrm>
            <a:off x="758952" y="4800600"/>
            <a:ext cx="4800600" cy="512064"/>
          </a:xfrm>
          <a:prstGeom prst="rect">
            <a:avLst/>
          </a:prstGeom>
          <a:noFill/>
        </p:spPr>
        <p:txBody>
          <a:bodyPr wrap="square" lIns="0" rIns="0" tIns="0" bIns="0" anchor="t">
            <a:spAutoFit/>
          </a:bodyPr>
          <a:lstStyle/>
          <a:p>
            <a:pPr algn="l">
              <a:lnSpc>
                <a:spcPct val="113000"/>
              </a:lnSpc>
              <a:spcAft>
                <a:spcPts val="0"/>
              </a:spcAft>
            </a:pPr>
            <a:r>
              <a:rPr sz="1050" b="0" i="0">
                <a:solidFill>
                  <a:srgbClr val="54666E"/>
                </a:solidFill>
                <a:latin typeface="Calibri"/>
              </a:rPr>
              <a:t>Landslide occurrences for model training. maps.nccs.nasa.gov/arcgis/apps/MapAndAppGallery</a:t>
            </a:r>
          </a:p>
        </p:txBody>
      </p:sp>
      <p:sp>
        <p:nvSpPr>
          <p:cNvPr id="17421" name="Rounded Rectangle 17420"/>
          <p:cNvSpPr/>
          <p:nvPr/>
        </p:nvSpPr>
        <p:spPr>
          <a:xfrm>
            <a:off x="6373368" y="1627632"/>
            <a:ext cx="5312664" cy="3703320"/>
          </a:xfrm>
          <a:prstGeom prst="roundRect">
            <a:avLst>
              <a:gd name="adj" fmla="val 6000"/>
            </a:avLst>
          </a:prstGeom>
          <a:solidFill>
            <a:srgbClr val="EEF3F6"/>
          </a:solidFill>
          <a:ln w="9525">
            <a:solidFill>
              <a:srgbClr val="D2DD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2" name="TextBox 17421"/>
          <p:cNvSpPr txBox="1"/>
          <p:nvPr/>
        </p:nvSpPr>
        <p:spPr>
          <a:xfrm>
            <a:off x="6629400" y="1810512"/>
            <a:ext cx="4800600" cy="256032"/>
          </a:xfrm>
          <a:prstGeom prst="rect">
            <a:avLst/>
          </a:prstGeom>
          <a:noFill/>
        </p:spPr>
        <p:txBody>
          <a:bodyPr wrap="square" lIns="0" rIns="0" tIns="0" bIns="0" anchor="t">
            <a:spAutoFit/>
          </a:bodyPr>
          <a:lstStyle/>
          <a:p>
            <a:pPr algn="l">
              <a:spcAft>
                <a:spcPts val="0"/>
              </a:spcAft>
            </a:pPr>
            <a:r>
              <a:rPr sz="1100" b="1" i="0">
                <a:solidFill>
                  <a:srgbClr val="0070C0"/>
                </a:solidFill>
                <a:latin typeface="Calibri"/>
              </a:rPr>
              <a:t>POLICY AND METHOD</a:t>
            </a:r>
          </a:p>
        </p:txBody>
      </p:sp>
      <p:sp>
        <p:nvSpPr>
          <p:cNvPr id="17423" name="TextBox 17422"/>
          <p:cNvSpPr txBox="1"/>
          <p:nvPr/>
        </p:nvSpPr>
        <p:spPr>
          <a:xfrm>
            <a:off x="6629400" y="2157984"/>
            <a:ext cx="4800600" cy="256032"/>
          </a:xfrm>
          <a:prstGeom prst="rect">
            <a:avLst/>
          </a:prstGeom>
          <a:noFill/>
        </p:spPr>
        <p:txBody>
          <a:bodyPr wrap="square" lIns="0" rIns="0" tIns="0" bIns="0" anchor="t">
            <a:spAutoFit/>
          </a:bodyPr>
          <a:lstStyle/>
          <a:p>
            <a:pPr algn="l">
              <a:spcAft>
                <a:spcPts val="0"/>
              </a:spcAft>
            </a:pPr>
            <a:r>
              <a:rPr sz="1200" b="1" i="0">
                <a:solidFill>
                  <a:srgbClr val="10323C"/>
                </a:solidFill>
                <a:latin typeface="Calibri"/>
              </a:rPr>
              <a:t>MDoNER · NEC Regional Plan</a:t>
            </a:r>
          </a:p>
        </p:txBody>
      </p:sp>
      <p:sp>
        <p:nvSpPr>
          <p:cNvPr id="17424" name="TextBox 17423"/>
          <p:cNvSpPr txBox="1"/>
          <p:nvPr/>
        </p:nvSpPr>
        <p:spPr>
          <a:xfrm>
            <a:off x="6629400" y="2414015"/>
            <a:ext cx="4800600" cy="512064"/>
          </a:xfrm>
          <a:prstGeom prst="rect">
            <a:avLst/>
          </a:prstGeom>
          <a:noFill/>
        </p:spPr>
        <p:txBody>
          <a:bodyPr wrap="square" lIns="0" rIns="0" tIns="0" bIns="0" anchor="t">
            <a:spAutoFit/>
          </a:bodyPr>
          <a:lstStyle/>
          <a:p>
            <a:pPr algn="l">
              <a:lnSpc>
                <a:spcPct val="113000"/>
              </a:lnSpc>
              <a:spcAft>
                <a:spcPts val="0"/>
              </a:spcAft>
            </a:pPr>
            <a:r>
              <a:rPr sz="1050" b="0" i="0">
                <a:solidFill>
                  <a:srgbClr val="54666E"/>
                </a:solidFill>
                <a:latin typeface="Calibri"/>
              </a:rPr>
              <a:t>Regional connectivity priorities and investment framing for the NER.</a:t>
            </a:r>
          </a:p>
        </p:txBody>
      </p:sp>
      <p:sp>
        <p:nvSpPr>
          <p:cNvPr id="17425" name="TextBox 17424"/>
          <p:cNvSpPr txBox="1"/>
          <p:nvPr/>
        </p:nvSpPr>
        <p:spPr>
          <a:xfrm>
            <a:off x="6629400" y="2953512"/>
            <a:ext cx="4800600" cy="256032"/>
          </a:xfrm>
          <a:prstGeom prst="rect">
            <a:avLst/>
          </a:prstGeom>
          <a:noFill/>
        </p:spPr>
        <p:txBody>
          <a:bodyPr wrap="square" lIns="0" rIns="0" tIns="0" bIns="0" anchor="t">
            <a:spAutoFit/>
          </a:bodyPr>
          <a:lstStyle/>
          <a:p>
            <a:pPr algn="l">
              <a:spcAft>
                <a:spcPts val="0"/>
              </a:spcAft>
            </a:pPr>
            <a:r>
              <a:rPr sz="1200" b="1" i="0">
                <a:solidFill>
                  <a:srgbClr val="10323C"/>
                </a:solidFill>
                <a:latin typeface="Calibri"/>
              </a:rPr>
              <a:t>IWAI · National Waterway 2</a:t>
            </a:r>
          </a:p>
        </p:txBody>
      </p:sp>
      <p:sp>
        <p:nvSpPr>
          <p:cNvPr id="17426" name="TextBox 17425"/>
          <p:cNvSpPr txBox="1"/>
          <p:nvPr/>
        </p:nvSpPr>
        <p:spPr>
          <a:xfrm>
            <a:off x="6629400" y="3209544"/>
            <a:ext cx="4800600" cy="512064"/>
          </a:xfrm>
          <a:prstGeom prst="rect">
            <a:avLst/>
          </a:prstGeom>
          <a:noFill/>
        </p:spPr>
        <p:txBody>
          <a:bodyPr wrap="square" lIns="0" rIns="0" tIns="0" bIns="0" anchor="t">
            <a:spAutoFit/>
          </a:bodyPr>
          <a:lstStyle/>
          <a:p>
            <a:pPr algn="l">
              <a:lnSpc>
                <a:spcPct val="113000"/>
              </a:lnSpc>
              <a:spcAft>
                <a:spcPts val="0"/>
              </a:spcAft>
            </a:pPr>
            <a:r>
              <a:rPr sz="1050" b="0" i="0">
                <a:solidFill>
                  <a:srgbClr val="54666E"/>
                </a:solidFill>
                <a:latin typeface="Calibri"/>
              </a:rPr>
              <a:t>Brahmaputra navigability and terminal locations. iwai.nic.in</a:t>
            </a:r>
          </a:p>
        </p:txBody>
      </p:sp>
      <p:sp>
        <p:nvSpPr>
          <p:cNvPr id="17427" name="TextBox 17426"/>
          <p:cNvSpPr txBox="1"/>
          <p:nvPr/>
        </p:nvSpPr>
        <p:spPr>
          <a:xfrm>
            <a:off x="6629400" y="3749039"/>
            <a:ext cx="4800600" cy="256032"/>
          </a:xfrm>
          <a:prstGeom prst="rect">
            <a:avLst/>
          </a:prstGeom>
          <a:noFill/>
        </p:spPr>
        <p:txBody>
          <a:bodyPr wrap="square" lIns="0" rIns="0" tIns="0" bIns="0" anchor="t">
            <a:spAutoFit/>
          </a:bodyPr>
          <a:lstStyle/>
          <a:p>
            <a:pPr algn="l">
              <a:spcAft>
                <a:spcPts val="0"/>
              </a:spcAft>
            </a:pPr>
            <a:r>
              <a:rPr sz="1200" b="1" i="0">
                <a:solidFill>
                  <a:srgbClr val="10323C"/>
                </a:solidFill>
                <a:latin typeface="Calibri"/>
              </a:rPr>
              <a:t>Yen, J. Y. (1971)</a:t>
            </a:r>
          </a:p>
        </p:txBody>
      </p:sp>
      <p:sp>
        <p:nvSpPr>
          <p:cNvPr id="17428" name="TextBox 17427"/>
          <p:cNvSpPr txBox="1"/>
          <p:nvPr/>
        </p:nvSpPr>
        <p:spPr>
          <a:xfrm>
            <a:off x="6629400" y="4005072"/>
            <a:ext cx="4800600" cy="512064"/>
          </a:xfrm>
          <a:prstGeom prst="rect">
            <a:avLst/>
          </a:prstGeom>
          <a:noFill/>
        </p:spPr>
        <p:txBody>
          <a:bodyPr wrap="square" lIns="0" rIns="0" tIns="0" bIns="0" anchor="t">
            <a:spAutoFit/>
          </a:bodyPr>
          <a:lstStyle/>
          <a:p>
            <a:pPr algn="l">
              <a:lnSpc>
                <a:spcPct val="113000"/>
              </a:lnSpc>
              <a:spcAft>
                <a:spcPts val="0"/>
              </a:spcAft>
            </a:pPr>
            <a:r>
              <a:rPr sz="1050" b="0" i="0">
                <a:solidFill>
                  <a:srgbClr val="54666E"/>
                </a:solidFill>
                <a:latin typeface="Calibri"/>
              </a:rPr>
              <a:t>Finding the k shortest loopless paths in a network. Management Science 17(11) — the alternatives algorithm.</a:t>
            </a:r>
          </a:p>
        </p:txBody>
      </p:sp>
      <p:sp>
        <p:nvSpPr>
          <p:cNvPr id="17429" name="TextBox 17428"/>
          <p:cNvSpPr txBox="1"/>
          <p:nvPr/>
        </p:nvSpPr>
        <p:spPr>
          <a:xfrm>
            <a:off x="6629400" y="4544568"/>
            <a:ext cx="4800600" cy="256032"/>
          </a:xfrm>
          <a:prstGeom prst="rect">
            <a:avLst/>
          </a:prstGeom>
          <a:noFill/>
        </p:spPr>
        <p:txBody>
          <a:bodyPr wrap="square" lIns="0" rIns="0" tIns="0" bIns="0" anchor="t">
            <a:spAutoFit/>
          </a:bodyPr>
          <a:lstStyle/>
          <a:p>
            <a:pPr algn="l">
              <a:spcAft>
                <a:spcPts val="0"/>
              </a:spcAft>
            </a:pPr>
            <a:r>
              <a:rPr sz="1200" b="1" i="0">
                <a:solidFill>
                  <a:srgbClr val="10323C"/>
                </a:solidFill>
                <a:latin typeface="Calibri"/>
              </a:rPr>
              <a:t>Dijkstra, E. W. (1959)</a:t>
            </a:r>
          </a:p>
        </p:txBody>
      </p:sp>
      <p:sp>
        <p:nvSpPr>
          <p:cNvPr id="17430" name="TextBox 17429"/>
          <p:cNvSpPr txBox="1"/>
          <p:nvPr/>
        </p:nvSpPr>
        <p:spPr>
          <a:xfrm>
            <a:off x="6629400" y="4800600"/>
            <a:ext cx="4800600" cy="512064"/>
          </a:xfrm>
          <a:prstGeom prst="rect">
            <a:avLst/>
          </a:prstGeom>
          <a:noFill/>
        </p:spPr>
        <p:txBody>
          <a:bodyPr wrap="square" lIns="0" rIns="0" tIns="0" bIns="0" anchor="t">
            <a:spAutoFit/>
          </a:bodyPr>
          <a:lstStyle/>
          <a:p>
            <a:pPr algn="l">
              <a:lnSpc>
                <a:spcPct val="113000"/>
              </a:lnSpc>
              <a:spcAft>
                <a:spcPts val="0"/>
              </a:spcAft>
            </a:pPr>
            <a:r>
              <a:rPr sz="1050" b="0" i="0">
                <a:solidFill>
                  <a:srgbClr val="54666E"/>
                </a:solidFill>
                <a:latin typeface="Calibri"/>
              </a:rPr>
              <a:t>A note on two problems in connexion with graphs. Numerische Mathematik 1.</a:t>
            </a:r>
          </a:p>
        </p:txBody>
      </p:sp>
      <p:sp>
        <p:nvSpPr>
          <p:cNvPr id="17431" name="Rounded Rectangle 17430"/>
          <p:cNvSpPr/>
          <p:nvPr/>
        </p:nvSpPr>
        <p:spPr>
          <a:xfrm>
            <a:off x="502920" y="5504688"/>
            <a:ext cx="11183112" cy="566928"/>
          </a:xfrm>
          <a:prstGeom prst="roundRect">
            <a:avLst>
              <a:gd name="adj" fmla="val 6000"/>
            </a:avLst>
          </a:prstGeom>
          <a:solidFill>
            <a:srgbClr val="10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2" name="TextBox 17431"/>
          <p:cNvSpPr txBox="1"/>
          <p:nvPr/>
        </p:nvSpPr>
        <p:spPr>
          <a:xfrm>
            <a:off x="804672" y="5650992"/>
            <a:ext cx="10579608" cy="292608"/>
          </a:xfrm>
          <a:prstGeom prst="rect">
            <a:avLst/>
          </a:prstGeom>
          <a:noFill/>
        </p:spPr>
        <p:txBody>
          <a:bodyPr wrap="square" lIns="0" rIns="0" tIns="0" bIns="0" anchor="t">
            <a:spAutoFit/>
          </a:bodyPr>
          <a:lstStyle/>
          <a:p>
            <a:r>
              <a:rPr sz="1200">
                <a:solidFill>
                  <a:srgbClr val="C8D8DE"/>
                </a:solidFill>
                <a:latin typeface="Calibri"/>
              </a:rPr>
              <a:t>Working code and full method notes:  </a:t>
            </a:r>
            <a:r>
              <a:rPr sz="1200" b="1">
                <a:solidFill>
                  <a:srgbClr val="FFFFFF"/>
                </a:solidFill>
                <a:latin typeface="Calibri"/>
              </a:rPr>
              <a:t>github.com/Jeffrey2600/Logistics_sih</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