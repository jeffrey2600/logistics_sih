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Point at the map on the right first and say plainly: this is a screenshot</a:t>
            </a:r>
          </a:p>
          <a:p>
            <a:r>
              <a:t>of our own application, not an illustration. Then walk the three points on</a:t>
            </a:r>
          </a:p>
          <a:p>
            <a:r>
              <a:t>the left in order.</a:t>
            </a:r>
          </a:p>
          <a:p/>
          <a:p>
            <a:r>
              <a:t>Point one is what we built. Point two is why it matters - we turn a guess</a:t>
            </a:r>
          </a:p>
          <a:p>
            <a:r>
              <a:t>about the monsoon into an actual number before the truck leaves. Point three</a:t>
            </a:r>
          </a:p>
          <a:p>
            <a:r>
              <a:t>is the one thing worth slowing down for: we separate "this road might close</a:t>
            </a:r>
          </a:p>
          <a:p>
            <a:r>
              <a:t>this month" from "this specific trip will be stopped by it." Treating those</a:t>
            </a:r>
          </a:p>
          <a:p>
            <a:r>
              <a:t>as the same thing is the usual mistake, and it makes every hill road look</a:t>
            </a:r>
          </a:p>
          <a:p>
            <a:r>
              <a:t>unusable instead of just more expensive.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Top: four groups of tools, ten seconds each - point and move on, no need</a:t>
            </a:r>
          </a:p>
          <a:p>
            <a:r>
              <a:t>to read every word out loud.</a:t>
            </a:r>
          </a:p>
          <a:p/>
          <a:p>
            <a:r>
              <a:t>Bottom: the same idea as a flow chart. Data comes in, we build a scored</a:t>
            </a:r>
          </a:p>
          <a:p>
            <a:r>
              <a:t>network from it offline, an engine turns that into risk and cost, four</a:t>
            </a:r>
          </a:p>
          <a:p>
            <a:r>
              <a:t>features answer real questions, and one process serves all of it. When you</a:t>
            </a:r>
          </a:p>
          <a:p>
            <a:r>
              <a:t>reach box five, mention there is no build step and no CDN - that is why the</a:t>
            </a:r>
          </a:p>
          <a:p>
            <a:r>
              <a:t>demo still works even if the venue's wifi blocks something.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Left: three numbers that show this already exists - 25,360 km built, zero</a:t>
            </a:r>
          </a:p>
          <a:p>
            <a:r>
              <a:t>rupees spent on data, 261 tests passing. Say them and move on.</a:t>
            </a:r>
          </a:p>
          <a:p/>
          <a:p>
            <a:r>
              <a:t>Right is the table judges will look at closest. Every challenge sits right</a:t>
            </a:r>
          </a:p>
          <a:p>
            <a:r>
              <a:t>across from what we are doing about it. Lead with the first row: India has</a:t>
            </a:r>
          </a:p>
          <a:p>
            <a:r>
              <a:t>no live road-closure feed anywhere, so we predict from rainfall and terrain</a:t>
            </a:r>
          </a:p>
          <a:p>
            <a:r>
              <a:t>instead, and we are designing the app to learn from driver reports later.</a:t>
            </a:r>
          </a:p>
          <a:p>
            <a:r>
              <a:t>Naming that gap yourself, before anyone asks, is stronger than waiting to be</a:t>
            </a:r>
          </a:p>
          <a:p>
            <a:r>
              <a:t>caught out.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Three audiences, three examples. Read the Billbari line out loud - it is</a:t>
            </a:r>
          </a:p>
          <a:p>
            <a:r>
              <a:t>the most human one, a farmer knowing it takes 1.3 days to reach a market in</a:t>
            </a:r>
          </a:p>
          <a:p>
            <a:r>
              <a:t>the monsoon changes what they plant. For a policy-focused panel, use the</a:t>
            </a:r>
          </a:p>
          <a:p>
            <a:r>
              <a:t>MDoNER card instead: 1,309 of 4,033 major roads at serious risk in July, and</a:t>
            </a:r>
          </a:p>
          <a:p>
            <a:r>
              <a:t>on 1,055 of them the real cause is flooding, not landslides - so money gets</a:t>
            </a:r>
          </a:p>
          <a:p>
            <a:r>
              <a:t>spent fixing the right problem.</a:t>
            </a:r>
          </a:p>
          <a:p/>
          <a:p>
            <a:r>
              <a:t>Bottom row is social, economic, environmental, one line each - only read all</a:t>
            </a:r>
          </a:p>
          <a:p>
            <a:r>
              <a:t>three if asked, they are there to show we thought about it.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Keep this one short. Everything we used is open and free, so there is</a:t>
            </a:r>
          </a:p>
          <a:p>
            <a:r>
              <a:t>nothing to license before this can be deployed anywhere. Be upfront that the</a:t>
            </a:r>
          </a:p>
          <a:p>
            <a:r>
              <a:t>landslide catalogue download is still pending rather than implying it is</a:t>
            </a:r>
          </a:p>
          <a:p>
            <a:r>
              <a:t>already loaded - if someone checks, honesty here counts for more than</a:t>
            </a:r>
          </a:p>
          <a:p>
            <a:r>
              <a:t>looking complete. Close by pointing at the GitHub link: the code and tests</a:t>
            </a:r>
          </a:p>
          <a:p>
            <a:r>
              <a:t>are public.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place, not the software. The eight North Eastern states</a:t>
            </a:r>
          </a:p>
          <a:p>
            <a:r>
              <a:t>reach the rest of India through one narrow strip of land near Siliguri.</a:t>
            </a:r>
          </a:p>
          <a:p>
            <a:r>
              <a:t>Highways are mostly single lane through hills that slide, Assam floods every</a:t>
            </a:r>
          </a:p>
          <a:p>
            <a:r>
              <a:t>year, and for four months the monsoon shuts the roads the other eight months</a:t>
            </a:r>
          </a:p>
          <a:p>
            <a:r>
              <a:t>depend on. That is the problem we are solving, and what follows is already</a:t>
            </a:r>
          </a:p>
          <a:p>
            <a:r>
              <a:t>built and running, not a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IDEA SUBMISSION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Problem Statement ID  </a:t>
            </a:r>
            <a:r>
              <a:rPr sz="1350" b="0">
                <a:solidFill>
                  <a:srgbClr val="1A1A1A"/>
                </a:solidFill>
                <a:latin typeface="Calibri"/>
              </a:rPr>
              <a:t>SIH26002</a:t>
            </a:r>
            <a:endParaRPr lang="en-US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Problem Statement  </a:t>
            </a:r>
            <a:r>
              <a:rPr sz="1350" b="0">
                <a:solidFill>
                  <a:srgbClr val="1A1A1A"/>
                </a:solidFill>
                <a:latin typeface="Calibri"/>
              </a:rPr>
              <a:t>AI-Based Smart Logistics and Accessibility Intelligence Platform for the North Eastern Region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Theme  </a:t>
            </a:r>
            <a:r>
              <a:rPr sz="1350" b="0">
                <a:solidFill>
                  <a:srgbClr val="1A1A1A"/>
                </a:solidFill>
                <a:latin typeface="Calibri"/>
              </a:rPr>
              <a:t>Smart Automation  |  MDoNER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PS Category  </a:t>
            </a:r>
            <a:r>
              <a:rPr sz="1350" b="0">
                <a:solidFill>
                  <a:srgbClr val="1A1A1A"/>
                </a:solidFill>
                <a:latin typeface="Calibri"/>
              </a:rPr>
              <a:t>Software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Team ID  </a:t>
            </a:r>
            <a:r>
              <a:rPr sz="1350" b="0">
                <a:solidFill>
                  <a:srgbClr val="1A1A1A"/>
                </a:solidFill>
                <a:latin typeface="Calibri"/>
              </a:rPr>
              <a:t>&lt;your team ID&gt;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Team Name  </a:t>
            </a:r>
            <a:r>
              <a:rPr sz="1350" b="0">
                <a:solidFill>
                  <a:srgbClr val="1A1A1A"/>
                </a:solidFill>
                <a:latin typeface="Calibri"/>
              </a:rPr>
              <a:t>&lt;your registered 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960120"/>
          </a:xfrm>
        </p:spPr>
        <p:txBody>
          <a:bodyPr wrap="square"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2200" b="1">
                <a:solidFill>
                  <a:srgbClr val="1A1A1A"/>
                </a:solidFill>
                <a:latin typeface="Calibri"/>
              </a:rPr>
              <a:t>AI-Based Route Planning and Accessibility Mapping for the North East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0607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F4E79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502920" y="1499616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TextBox 15363"/>
          <p:cNvSpPr txBox="1"/>
          <p:nvPr/>
        </p:nvSpPr>
        <p:spPr>
          <a:xfrm>
            <a:off x="502920" y="1499616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978408" y="1499616"/>
            <a:ext cx="64282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978408" y="1883664"/>
            <a:ext cx="642823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-  We built one web application that does two things: it plans the best way to move a shipment across the North East, and it shows which villages are hard to reach.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-  It treats road, rail, the Brahmaputra waterway and air as one connected network, so it can suggest part road and part rail when that works out cheaper or safer.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02920" y="2889504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TextBox 15367"/>
          <p:cNvSpPr txBox="1"/>
          <p:nvPr/>
        </p:nvSpPr>
        <p:spPr>
          <a:xfrm>
            <a:off x="502920" y="2889504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978408" y="2889504"/>
            <a:ext cx="64282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978408" y="3273552"/>
            <a:ext cx="642823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-  Right now people plan routes off a map and guess how bad the monsoon will be. We turn that guess into a number - extra hours and rupees - before the truck leaves.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-  We also rank villages by how many hours they actually need to reach a market or hospital, so it is clear which ones need help first.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502920" y="4206240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2" name="TextBox 15371"/>
          <p:cNvSpPr txBox="1"/>
          <p:nvPr/>
        </p:nvSpPr>
        <p:spPr>
          <a:xfrm>
            <a:off x="502920" y="420624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978408" y="4206240"/>
            <a:ext cx="64282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978408" y="4572000"/>
            <a:ext cx="6428231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-  Most tools say a road might be blocked this month and stop there. We also work out the chance a specific trip gets caught in it, so a hill route shows up as costly, not impossible.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-  Landslides and floods are scored separately, since they happen on different terrain in different seasons - and the whole thing runs on free data, so there is no cost to keep it running.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-  Built for the field, not just for a lab demo: search a place by voice, switch to satellite view, watch the shipment move leg by leg on the map, and use the whole app in five languages.</a:t>
            </a:r>
          </a:p>
        </p:txBody>
      </p:sp>
      <p:pic>
        <p:nvPicPr>
          <p:cNvPr id="15375" name="Picture 15374" descr="risk_map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481328"/>
            <a:ext cx="4096512" cy="2926080"/>
          </a:xfrm>
          <a:prstGeom prst="rect">
            <a:avLst/>
          </a:prstGeom>
        </p:spPr>
      </p:pic>
      <p:sp>
        <p:nvSpPr>
          <p:cNvPr id="15376" name="Rectangle 15375"/>
          <p:cNvSpPr/>
          <p:nvPr/>
        </p:nvSpPr>
        <p:spPr>
          <a:xfrm>
            <a:off x="7589520" y="1481328"/>
            <a:ext cx="4096512" cy="292608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TextBox 15376"/>
          <p:cNvSpPr txBox="1"/>
          <p:nvPr/>
        </p:nvSpPr>
        <p:spPr>
          <a:xfrm>
            <a:off x="7589520" y="4471416"/>
            <a:ext cx="40965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A real screenshot from our app: all 7,181 road segments we track, coloured by monsoon risk.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7589520" y="5212080"/>
            <a:ext cx="4096512" cy="1097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7772400" y="5330952"/>
            <a:ext cx="373075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A few numbers that sum it up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7,181 road segments  ·  25,360 km scored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5,594 villages ranked by real access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₹0 data cost  ·  261 tests  ·  30 UI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960120"/>
          </a:xfrm>
        </p:spPr>
        <p:txBody>
          <a:bodyPr wrap="square"/>
          <a:lstStyle/>
          <a:p>
            <a:pPr eaLnBrk="1" hangingPunct="1"/>
            <a:r>
              <a:rPr sz="2700" b="1">
                <a:solidFill>
                  <a:srgbClr val="1A1A1A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F4E79"/>
                </a:solidFill>
                <a:latin typeface="Calibri"/>
              </a:rPr>
              <a:t>Technologies used, and how the system works end to end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463040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02920" y="146304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78408" y="1435608"/>
            <a:ext cx="10707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Technologies to be used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05050"/>
                </a:solidFill>
                <a:latin typeface="Calibri"/>
              </a:rPr>
              <a:t>(e.g. programming languages, frameworks, hardware)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02920" y="2084832"/>
            <a:ext cx="2040940" cy="74980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612648" y="2157984"/>
            <a:ext cx="182148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F4E79"/>
                </a:solidFill>
                <a:latin typeface="Calibri"/>
              </a:rPr>
              <a:t>BACKEND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Python · FastAPI · NetworkX · scikit-learn (optional)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2662732" y="2084832"/>
            <a:ext cx="2040940" cy="74980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2772460" y="2157984"/>
            <a:ext cx="182148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F4E79"/>
                </a:solidFill>
                <a:latin typeface="Calibri"/>
              </a:rPr>
              <a:t>DATA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OpenStreetMap · NASA POWER · Copernicus DEM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4822545" y="2084832"/>
            <a:ext cx="2040940" cy="74980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932273" y="2157984"/>
            <a:ext cx="182148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F4E79"/>
                </a:solidFill>
                <a:latin typeface="Calibri"/>
              </a:rPr>
              <a:t>FRONTEND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MapLibre GL - vector + satellite, no build step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6982358" y="2084832"/>
            <a:ext cx="2040940" cy="74980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7092086" y="2157984"/>
            <a:ext cx="182148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F4E79"/>
                </a:solidFill>
                <a:latin typeface="Calibri"/>
              </a:rPr>
              <a:t>INTERFACE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Web Speech API (voice) · 5 languages · shipment tracking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9142171" y="2084832"/>
            <a:ext cx="2040940" cy="74980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9251899" y="2157984"/>
            <a:ext cx="182148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F4E79"/>
                </a:solidFill>
                <a:latin typeface="Calibri"/>
              </a:rPr>
              <a:t>TESTING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pytest - 261 tests · Playwright - 30+ UI checks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502920" y="3017520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502920" y="301752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78408" y="2990088"/>
            <a:ext cx="10707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Methodology and process for implementation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05050"/>
                </a:solidFill>
                <a:latin typeface="Calibri"/>
              </a:rPr>
              <a:t>(Flow Charts / Images / working prototype)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502920" y="3657600"/>
            <a:ext cx="1993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ectangle 17427"/>
          <p:cNvSpPr/>
          <p:nvPr/>
        </p:nvSpPr>
        <p:spPr>
          <a:xfrm>
            <a:off x="502920" y="3657600"/>
            <a:ext cx="1993392" cy="32918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502920" y="3657600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1.  Open data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12648" y="4078224"/>
            <a:ext cx="1773936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OSM roads and places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NASA rainfall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Copernicus elevation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2514600" y="4315968"/>
            <a:ext cx="164592" cy="1005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Rectangle 17431"/>
          <p:cNvSpPr/>
          <p:nvPr/>
        </p:nvSpPr>
        <p:spPr>
          <a:xfrm>
            <a:off x="2697480" y="3657600"/>
            <a:ext cx="1993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Rectangle 17432"/>
          <p:cNvSpPr/>
          <p:nvPr/>
        </p:nvSpPr>
        <p:spPr>
          <a:xfrm>
            <a:off x="2697480" y="3657600"/>
            <a:ext cx="1993392" cy="32918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2697480" y="3657600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2.  Build (offline)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807208" y="4078224"/>
            <a:ext cx="1773936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Turn OSM ways into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7,181 scored segments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plus 5,594 villages</a:t>
            </a:r>
          </a:p>
        </p:txBody>
      </p:sp>
      <p:sp>
        <p:nvSpPr>
          <p:cNvPr id="17436" name="Right Arrow 17435"/>
          <p:cNvSpPr/>
          <p:nvPr/>
        </p:nvSpPr>
        <p:spPr>
          <a:xfrm>
            <a:off x="4709160" y="4315968"/>
            <a:ext cx="164592" cy="1005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Rectangle 17436"/>
          <p:cNvSpPr/>
          <p:nvPr/>
        </p:nvSpPr>
        <p:spPr>
          <a:xfrm>
            <a:off x="4892040" y="3657600"/>
            <a:ext cx="1993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Rectangle 17437"/>
          <p:cNvSpPr/>
          <p:nvPr/>
        </p:nvSpPr>
        <p:spPr>
          <a:xfrm>
            <a:off x="4892040" y="3657600"/>
            <a:ext cx="1993392" cy="32918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4892040" y="3657600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3.  Engine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5001768" y="4078224"/>
            <a:ext cx="1773936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Risk model (landslide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and flood), cost model,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mode-layered graph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6903720" y="4315968"/>
            <a:ext cx="164592" cy="1005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Rectangle 17441"/>
          <p:cNvSpPr/>
          <p:nvPr/>
        </p:nvSpPr>
        <p:spPr>
          <a:xfrm>
            <a:off x="7086600" y="3657600"/>
            <a:ext cx="1993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ectangle 17442"/>
          <p:cNvSpPr/>
          <p:nvPr/>
        </p:nvSpPr>
        <p:spPr>
          <a:xfrm>
            <a:off x="7086600" y="3657600"/>
            <a:ext cx="1993392" cy="32918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7086600" y="3657600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4.  Answer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196328" y="4078224"/>
            <a:ext cx="1773936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Plan a route, compare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options, show risk,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show who is cut off</a:t>
            </a:r>
          </a:p>
        </p:txBody>
      </p:sp>
      <p:sp>
        <p:nvSpPr>
          <p:cNvPr id="17446" name="Right Arrow 17445"/>
          <p:cNvSpPr/>
          <p:nvPr/>
        </p:nvSpPr>
        <p:spPr>
          <a:xfrm>
            <a:off x="9098280" y="4315968"/>
            <a:ext cx="164592" cy="1005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Rectangle 17446"/>
          <p:cNvSpPr/>
          <p:nvPr/>
        </p:nvSpPr>
        <p:spPr>
          <a:xfrm>
            <a:off x="9281160" y="3657600"/>
            <a:ext cx="1993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Rectangle 17447"/>
          <p:cNvSpPr/>
          <p:nvPr/>
        </p:nvSpPr>
        <p:spPr>
          <a:xfrm>
            <a:off x="9281160" y="3657600"/>
            <a:ext cx="1993392" cy="32918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9281160" y="3657600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5.  Serve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9390888" y="4078224"/>
            <a:ext cx="1773936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One FastAPI process: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api and dashboard,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no build, no CDN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502920" y="5257800"/>
            <a:ext cx="11183112" cy="51206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713232" y="5376672"/>
            <a:ext cx="10762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This is not a plan.  </a:t>
            </a:r>
            <a:r>
              <a:rPr sz="1050" b="0">
                <a:solidFill>
                  <a:srgbClr val="505050"/>
                </a:solidFill>
                <a:latin typeface="Calibri"/>
              </a:rPr>
              <a:t>All five stages run today against the real 25,360 km network we built - the map on the previous slide is a screenshot from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960120"/>
          </a:xfrm>
        </p:spPr>
        <p:txBody>
          <a:bodyPr wrap="square"/>
          <a:lstStyle/>
          <a:p>
            <a:pPr eaLnBrk="1" hangingPunct="1"/>
            <a:r>
              <a:rPr sz="2700" b="1">
                <a:solidFill>
                  <a:srgbClr val="1A1A1A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F4E79"/>
                </a:solidFill>
                <a:latin typeface="Calibri"/>
              </a:rPr>
              <a:t>What already works, and what we are upfront about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463040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02920" y="146304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78408" y="1463040"/>
            <a:ext cx="10707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02920" y="1865376"/>
            <a:ext cx="3605784" cy="84124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649224" y="1965960"/>
            <a:ext cx="33131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25,360 km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05050"/>
                </a:solidFill>
                <a:latin typeface="Calibri"/>
              </a:rPr>
              <a:t>of road network we already built from open map data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4291584" y="1865376"/>
            <a:ext cx="3605784" cy="84124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4437888" y="1965960"/>
            <a:ext cx="33131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₹0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05050"/>
                </a:solidFill>
                <a:latin typeface="Calibri"/>
              </a:rPr>
              <a:t>spent on data - every source we use is free and public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8080248" y="1865376"/>
            <a:ext cx="3605784" cy="84124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8226552" y="1965960"/>
            <a:ext cx="33131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261 + 30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05050"/>
                </a:solidFill>
                <a:latin typeface="Calibri"/>
              </a:rPr>
              <a:t>automated tests and browser checks, all passing today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02920" y="2834640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502920" y="283464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78408" y="2834640"/>
            <a:ext cx="5010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172200" y="2834640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6172200" y="283464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647688" y="2834640"/>
            <a:ext cx="5010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Strategies for overcoming these challenges</a:t>
            </a:r>
          </a:p>
        </p:txBody>
      </p:sp>
      <p:graphicFrame>
        <p:nvGraphicFramePr>
          <p:cNvPr id="17426" name="Table 17425"/>
          <p:cNvGraphicFramePr>
            <a:graphicFrameLocks noGrp="1"/>
          </p:cNvGraphicFramePr>
          <p:nvPr/>
        </p:nvGraphicFramePr>
        <p:xfrm>
          <a:off x="502920" y="3255264"/>
          <a:ext cx="11183112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0"/>
                <a:gridCol w="569671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There is no official, live feed anywhere in India that says when a road is actually closed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So we predict risk from rainfall and terrain for now, and the app is being designed to also take reports from drivers directly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OpenStreetMap has population numbers for only about 15% of villages in the region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We rank villages by how many other places they help connect, not population, and plan to add the Census 2011 directory next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Only 35 markets are mapped for all 5,594 villages we track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Loading the Agmarknet market list is the very next thing we plan to do - it is the single biggest gap right now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The free map and elevation services we use limit how much can be downloaded at once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We download once, build the network offline, and save the result - so the app itself never depends on those services being 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960120"/>
          </a:xfrm>
        </p:spPr>
        <p:txBody>
          <a:bodyPr wrap="square"/>
          <a:lstStyle/>
          <a:p>
            <a:pPr eaLnBrk="1" hangingPunct="1"/>
            <a:r>
              <a:rPr sz="2700" b="1">
                <a:solidFill>
                  <a:srgbClr val="1A1A1A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F4E79"/>
                </a:solidFill>
                <a:latin typeface="Calibri"/>
              </a:rPr>
              <a:t>Who this helps, and why it matters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463040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02920" y="146304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78408" y="1463040"/>
            <a:ext cx="10707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02920" y="1865376"/>
            <a:ext cx="3605784" cy="148132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667512" y="1975104"/>
            <a:ext cx="327660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Farmers and FPOs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In Billbari, Assam, reaching a market takes 1.3 days in the monsoon. Knowing that ahead of time changes what a farmer plants and when they sell it.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4291584" y="1865376"/>
            <a:ext cx="3605784" cy="148132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4456176" y="1975104"/>
            <a:ext cx="327660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Transporters and 3PLs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Instead of guessing which route to take, they get a real comparison of cost, time and risk for every option available.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8080248" y="1865376"/>
            <a:ext cx="3605784" cy="148132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8244840" y="1975104"/>
            <a:ext cx="327660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MDoNER, NEC and State PWDs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In July, 1,309 of 4,033 major roads are at serious risk, and on 1,055 of them the real problem is flooding, not landslides - so money goes to the right fix.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02920" y="3520440"/>
            <a:ext cx="36576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502920" y="352044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78408" y="3493008"/>
            <a:ext cx="10707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Benefits of the solution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05050"/>
                </a:solidFill>
                <a:latin typeface="Calibri"/>
              </a:rPr>
              <a:t>(social, economic, environmental, etc.)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02920" y="4087368"/>
            <a:ext cx="360578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667512" y="4215383"/>
            <a:ext cx="327660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SOCIAL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399 villages more than 20 km from any mapped road finally show up in the data, instead of being invisible to planners.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4291584" y="4087368"/>
            <a:ext cx="360578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4456176" y="4215383"/>
            <a:ext cx="327660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ECONOMIC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On a single route, the best and worst choice differ by ₹5,032 a tonne and 6.2 days - money currently lost to guesswork.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8080248" y="4087368"/>
            <a:ext cx="360578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8244840" y="4215383"/>
            <a:ext cx="327660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ENVIRONMENTAL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505050"/>
                </a:solidFill>
                <a:latin typeface="Calibri"/>
              </a:rPr>
              <a:t>Where rail or water transport works out better, the app recommends it - cutting road-only trips that take nearly four times as long.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960120"/>
          </a:xfrm>
        </p:spPr>
        <p:txBody>
          <a:bodyPr wrap="square"/>
          <a:lstStyle/>
          <a:p>
            <a:pPr eaLnBrk="1" hangingPunct="1"/>
            <a:r>
              <a:rPr sz="2700" b="1">
                <a:solidFill>
                  <a:srgbClr val="1A1A1A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F4E79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481328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Data we use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502920" y="1792224"/>
          <a:ext cx="5532120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301752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OpenStreetMap (ODbL)
overpass-api.de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Roads, towns and villages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NASA POWER
power.larc.nasa.gov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Monthly rainfall for each place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Copernicus DEM via Open-Meteo
open-meteo.com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Ground height, which drives the flood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NASA COOLR landslide catalog
maps.nccs.nasa.gov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Past landslides, for training (download pending)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6355080" y="1481328"/>
            <a:ext cx="5330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Policy and method we build on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6355080" y="1792224"/>
          <a:ext cx="5330952" cy="23957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299923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Why it matters here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MDoNER / NEC Regional Plan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The connectivity priorities we build against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IWAI, National Waterway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Brahmaputra navigability and terminal locations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Dijkstra (1959)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Shortest path - how we find the plan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Yen (1971), Management Science 17(11)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 shortest loopless paths - how we find alternatives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Sagarmala and Bharatmala NE corridors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Planned infrastructure we can re-run the model against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5" name="Rectangle 17414"/>
          <p:cNvSpPr/>
          <p:nvPr/>
        </p:nvSpPr>
        <p:spPr>
          <a:xfrm>
            <a:off x="502920" y="5349240"/>
            <a:ext cx="11183112" cy="56692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731520" y="5486400"/>
            <a:ext cx="10725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05050"/>
                </a:solidFill>
                <a:latin typeface="Calibri"/>
              </a:rPr>
              <a:t>Code, tests and full method notes:  </a:t>
            </a:r>
            <a:r>
              <a:rPr sz="1200" b="1">
                <a:solidFill>
                  <a:srgbClr val="1A1A1A"/>
                </a:solidFill>
                <a:latin typeface="Calibri"/>
              </a:rPr>
              <a:t>github.com/Jeffrey2600/Logistics_sih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