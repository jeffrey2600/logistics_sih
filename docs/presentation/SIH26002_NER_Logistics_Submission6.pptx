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Point at the map on the right first - say "this is a screenshot of the real</a:t>
            </a:r>
          </a:p>
          <a:p>
            <a:r>
              <a:t>application, not a drawing" - then walk the three pointers on the left.</a:t>
            </a:r>
          </a:p>
          <a:p/>
          <a:p>
            <a:r>
              <a:t>01: one platform answers two questions - the best way to move freight, and</a:t>
            </a:r>
          </a:p>
          <a:p>
            <a:r>
              <a:t>which villages are cut off.</a:t>
            </a:r>
          </a:p>
          <a:p/>
          <a:p>
            <a:r>
              <a:t>02: it prices the monsoon in rupees and hours instead of a warning label, and</a:t>
            </a:r>
          </a:p>
          <a:p>
            <a:r>
              <a:t>names which villages are cut off rather than leaving it vague.</a:t>
            </a:r>
          </a:p>
          <a:p/>
          <a:p>
            <a:r>
              <a:t>03: the one line to make sure lands - we separate "this road may close</a:t>
            </a:r>
          </a:p>
          <a:p>
            <a:r>
              <a:t>sometime this month" from "this trip will be stopped." Treating those as the</a:t>
            </a:r>
          </a:p>
          <a:p>
            <a:r>
              <a:t>same number is the standard mistake, and it prices every hill road as</a:t>
            </a:r>
          </a:p>
          <a:p>
            <a:r>
              <a:t>unusable instead of merely expensive.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Top row: four technology groups, ten seconds each, no need to read every</a:t>
            </a:r>
          </a:p>
          <a:p>
            <a:r>
              <a:t>word - point and move on.</a:t>
            </a:r>
          </a:p>
          <a:p/>
          <a:p>
            <a:r>
              <a:t>Bottom: the same five-box flow chart, left to right. Open data comes in,</a:t>
            </a:r>
          </a:p>
          <a:p>
            <a:r>
              <a:t>gets built into a scored network offline, an engine turns that into risk and</a:t>
            </a:r>
          </a:p>
          <a:p>
            <a:r>
              <a:t>cost, four features answer real questions, and one process serves all of it.</a:t>
            </a:r>
          </a:p>
          <a:p>
            <a:r>
              <a:t>Say "no build step, no CDN" when you reach box five - that is why the demo</a:t>
            </a:r>
          </a:p>
          <a:p>
            <a:r>
              <a:t>still works if the venue's wifi blocks something.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Left: three numbers that prove it already exists - 25,360 km built, ₹0</a:t>
            </a:r>
          </a:p>
          <a:p>
            <a:r>
              <a:t>recurring cost, 261 tests passing. Don't linger, just land the three.</a:t>
            </a:r>
          </a:p>
          <a:p/>
          <a:p>
            <a:r>
              <a:t>Right: this is the slide judges probe hardest, and it is a table on purpose -</a:t>
            </a:r>
          </a:p>
          <a:p>
            <a:r>
              <a:t>every challenge sits directly across from its answer. The strongest pairing</a:t>
            </a:r>
          </a:p>
          <a:p>
            <a:r>
              <a:t>is the first one: India has no live road-closure feed anywhere, so we predict</a:t>
            </a:r>
          </a:p>
          <a:p>
            <a:r>
              <a:t>from rainfall and terrain instead, and the app is built to take driver reports</a:t>
            </a:r>
          </a:p>
          <a:p>
            <a:r>
              <a:t>later and learn from them. Say that one plainly - it is a real gap and</a:t>
            </a:r>
          </a:p>
          <a:p>
            <a:r>
              <a:t>naming it first is stronger than waiting to be asked.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audiences, three numbers. Billbari - 1.3 days to a market in the</a:t>
            </a:r>
          </a:p>
          <a:p>
            <a:r>
              <a:t>monsoon - is the one to read out loud, it is the most human. For a policy</a:t>
            </a:r>
          </a:p>
          <a:p>
            <a:r>
              <a:t>panel, use the MDoNER card instead: 1,309 of 4,033 major roads at severe risk</a:t>
            </a:r>
          </a:p>
          <a:p>
            <a:r>
              <a:t>in July, and on 1,055 of them the cause is flooding, not landslides - so</a:t>
            </a:r>
          </a:p>
          <a:p>
            <a:r>
              <a:t>spending on slope stabilisation would fix the wrong roads on those.</a:t>
            </a:r>
          </a:p>
          <a:p/>
          <a:p>
            <a:r>
              <a:t>Bottom row: social, economic, environmental, one line each - don't read all</a:t>
            </a:r>
          </a:p>
          <a:p>
            <a:r>
              <a:t>three unless asked, they are there to show completeness.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Keep this slide short - it is the credibility slide, not the argument.</a:t>
            </a:r>
          </a:p>
          <a:p>
            <a:r>
              <a:t>Everything used here is open and free, so the platform has nothing to</a:t>
            </a:r>
          </a:p>
          <a:p>
            <a:r>
              <a:t>license before it can be deployed. Mention that the landslide catalogue</a:t>
            </a:r>
          </a:p>
          <a:p>
            <a:r>
              <a:t>download is still pending rather than implying it is loaded - if a judge</a:t>
            </a:r>
          </a:p>
          <a:p>
            <a:r>
              <a:t>checks, honesty here is worth more than a clean-looking list. Close by</a:t>
            </a:r>
          </a:p>
          <a:p>
            <a:r>
              <a:t>pointing at the GitHub link: the code and tests are public.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geography before the software. The eight North Eastern states reach</a:t>
            </a:r>
          </a:p>
          <a:p>
            <a:r>
              <a:t>the rest of India through one 22 km strip near Siliguri. Highways are mostly</a:t>
            </a:r>
          </a:p>
          <a:p>
            <a:r>
              <a:t>single lane through hills that slide, Assam floods every year, and for four</a:t>
            </a:r>
          </a:p>
          <a:p>
            <a:r>
              <a:t>months the monsoon shuts the roads the other eight months depend on. MDoNER</a:t>
            </a:r>
          </a:p>
          <a:p>
            <a:r>
              <a:t>asked for a platform that plans freight across all of that and shows which</a:t>
            </a:r>
          </a:p>
          <a:p>
            <a:r>
              <a:t>places are cut off. This deck is that platform, already built and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sz="2000" b="1">
                <a:solidFill>
                  <a:srgbClr val="1A1A1A"/>
                </a:solidFill>
                <a:latin typeface="Calibri"/>
              </a:rPr>
              <a:t>IDEA SUBMISSION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Problem Statement ID  </a:t>
            </a:r>
            <a:r>
              <a:rPr sz="1300" b="0">
                <a:solidFill>
                  <a:srgbClr val="1A1A1A"/>
                </a:solidFill>
                <a:latin typeface="Calibri"/>
              </a:rPr>
              <a:t>SIH26002</a:t>
            </a:r>
            <a:endParaRPr lang="en-US" dirty="0"/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Problem Statement  </a:t>
            </a:r>
            <a:r>
              <a:rPr sz="1300" b="0">
                <a:solidFill>
                  <a:srgbClr val="1A1A1A"/>
                </a:solidFill>
                <a:latin typeface="Calibri"/>
              </a:rPr>
              <a:t>AI-Based Smart Logistics and Accessibility Intelligence Platform for the North Eastern Region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Theme  </a:t>
            </a:r>
            <a:r>
              <a:rPr sz="1300" b="0">
                <a:solidFill>
                  <a:srgbClr val="1A1A1A"/>
                </a:solidFill>
                <a:latin typeface="Calibri"/>
              </a:rPr>
              <a:t>Smart Automation  |  MDoNER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PS Category  </a:t>
            </a:r>
            <a:r>
              <a:rPr sz="1300" b="0">
                <a:solidFill>
                  <a:srgbClr val="1A1A1A"/>
                </a:solidFill>
                <a:latin typeface="Calibri"/>
              </a:rPr>
              <a:t>Software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Team ID  </a:t>
            </a:r>
            <a:r>
              <a:rPr sz="1300" b="0">
                <a:solidFill>
                  <a:srgbClr val="1A1A1A"/>
                </a:solidFill>
                <a:latin typeface="Calibri"/>
              </a:rPr>
              <a:t>&lt;your team ID&gt;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Team Name  </a:t>
            </a:r>
            <a:r>
              <a:rPr sz="1300" b="0">
                <a:solidFill>
                  <a:srgbClr val="1A1A1A"/>
                </a:solidFill>
                <a:latin typeface="Calibri"/>
              </a:rPr>
              <a:t>&lt;your registered 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2500" b="1">
                <a:solidFill>
                  <a:srgbClr val="1A1A1A"/>
                </a:solidFill>
                <a:latin typeface="Calibri"/>
              </a:rPr>
              <a:t>Route the North East by Risk, Not by Distance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02920" y="1060704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F4E79"/>
                </a:solidFill>
                <a:latin typeface="Calibri"/>
              </a:rPr>
              <a:t>Proposed Solution (Idea / Solution / Prototype)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502920" y="151790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TextBox 15363"/>
          <p:cNvSpPr txBox="1"/>
          <p:nvPr/>
        </p:nvSpPr>
        <p:spPr>
          <a:xfrm>
            <a:off x="502920" y="151790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923544" y="1499616"/>
            <a:ext cx="64830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923544" y="1865376"/>
            <a:ext cx="648309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One platform, two engines — plans multimodal freight routes and scores village accessibility, on one shared network.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Layers road, rail, waterway and air into one graph; every change of vehicle is charged real handling cost and time.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502920" y="279806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502920" y="2798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923544" y="2779776"/>
            <a:ext cx="64830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923544" y="3145536"/>
            <a:ext cx="648309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Turns “the monsoon might disrupt this” into a rupee-and-hour number a shipper can act on before dispatch.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Names exactly which villages are cut off and by how much — so investment is targeted, not guessed.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502920" y="407822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2" name="TextBox 15371"/>
          <p:cNvSpPr txBox="1"/>
          <p:nvPr/>
        </p:nvSpPr>
        <p:spPr>
          <a:xfrm>
            <a:off x="502920" y="407822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923544" y="4059936"/>
            <a:ext cx="64830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923544" y="4425696"/>
            <a:ext cx="64830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Keeps “this road may close this month” separate from “this trip will meet it” — a hill route prices as expensive, not impossible.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–  Landslide and flood are scored as two independent hazards. Built and validated entirely on free, open data — ₹0 recurring cost.</a:t>
            </a:r>
          </a:p>
        </p:txBody>
      </p:sp>
      <p:pic>
        <p:nvPicPr>
          <p:cNvPr id="15375" name="Picture 15374" descr="risk_map_t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481328"/>
            <a:ext cx="4096512" cy="2926080"/>
          </a:xfrm>
          <a:prstGeom prst="rect">
            <a:avLst/>
          </a:prstGeom>
        </p:spPr>
      </p:pic>
      <p:sp>
        <p:nvSpPr>
          <p:cNvPr id="15376" name="Rectangle 15375"/>
          <p:cNvSpPr/>
          <p:nvPr/>
        </p:nvSpPr>
        <p:spPr>
          <a:xfrm>
            <a:off x="7589520" y="1481328"/>
            <a:ext cx="4096512" cy="29260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7589520" y="4462272"/>
            <a:ext cx="40965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The whole network, live from the app — 7,181 road segments coloured by monsoon risk this month.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7589520" y="5074920"/>
            <a:ext cx="4096512" cy="11887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7772400" y="5193792"/>
            <a:ext cx="3730752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1" i="0">
                <a:solidFill>
                  <a:srgbClr val="1A1A1A"/>
                </a:solidFill>
                <a:latin typeface="Calibri"/>
              </a:rPr>
              <a:t>At a glance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 i="0">
                <a:solidFill>
                  <a:srgbClr val="5F5F5F"/>
                </a:solidFill>
                <a:latin typeface="Calibri"/>
              </a:rPr>
              <a:t>7,181 segments  ·  25,360 km scored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 i="0">
                <a:solidFill>
                  <a:srgbClr val="5F5F5F"/>
                </a:solidFill>
                <a:latin typeface="Calibri"/>
              </a:rPr>
              <a:t>5,594 settlements ranked by real access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 i="0">
                <a:solidFill>
                  <a:srgbClr val="5F5F5F"/>
                </a:solidFill>
                <a:latin typeface="Calibri"/>
              </a:rPr>
              <a:t>₹0 data cost · 261 tests · 30 UI checks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F4E79"/>
                </a:solidFill>
                <a:latin typeface="Calibri"/>
              </a:rPr>
              <a:t>Technologies, then how they fit together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23544" y="1444752"/>
            <a:ext cx="1076248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1810512"/>
            <a:ext cx="2679192" cy="65836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30936" y="1883664"/>
            <a:ext cx="2423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 i="0">
                <a:solidFill>
                  <a:srgbClr val="1F4E79"/>
                </a:solidFill>
                <a:latin typeface="Calibri"/>
              </a:rPr>
              <a:t>BACKEND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Python  ·  FastAPI  ·  NetworkX  ·  scikit-learn (optional)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3300984" y="1810512"/>
            <a:ext cx="2679192" cy="65836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3429000" y="1883664"/>
            <a:ext cx="2423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 i="0">
                <a:solidFill>
                  <a:srgbClr val="1F4E79"/>
                </a:solidFill>
                <a:latin typeface="Calibri"/>
              </a:rPr>
              <a:t>DATA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OpenStreetMap  ·  NASA POWER  ·  Copernicus DEM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099048" y="1810512"/>
            <a:ext cx="2679192" cy="65836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6227064" y="1883664"/>
            <a:ext cx="2423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 i="0">
                <a:solidFill>
                  <a:srgbClr val="1F4E79"/>
                </a:solidFill>
                <a:latin typeface="Calibri"/>
              </a:rPr>
              <a:t>FRONTEND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MapLibre GL — vendored, zero build step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8897112" y="1810512"/>
            <a:ext cx="2679192" cy="65836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9025128" y="1883664"/>
            <a:ext cx="2423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 i="0">
                <a:solidFill>
                  <a:srgbClr val="1F4E79"/>
                </a:solidFill>
                <a:latin typeface="Calibri"/>
              </a:rPr>
              <a:t>TESTING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pytest — 261 tests  ·  Playwright — 30 UI checks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502920" y="261518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50292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23544" y="2596896"/>
            <a:ext cx="1076248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439912" y="26060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50" b="0" i="1">
                <a:solidFill>
                  <a:srgbClr val="8A8A8A"/>
                </a:solidFill>
                <a:latin typeface="Calibri"/>
              </a:rPr>
              <a:t>(flow chart — working prototype)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502920" y="3090672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Rectangle 17426"/>
          <p:cNvSpPr/>
          <p:nvPr/>
        </p:nvSpPr>
        <p:spPr>
          <a:xfrm>
            <a:off x="502920" y="3090672"/>
            <a:ext cx="1993392" cy="3108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502920" y="3090672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Calibri"/>
              </a:rPr>
              <a:t>1.  Open data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12648" y="3493008"/>
            <a:ext cx="177393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OSM roads &amp; places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NASA rainfall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Copernicus elevation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2514600" y="3749040"/>
            <a:ext cx="164592" cy="100584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Rectangle 17430"/>
          <p:cNvSpPr/>
          <p:nvPr/>
        </p:nvSpPr>
        <p:spPr>
          <a:xfrm>
            <a:off x="2697480" y="3090672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2697480" y="3090672"/>
            <a:ext cx="1993392" cy="3108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2697480" y="3090672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Calibri"/>
              </a:rPr>
              <a:t>2.  Build (offline)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2807208" y="3493008"/>
            <a:ext cx="177393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Contract OSM ways into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7,181 scored segments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+ 5,594 settlements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4709160" y="3749040"/>
            <a:ext cx="164592" cy="100584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4892040" y="3090672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Rectangle 17436"/>
          <p:cNvSpPr/>
          <p:nvPr/>
        </p:nvSpPr>
        <p:spPr>
          <a:xfrm>
            <a:off x="4892040" y="3090672"/>
            <a:ext cx="1993392" cy="3108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4892040" y="3090672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Calibri"/>
              </a:rPr>
              <a:t>3.  Engine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001768" y="3493008"/>
            <a:ext cx="177393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Risk model (landslide +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flood) · cost model ·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mode-layered graph</a:t>
            </a:r>
          </a:p>
        </p:txBody>
      </p:sp>
      <p:sp>
        <p:nvSpPr>
          <p:cNvPr id="17440" name="Right Arrow 17439"/>
          <p:cNvSpPr/>
          <p:nvPr/>
        </p:nvSpPr>
        <p:spPr>
          <a:xfrm>
            <a:off x="6903720" y="3749040"/>
            <a:ext cx="164592" cy="100584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Rectangle 17440"/>
          <p:cNvSpPr/>
          <p:nvPr/>
        </p:nvSpPr>
        <p:spPr>
          <a:xfrm>
            <a:off x="7086600" y="3090672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Rectangle 17441"/>
          <p:cNvSpPr/>
          <p:nvPr/>
        </p:nvSpPr>
        <p:spPr>
          <a:xfrm>
            <a:off x="7086600" y="3090672"/>
            <a:ext cx="1993392" cy="3108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7086600" y="3090672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Calibri"/>
              </a:rPr>
              <a:t>4.  Answer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7196328" y="3493008"/>
            <a:ext cx="177393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Plan a route · compare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options · risk map ·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who is cut off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9098280" y="3749040"/>
            <a:ext cx="164592" cy="100584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Rectangle 17445"/>
          <p:cNvSpPr/>
          <p:nvPr/>
        </p:nvSpPr>
        <p:spPr>
          <a:xfrm>
            <a:off x="9281160" y="3090672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ectangle 17446"/>
          <p:cNvSpPr/>
          <p:nvPr/>
        </p:nvSpPr>
        <p:spPr>
          <a:xfrm>
            <a:off x="9281160" y="3090672"/>
            <a:ext cx="1993392" cy="31089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281160" y="3090672"/>
            <a:ext cx="19933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Calibri"/>
              </a:rPr>
              <a:t>5.  Serve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390888" y="3493008"/>
            <a:ext cx="177393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One FastAPI process: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API + dashboard,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no build, no CDN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502920" y="4782312"/>
            <a:ext cx="11183112" cy="51206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713232" y="4901183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Working prototype:  </a:t>
            </a:r>
            <a:r>
              <a:rPr sz="1000" b="0">
                <a:solidFill>
                  <a:srgbClr val="5F5F5F"/>
                </a:solidFill>
                <a:latin typeface="Calibri"/>
              </a:rPr>
              <a:t>all five stages run today against the full 25,360 km network — the risk map on this deck's cover slide is a screenshot of the live application, not a mock-up.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F4E79"/>
                </a:solidFill>
                <a:latin typeface="Calibri"/>
              </a:rPr>
              <a:t>Already built on free data, with the gaps named plainly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23544" y="1444752"/>
            <a:ext cx="1076248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1810512"/>
            <a:ext cx="3605784" cy="7863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49224" y="1901952"/>
            <a:ext cx="331317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25,360 km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F5F5F"/>
                </a:solidFill>
                <a:latin typeface="Calibri"/>
              </a:rPr>
              <a:t>network already built, from open data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291584" y="1810512"/>
            <a:ext cx="3605784" cy="7863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437888" y="1901952"/>
            <a:ext cx="331317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₹0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F5F5F"/>
                </a:solidFill>
                <a:latin typeface="Calibri"/>
              </a:rPr>
              <a:t>recurring cost — every data source is free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8080248" y="1810512"/>
            <a:ext cx="3605784" cy="7863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226552" y="1901952"/>
            <a:ext cx="331317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261 + 30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F5F5F"/>
                </a:solidFill>
                <a:latin typeface="Calibri"/>
              </a:rPr>
              <a:t>automated tests and UI checks, passing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02920" y="270662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02920" y="270662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23544" y="2688336"/>
            <a:ext cx="50657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172200" y="2706624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172200" y="270662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592824" y="2688336"/>
            <a:ext cx="50657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Strategies for overcoming these challenges</a:t>
            </a:r>
          </a:p>
        </p:txBody>
      </p:sp>
      <p:graphicFrame>
        <p:nvGraphicFramePr>
          <p:cNvPr id="17426" name="Table 17425"/>
          <p:cNvGraphicFramePr>
            <a:graphicFrameLocks noGrp="1"/>
          </p:cNvGraphicFramePr>
          <p:nvPr/>
        </p:nvGraphicFramePr>
        <p:xfrm>
          <a:off x="502920" y="3072384"/>
          <a:ext cx="11183112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0"/>
                <a:gridCol w="569671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No live road-closure feed exists anywhere in India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Predict from rainfall + terrain now; collect driver-reported closures in-app to learn over time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OpenStreetMap has population for only 15% of villages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Rank facility siting by settlements reached, not population; add the Census 2011 directory next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Only 35 markets are mapped for 5,594 villages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Load the Agmarknet market list — the single highest-value data addition identified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Free map and elevation APIs rate-limit large downloads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Offline-first pipeline: fetch once, build once, commit the result — nothing at runtime re-downloads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F4E79"/>
                </a:solidFill>
                <a:latin typeface="Calibri"/>
              </a:rPr>
              <a:t>Who this changes things for, and how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23544" y="1444752"/>
            <a:ext cx="1076248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1810512"/>
            <a:ext cx="3605784" cy="1417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67512" y="192024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Farmers &amp; FPOs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Billbari, Assam: 1.3 days to a market in the monsoon. Knowing that before harvest changes what to plant, and when to sell.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291584" y="1810512"/>
            <a:ext cx="3605784" cy="1417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456176" y="192024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Transporters &amp; 3PLs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A defensible mode choice per consignment, backed by real rupees, hours and risk — not a rate card and a guess.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8080248" y="1810512"/>
            <a:ext cx="3605784" cy="14173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244840" y="192024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MDoNER, NEC &amp; State PWDs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In July, 1,309 of 4,033 major roads are at severe risk — and on 1,055 of them the cause is flooding, not landslides. Spend accordingly.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02920" y="3429000"/>
            <a:ext cx="310896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0292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23544" y="3410712"/>
            <a:ext cx="1076248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502920" y="3776472"/>
            <a:ext cx="360578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67512" y="388620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SOCIAL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Visibility for the 399 settlements more than 20 km from any mapped road — invisible to planning until they are measured.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91584" y="3776472"/>
            <a:ext cx="360578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4456176" y="388620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ECONOMIC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₹5,032 per tonne and 6.2 days separate the best and worst choice on one lane alone — the cost of choosing badly, made visible.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080248" y="3776472"/>
            <a:ext cx="3605784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8244840" y="3886200"/>
            <a:ext cx="3276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ENVIRONMENTAL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5F5F5F"/>
                </a:solidFill>
                <a:latin typeface="Calibri"/>
              </a:rPr>
              <a:t>Routes shift to rail and waterway where viable: 2.0 days by rail vs 7.6 days by road only, on the same lane.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1F4E79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481328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Data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502920" y="1773936"/>
          <a:ext cx="5532120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30175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OpenStreetMap (ODbL)
overpass-api.de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Roads, towns and villages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NASA POWER
power.larc.nasa.gov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Monthly rainfall for each place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Copernicus DEM via Open-Meteo
open-meteo.com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Ground height, which drives the flood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NASA COOLR landslide catalog
maps.nccs.nasa.gov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Past landslides, for training (download pending)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6355080" y="1481328"/>
            <a:ext cx="53309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Policy and method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6355080" y="1773936"/>
          <a:ext cx="53309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299923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Why it matters here</a:t>
                      </a:r>
                    </a:p>
                  </a:txBody>
                  <a:tcPr marL="73152" marR="73152" marT="18288" marB="18288" anchor="ctr">
                    <a:solidFill>
                      <a:srgbClr val="F0F0F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MDoNER / NEC Regional Plan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The connectivity priorities this is built against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IWAI, National Waterway 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Brahmaputra navigability and terminal locations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Dijkstra (1959)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Shortest path — how the plan is found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Yen (1971), Management Science 17(11)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 shortest loopless paths — how alternatives are found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Sagarmala and Bharatmala NE corridors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Planned infrastructure the model can be re-run against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Rectangle 17414"/>
          <p:cNvSpPr/>
          <p:nvPr/>
        </p:nvSpPr>
        <p:spPr>
          <a:xfrm>
            <a:off x="502920" y="5257800"/>
            <a:ext cx="11183112" cy="56692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731520" y="5394960"/>
            <a:ext cx="10725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5F5F5F"/>
                </a:solidFill>
                <a:latin typeface="Calibri"/>
              </a:rPr>
              <a:t>Code, tests and the full method notes:  </a:t>
            </a:r>
            <a:r>
              <a:rPr sz="1200" b="1">
                <a:solidFill>
                  <a:srgbClr val="1A1A1A"/>
                </a:solidFill>
                <a:latin typeface="Calibri"/>
              </a:rPr>
              <a:t>github.com/Jeffrey2600/Logistics_sih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