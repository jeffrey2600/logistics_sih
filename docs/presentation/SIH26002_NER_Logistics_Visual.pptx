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r>
              <a:rPr sz="2000" b="1">
                <a:solidFill>
                  <a:srgbClr val="1A1A1A"/>
                </a:solidFill>
                <a:latin typeface="Calibri"/>
              </a:rPr>
              <a:t>IDEA SUBMISSION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50" b="1">
                <a:solidFill>
                  <a:srgbClr val="2F6FB2"/>
                </a:solidFill>
                <a:latin typeface="Calibri"/>
              </a:rPr>
              <a:t>Problem Statement ID  </a:t>
            </a:r>
            <a:r>
              <a:rPr sz="1350" b="0">
                <a:solidFill>
                  <a:srgbClr val="1A1A1A"/>
                </a:solidFill>
                <a:latin typeface="Calibri"/>
              </a:rPr>
              <a:t>SIH26002</a:t>
            </a:r>
            <a:endParaRPr lang="en-US" dirty="0"/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50" b="1">
                <a:solidFill>
                  <a:srgbClr val="2F6FB2"/>
                </a:solidFill>
                <a:latin typeface="Calibri"/>
              </a:rPr>
              <a:t>Problem Statement  </a:t>
            </a:r>
            <a:r>
              <a:rPr sz="1350" b="0">
                <a:solidFill>
                  <a:srgbClr val="1A1A1A"/>
                </a:solidFill>
                <a:latin typeface="Calibri"/>
              </a:rPr>
              <a:t>AI-Based Smart Logistics and Accessibility Intelligence Platform for the North Eastern Region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50" b="1">
                <a:solidFill>
                  <a:srgbClr val="2F6FB2"/>
                </a:solidFill>
                <a:latin typeface="Calibri"/>
              </a:rPr>
              <a:t>Theme  </a:t>
            </a:r>
            <a:r>
              <a:rPr sz="1350" b="0">
                <a:solidFill>
                  <a:srgbClr val="1A1A1A"/>
                </a:solidFill>
                <a:latin typeface="Calibri"/>
              </a:rPr>
              <a:t>Smart Automation  |  MDoNER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50" b="1">
                <a:solidFill>
                  <a:srgbClr val="2F6FB2"/>
                </a:solidFill>
                <a:latin typeface="Calibri"/>
              </a:rPr>
              <a:t>PS Category  </a:t>
            </a:r>
            <a:r>
              <a:rPr sz="1350" b="0">
                <a:solidFill>
                  <a:srgbClr val="1A1A1A"/>
                </a:solidFill>
                <a:latin typeface="Calibri"/>
              </a:rPr>
              <a:t>Software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50" b="1">
                <a:solidFill>
                  <a:srgbClr val="2F6FB2"/>
                </a:solidFill>
                <a:latin typeface="Calibri"/>
              </a:rPr>
              <a:t>Team ID  </a:t>
            </a:r>
            <a:r>
              <a:rPr sz="1350" b="0">
                <a:solidFill>
                  <a:srgbClr val="1A1A1A"/>
                </a:solidFill>
                <a:latin typeface="Calibri"/>
              </a:rPr>
              <a:t>&lt;your team ID&gt;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50" b="1">
                <a:solidFill>
                  <a:srgbClr val="2F6FB2"/>
                </a:solidFill>
                <a:latin typeface="Calibri"/>
              </a:rPr>
              <a:t>Team Name  </a:t>
            </a:r>
            <a:r>
              <a:rPr sz="1350" b="0">
                <a:solidFill>
                  <a:srgbClr val="1A1A1A"/>
                </a:solidFill>
                <a:latin typeface="Calibri"/>
              </a:rPr>
              <a:t>&lt;your registered team name&gt;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783080" y="73152"/>
            <a:ext cx="7818120" cy="777240"/>
          </a:xfrm>
        </p:spPr>
        <p:txBody>
          <a:bodyPr wrap="square"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sz="3000" b="1">
                <a:solidFill>
                  <a:srgbClr val="1A1A1A"/>
                </a:solidFill>
                <a:latin typeface="Calibri"/>
              </a:rPr>
              <a:t>PROPOSED SOLUTION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Rounded Rectangle 15361"/>
          <p:cNvSpPr/>
          <p:nvPr/>
        </p:nvSpPr>
        <p:spPr>
          <a:xfrm>
            <a:off x="502920" y="960120"/>
            <a:ext cx="3520440" cy="310896"/>
          </a:xfrm>
          <a:prstGeom prst="roundRect">
            <a:avLst>
              <a:gd name="adj" fmla="val 45000"/>
            </a:avLst>
          </a:prstGeom>
          <a:solidFill>
            <a:srgbClr val="ED9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63" name="TextBox 15362"/>
          <p:cNvSpPr txBox="1"/>
          <p:nvPr/>
        </p:nvSpPr>
        <p:spPr>
          <a:xfrm>
            <a:off x="502920" y="960120"/>
            <a:ext cx="35204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4279392" y="960120"/>
            <a:ext cx="3520440" cy="310896"/>
          </a:xfrm>
          <a:prstGeom prst="roundRect">
            <a:avLst>
              <a:gd name="adj" fmla="val 45000"/>
            </a:avLst>
          </a:prstGeom>
          <a:solidFill>
            <a:srgbClr val="ED9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65" name="TextBox 15364"/>
          <p:cNvSpPr txBox="1"/>
          <p:nvPr/>
        </p:nvSpPr>
        <p:spPr>
          <a:xfrm>
            <a:off x="4279392" y="960120"/>
            <a:ext cx="35204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AI Processing</a:t>
            </a:r>
          </a:p>
        </p:txBody>
      </p:sp>
      <p:sp>
        <p:nvSpPr>
          <p:cNvPr id="15366" name="Rounded Rectangle 15365"/>
          <p:cNvSpPr/>
          <p:nvPr/>
        </p:nvSpPr>
        <p:spPr>
          <a:xfrm>
            <a:off x="8055864" y="960120"/>
            <a:ext cx="3520440" cy="310896"/>
          </a:xfrm>
          <a:prstGeom prst="roundRect">
            <a:avLst>
              <a:gd name="adj" fmla="val 45000"/>
            </a:avLst>
          </a:prstGeom>
          <a:solidFill>
            <a:srgbClr val="ED9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67" name="TextBox 15366"/>
          <p:cNvSpPr txBox="1"/>
          <p:nvPr/>
        </p:nvSpPr>
        <p:spPr>
          <a:xfrm>
            <a:off x="8055864" y="960120"/>
            <a:ext cx="35204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Output</a:t>
            </a:r>
          </a:p>
        </p:txBody>
      </p:sp>
      <p:sp>
        <p:nvSpPr>
          <p:cNvPr id="15368" name="Rounded Rectangle 15367"/>
          <p:cNvSpPr/>
          <p:nvPr/>
        </p:nvSpPr>
        <p:spPr>
          <a:xfrm>
            <a:off x="502920" y="1362456"/>
            <a:ext cx="352044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2E8B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69" name="TextBox 15368"/>
          <p:cNvSpPr txBox="1"/>
          <p:nvPr/>
        </p:nvSpPr>
        <p:spPr>
          <a:xfrm>
            <a:off x="621792" y="1435608"/>
            <a:ext cx="3282696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50" b="0" i="0">
                <a:solidFill>
                  <a:srgbClr val="1A1A1A"/>
                </a:solidFill>
                <a:latin typeface="Calibri"/>
              </a:rPr>
              <a:t>•  OpenStreetMap - roads &amp; villages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50" b="0" i="0">
                <a:solidFill>
                  <a:srgbClr val="1A1A1A"/>
                </a:solidFill>
                <a:latin typeface="Calibri"/>
              </a:rPr>
              <a:t>•  NASA POWER - monthly rainfall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50" b="0" i="0">
                <a:solidFill>
                  <a:srgbClr val="1A1A1A"/>
                </a:solidFill>
                <a:latin typeface="Calibri"/>
              </a:rPr>
              <a:t>•  Copernicus DEM - ground elevation</a:t>
            </a:r>
          </a:p>
        </p:txBody>
      </p:sp>
      <p:sp>
        <p:nvSpPr>
          <p:cNvPr id="15370" name="Rounded Rectangle 15369"/>
          <p:cNvSpPr/>
          <p:nvPr/>
        </p:nvSpPr>
        <p:spPr>
          <a:xfrm>
            <a:off x="4279392" y="1362456"/>
            <a:ext cx="352044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2E8B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71" name="Rounded Rectangle 15370"/>
          <p:cNvSpPr/>
          <p:nvPr/>
        </p:nvSpPr>
        <p:spPr>
          <a:xfrm>
            <a:off x="4370831" y="1453896"/>
            <a:ext cx="623620" cy="384048"/>
          </a:xfrm>
          <a:prstGeom prst="roundRect">
            <a:avLst>
              <a:gd name="adj" fmla="val 20000"/>
            </a:avLst>
          </a:prstGeom>
          <a:solidFill>
            <a:srgbClr val="E7F3F5"/>
          </a:solidFill>
          <a:ln w="12700">
            <a:solidFill>
              <a:srgbClr val="2E8B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72" name="TextBox 15371"/>
          <p:cNvSpPr txBox="1"/>
          <p:nvPr/>
        </p:nvSpPr>
        <p:spPr>
          <a:xfrm>
            <a:off x="4370831" y="1453896"/>
            <a:ext cx="6236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30" b="1" i="0">
                <a:solidFill>
                  <a:srgbClr val="2E8B9B"/>
                </a:solidFill>
                <a:latin typeface="Calibri"/>
              </a:rPr>
              <a:t>Terrain</a:t>
            </a:r>
          </a:p>
        </p:txBody>
      </p:sp>
      <p:sp>
        <p:nvSpPr>
          <p:cNvPr id="15373" name="Rounded Rectangle 15372"/>
          <p:cNvSpPr/>
          <p:nvPr/>
        </p:nvSpPr>
        <p:spPr>
          <a:xfrm>
            <a:off x="5049316" y="1453896"/>
            <a:ext cx="623620" cy="384048"/>
          </a:xfrm>
          <a:prstGeom prst="roundRect">
            <a:avLst>
              <a:gd name="adj" fmla="val 20000"/>
            </a:avLst>
          </a:prstGeom>
          <a:solidFill>
            <a:srgbClr val="E7F3F5"/>
          </a:solidFill>
          <a:ln w="12700">
            <a:solidFill>
              <a:srgbClr val="2E8B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74" name="TextBox 15373"/>
          <p:cNvSpPr txBox="1"/>
          <p:nvPr/>
        </p:nvSpPr>
        <p:spPr>
          <a:xfrm>
            <a:off x="5049316" y="1453896"/>
            <a:ext cx="6236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30" b="1" i="0">
                <a:solidFill>
                  <a:srgbClr val="2E8B9B"/>
                </a:solidFill>
                <a:latin typeface="Calibri"/>
              </a:rPr>
              <a:t>Rainfall</a:t>
            </a:r>
          </a:p>
        </p:txBody>
      </p:sp>
      <p:sp>
        <p:nvSpPr>
          <p:cNvPr id="15375" name="Rounded Rectangle 15374"/>
          <p:cNvSpPr/>
          <p:nvPr/>
        </p:nvSpPr>
        <p:spPr>
          <a:xfrm>
            <a:off x="5727801" y="1453896"/>
            <a:ext cx="623620" cy="384048"/>
          </a:xfrm>
          <a:prstGeom prst="roundRect">
            <a:avLst>
              <a:gd name="adj" fmla="val 20000"/>
            </a:avLst>
          </a:prstGeom>
          <a:solidFill>
            <a:srgbClr val="E7F3F5"/>
          </a:solidFill>
          <a:ln w="12700">
            <a:solidFill>
              <a:srgbClr val="2E8B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76" name="TextBox 15375"/>
          <p:cNvSpPr txBox="1"/>
          <p:nvPr/>
        </p:nvSpPr>
        <p:spPr>
          <a:xfrm>
            <a:off x="5727801" y="1453896"/>
            <a:ext cx="6236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30" b="1" i="0">
                <a:solidFill>
                  <a:srgbClr val="2E8B9B"/>
                </a:solidFill>
                <a:latin typeface="Calibri"/>
              </a:rPr>
              <a:t>Elevation</a:t>
            </a:r>
          </a:p>
        </p:txBody>
      </p:sp>
      <p:sp>
        <p:nvSpPr>
          <p:cNvPr id="15377" name="Rounded Rectangle 15376"/>
          <p:cNvSpPr/>
          <p:nvPr/>
        </p:nvSpPr>
        <p:spPr>
          <a:xfrm>
            <a:off x="6406286" y="1453896"/>
            <a:ext cx="623620" cy="384048"/>
          </a:xfrm>
          <a:prstGeom prst="roundRect">
            <a:avLst>
              <a:gd name="adj" fmla="val 20000"/>
            </a:avLst>
          </a:prstGeom>
          <a:solidFill>
            <a:srgbClr val="E7F3F5"/>
          </a:solidFill>
          <a:ln w="12700">
            <a:solidFill>
              <a:srgbClr val="2E8B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78" name="TextBox 15377"/>
          <p:cNvSpPr txBox="1"/>
          <p:nvPr/>
        </p:nvSpPr>
        <p:spPr>
          <a:xfrm>
            <a:off x="6406286" y="1453896"/>
            <a:ext cx="6236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30" b="1" i="0">
                <a:solidFill>
                  <a:srgbClr val="2E8B9B"/>
                </a:solidFill>
                <a:latin typeface="Calibri"/>
              </a:rPr>
              <a:t>Graph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30" b="1" i="0">
                <a:solidFill>
                  <a:srgbClr val="2E8B9B"/>
                </a:solidFill>
                <a:latin typeface="Calibri"/>
              </a:rPr>
              <a:t>search</a:t>
            </a:r>
          </a:p>
        </p:txBody>
      </p:sp>
      <p:sp>
        <p:nvSpPr>
          <p:cNvPr id="15379" name="Rounded Rectangle 15378"/>
          <p:cNvSpPr/>
          <p:nvPr/>
        </p:nvSpPr>
        <p:spPr>
          <a:xfrm>
            <a:off x="7084771" y="1453896"/>
            <a:ext cx="623620" cy="384048"/>
          </a:xfrm>
          <a:prstGeom prst="roundRect">
            <a:avLst>
              <a:gd name="adj" fmla="val 20000"/>
            </a:avLst>
          </a:prstGeom>
          <a:solidFill>
            <a:srgbClr val="E7F3F5"/>
          </a:solidFill>
          <a:ln w="12700">
            <a:solidFill>
              <a:srgbClr val="2E8B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80" name="TextBox 15379"/>
          <p:cNvSpPr txBox="1"/>
          <p:nvPr/>
        </p:nvSpPr>
        <p:spPr>
          <a:xfrm>
            <a:off x="7084771" y="1453896"/>
            <a:ext cx="6236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30" b="1" i="0">
                <a:solidFill>
                  <a:srgbClr val="2E8B9B"/>
                </a:solidFill>
                <a:latin typeface="Calibri"/>
              </a:rPr>
              <a:t>Risk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30" b="1" i="0">
                <a:solidFill>
                  <a:srgbClr val="2E8B9B"/>
                </a:solidFill>
                <a:latin typeface="Calibri"/>
              </a:rPr>
              <a:t>score</a:t>
            </a:r>
          </a:p>
        </p:txBody>
      </p:sp>
      <p:sp>
        <p:nvSpPr>
          <p:cNvPr id="15381" name="TextBox 15380"/>
          <p:cNvSpPr txBox="1"/>
          <p:nvPr/>
        </p:nvSpPr>
        <p:spPr>
          <a:xfrm>
            <a:off x="4370831" y="1892807"/>
            <a:ext cx="33375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 i="0">
                <a:solidFill>
                  <a:srgbClr val="505050"/>
                </a:solidFill>
                <a:latin typeface="Calibri"/>
              </a:rPr>
              <a:t>Landslide + flood scored independently, then combined into a generalised cost: rupees, hours, and risk together.</a:t>
            </a:r>
          </a:p>
        </p:txBody>
      </p:sp>
      <p:sp>
        <p:nvSpPr>
          <p:cNvPr id="15382" name="Rounded Rectangle 15381"/>
          <p:cNvSpPr/>
          <p:nvPr/>
        </p:nvSpPr>
        <p:spPr>
          <a:xfrm>
            <a:off x="8055864" y="1362456"/>
            <a:ext cx="352044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2E8B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383" name="Picture 15382" descr="risk_map_t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9016" y="1417320"/>
            <a:ext cx="1417320" cy="1012371"/>
          </a:xfrm>
          <a:prstGeom prst="rect">
            <a:avLst/>
          </a:prstGeom>
        </p:spPr>
      </p:pic>
      <p:sp>
        <p:nvSpPr>
          <p:cNvPr id="15384" name="TextBox 15383"/>
          <p:cNvSpPr txBox="1"/>
          <p:nvPr/>
        </p:nvSpPr>
        <p:spPr>
          <a:xfrm>
            <a:off x="9637776" y="1417320"/>
            <a:ext cx="1792223" cy="10123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869" b="0" i="0">
                <a:solidFill>
                  <a:srgbClr val="1A1A1A"/>
                </a:solidFill>
                <a:latin typeface="Calibri"/>
              </a:rPr>
              <a:t>•  Best route + alternatives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869" b="0" i="0">
                <a:solidFill>
                  <a:srgbClr val="1A1A1A"/>
                </a:solidFill>
                <a:latin typeface="Calibri"/>
              </a:rPr>
              <a:t>•  Monsoon risk map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869" b="0" i="0">
                <a:solidFill>
                  <a:srgbClr val="1A1A1A"/>
                </a:solidFill>
                <a:latin typeface="Calibri"/>
              </a:rPr>
              <a:t>•  Village accessibility score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869" b="0" i="0">
                <a:solidFill>
                  <a:srgbClr val="1A1A1A"/>
                </a:solidFill>
                <a:latin typeface="Calibri"/>
              </a:rPr>
              <a:t>•  Live shipment tracking</a:t>
            </a:r>
          </a:p>
        </p:txBody>
      </p:sp>
      <p:sp>
        <p:nvSpPr>
          <p:cNvPr id="15385" name="TextBox 15384"/>
          <p:cNvSpPr txBox="1"/>
          <p:nvPr/>
        </p:nvSpPr>
        <p:spPr>
          <a:xfrm>
            <a:off x="8129016" y="2466267"/>
            <a:ext cx="3374136" cy="-244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0" i="1">
                <a:solidFill>
                  <a:srgbClr val="505050"/>
                </a:solidFill>
                <a:latin typeface="Calibri"/>
              </a:rPr>
              <a:t>Screenshot from the running app.</a:t>
            </a:r>
          </a:p>
        </p:txBody>
      </p:sp>
      <p:sp>
        <p:nvSpPr>
          <p:cNvPr id="15386" name="Rounded Rectangle 15385"/>
          <p:cNvSpPr/>
          <p:nvPr/>
        </p:nvSpPr>
        <p:spPr>
          <a:xfrm>
            <a:off x="502920" y="2404872"/>
            <a:ext cx="11183112" cy="274320"/>
          </a:xfrm>
          <a:prstGeom prst="roundRect">
            <a:avLst>
              <a:gd name="adj" fmla="val 45000"/>
            </a:avLst>
          </a:prstGeom>
          <a:solidFill>
            <a:srgbClr val="ED9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87" name="TextBox 15386"/>
          <p:cNvSpPr txBox="1"/>
          <p:nvPr/>
        </p:nvSpPr>
        <p:spPr>
          <a:xfrm>
            <a:off x="502920" y="2404872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INNOVATION AND UNIQUENESS</a:t>
            </a:r>
          </a:p>
        </p:txBody>
      </p:sp>
      <p:sp>
        <p:nvSpPr>
          <p:cNvPr id="15388" name="Rounded Rectangle 15387"/>
          <p:cNvSpPr/>
          <p:nvPr/>
        </p:nvSpPr>
        <p:spPr>
          <a:xfrm>
            <a:off x="502920" y="2770632"/>
            <a:ext cx="2148840" cy="7863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2E8B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89" name="TextBox 15388"/>
          <p:cNvSpPr txBox="1"/>
          <p:nvPr/>
        </p:nvSpPr>
        <p:spPr>
          <a:xfrm>
            <a:off x="594360" y="2843784"/>
            <a:ext cx="1965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969" b="1" i="0">
                <a:solidFill>
                  <a:srgbClr val="2E8B9B"/>
                </a:solidFill>
                <a:latin typeface="Calibri"/>
              </a:rPr>
              <a:t>Multimodal Routing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505050"/>
                </a:solidFill>
                <a:latin typeface="Calibri"/>
              </a:rPr>
              <a:t>Road, rail, water, air as one graph; every mode change charged real cost and time.</a:t>
            </a:r>
          </a:p>
        </p:txBody>
      </p:sp>
      <p:sp>
        <p:nvSpPr>
          <p:cNvPr id="15390" name="Rounded Rectangle 15389"/>
          <p:cNvSpPr/>
          <p:nvPr/>
        </p:nvSpPr>
        <p:spPr>
          <a:xfrm>
            <a:off x="2761488" y="2770632"/>
            <a:ext cx="2148840" cy="7863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2E8B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91" name="TextBox 15390"/>
          <p:cNvSpPr txBox="1"/>
          <p:nvPr/>
        </p:nvSpPr>
        <p:spPr>
          <a:xfrm>
            <a:off x="2852928" y="2843784"/>
            <a:ext cx="1965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969" b="1" i="0">
                <a:solidFill>
                  <a:srgbClr val="2E8B9B"/>
                </a:solidFill>
                <a:latin typeface="Calibri"/>
              </a:rPr>
              <a:t>Dual-Hazard Pricing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505050"/>
                </a:solidFill>
                <a:latin typeface="Calibri"/>
              </a:rPr>
              <a:t>Landslide + flood scored separately, priced into rupees and hours per route.</a:t>
            </a:r>
          </a:p>
        </p:txBody>
      </p:sp>
      <p:sp>
        <p:nvSpPr>
          <p:cNvPr id="15392" name="Rounded Rectangle 15391"/>
          <p:cNvSpPr/>
          <p:nvPr/>
        </p:nvSpPr>
        <p:spPr>
          <a:xfrm>
            <a:off x="5020056" y="2770632"/>
            <a:ext cx="2148840" cy="7863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2E8B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93" name="TextBox 15392"/>
          <p:cNvSpPr txBox="1"/>
          <p:nvPr/>
        </p:nvSpPr>
        <p:spPr>
          <a:xfrm>
            <a:off x="5111496" y="2843784"/>
            <a:ext cx="1965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969" b="1" i="0">
                <a:solidFill>
                  <a:srgbClr val="2E8B9B"/>
                </a:solidFill>
                <a:latin typeface="Calibri"/>
              </a:rPr>
              <a:t>Accessibility Score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505050"/>
                </a:solidFill>
                <a:latin typeface="Calibri"/>
              </a:rPr>
              <a:t>5,594 villages ranked by real travel-hours, not straight-line map distance.</a:t>
            </a:r>
          </a:p>
        </p:txBody>
      </p:sp>
      <p:sp>
        <p:nvSpPr>
          <p:cNvPr id="15394" name="Rounded Rectangle 15393"/>
          <p:cNvSpPr/>
          <p:nvPr/>
        </p:nvSpPr>
        <p:spPr>
          <a:xfrm>
            <a:off x="7278624" y="2770632"/>
            <a:ext cx="2148840" cy="7863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2E8B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95" name="TextBox 15394"/>
          <p:cNvSpPr txBox="1"/>
          <p:nvPr/>
        </p:nvSpPr>
        <p:spPr>
          <a:xfrm>
            <a:off x="7370064" y="2843784"/>
            <a:ext cx="1965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969" b="1" i="0">
                <a:solidFill>
                  <a:srgbClr val="2E8B9B"/>
                </a:solidFill>
                <a:latin typeface="Calibri"/>
              </a:rPr>
              <a:t>Live Shipment Tracking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505050"/>
                </a:solidFill>
                <a:latin typeface="Calibri"/>
              </a:rPr>
              <a:t>A marker animates leg by leg, timed to the plan's own real transit hours.</a:t>
            </a:r>
          </a:p>
        </p:txBody>
      </p:sp>
      <p:sp>
        <p:nvSpPr>
          <p:cNvPr id="15396" name="Rounded Rectangle 15395"/>
          <p:cNvSpPr/>
          <p:nvPr/>
        </p:nvSpPr>
        <p:spPr>
          <a:xfrm>
            <a:off x="9537192" y="2770632"/>
            <a:ext cx="2148840" cy="7863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2E8B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97" name="TextBox 15396"/>
          <p:cNvSpPr txBox="1"/>
          <p:nvPr/>
        </p:nvSpPr>
        <p:spPr>
          <a:xfrm>
            <a:off x="9628632" y="2843784"/>
            <a:ext cx="1965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969" b="1" i="0">
                <a:solidFill>
                  <a:srgbClr val="2E8B9B"/>
                </a:solidFill>
                <a:latin typeface="Calibri"/>
              </a:rPr>
              <a:t>Voice + 5 Languages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505050"/>
                </a:solidFill>
                <a:latin typeface="Calibri"/>
              </a:rPr>
              <a:t>Search by voice; use the whole app in Hindi, Assamese, Bengali or Nepali.</a:t>
            </a:r>
          </a:p>
        </p:txBody>
      </p:sp>
      <p:sp>
        <p:nvSpPr>
          <p:cNvPr id="15398" name="Rounded Rectangle 15397"/>
          <p:cNvSpPr/>
          <p:nvPr/>
        </p:nvSpPr>
        <p:spPr>
          <a:xfrm>
            <a:off x="502920" y="3666744"/>
            <a:ext cx="11183112" cy="274320"/>
          </a:xfrm>
          <a:prstGeom prst="roundRect">
            <a:avLst>
              <a:gd name="adj" fmla="val 45000"/>
            </a:avLst>
          </a:prstGeom>
          <a:solidFill>
            <a:srgbClr val="ED9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99" name="TextBox 15398"/>
          <p:cNvSpPr txBox="1"/>
          <p:nvPr/>
        </p:nvSpPr>
        <p:spPr>
          <a:xfrm>
            <a:off x="502920" y="3666744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HOW IT ADDRESSES THE PROBLEM</a:t>
            </a:r>
          </a:p>
        </p:txBody>
      </p:sp>
      <p:sp>
        <p:nvSpPr>
          <p:cNvPr id="15400" name="TextBox 15399"/>
          <p:cNvSpPr txBox="1"/>
          <p:nvPr/>
        </p:nvSpPr>
        <p:spPr>
          <a:xfrm>
            <a:off x="621792" y="4014215"/>
            <a:ext cx="1092708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930">
                <a:solidFill>
                  <a:srgbClr val="1A1A1A"/>
                </a:solidFill>
                <a:latin typeface="Calibri"/>
              </a:rPr>
              <a:t>•  </a:t>
            </a:r>
            <a:r>
              <a:rPr sz="930" b="1">
                <a:solidFill>
                  <a:srgbClr val="1A1A1A"/>
                </a:solidFill>
                <a:latin typeface="Calibri"/>
              </a:rPr>
              <a:t>Manual planning: </a:t>
            </a:r>
            <a:r>
              <a:rPr sz="930" b="0">
                <a:solidFill>
                  <a:srgbClr val="1A1A1A"/>
                </a:solidFill>
                <a:latin typeface="Calibri"/>
              </a:rPr>
              <a:t>shippers pick a route off a map and guess the monsoon - we compute cost, time and risk together, before dispatch.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930">
                <a:solidFill>
                  <a:srgbClr val="1A1A1A"/>
                </a:solidFill>
                <a:latin typeface="Calibri"/>
              </a:rPr>
              <a:t>•  </a:t>
            </a:r>
            <a:r>
              <a:rPr sz="930" b="1">
                <a:solidFill>
                  <a:srgbClr val="1A1A1A"/>
                </a:solidFill>
                <a:latin typeface="Calibri"/>
              </a:rPr>
              <a:t>Hidden monsoon cost: </a:t>
            </a:r>
            <a:r>
              <a:rPr sz="930" b="0">
                <a:solidFill>
                  <a:srgbClr val="1A1A1A"/>
                </a:solidFill>
                <a:latin typeface="Calibri"/>
              </a:rPr>
              <a:t>risk is priced in rupees and hours, not a vague colour warning.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930">
                <a:solidFill>
                  <a:srgbClr val="1A1A1A"/>
                </a:solidFill>
                <a:latin typeface="Calibri"/>
              </a:rPr>
              <a:t>•  </a:t>
            </a:r>
            <a:r>
              <a:rPr sz="930" b="1">
                <a:solidFill>
                  <a:srgbClr val="1A1A1A"/>
                </a:solidFill>
                <a:latin typeface="Calibri"/>
              </a:rPr>
              <a:t>Blind villages: </a:t>
            </a:r>
            <a:r>
              <a:rPr sz="930" b="0">
                <a:solidFill>
                  <a:srgbClr val="1A1A1A"/>
                </a:solidFill>
                <a:latin typeface="Calibri"/>
              </a:rPr>
              <a:t>5,594 villages are scored for real accessibility, worst-connected first.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930">
                <a:solidFill>
                  <a:srgbClr val="1A1A1A"/>
                </a:solidFill>
                <a:latin typeface="Calibri"/>
              </a:rPr>
              <a:t>•  </a:t>
            </a:r>
            <a:r>
              <a:rPr sz="930" b="1">
                <a:solidFill>
                  <a:srgbClr val="1A1A1A"/>
                </a:solidFill>
                <a:latin typeface="Calibri"/>
              </a:rPr>
              <a:t>Multimodal blindness: </a:t>
            </a:r>
            <a:r>
              <a:rPr sz="930" b="0">
                <a:solidFill>
                  <a:srgbClr val="1A1A1A"/>
                </a:solidFill>
                <a:latin typeface="Calibri"/>
              </a:rPr>
              <a:t>every transhipment is charged real handling cost and time, never free.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930">
                <a:solidFill>
                  <a:srgbClr val="1A1A1A"/>
                </a:solidFill>
                <a:latin typeface="Calibri"/>
              </a:rPr>
              <a:t>•  </a:t>
            </a:r>
            <a:r>
              <a:rPr sz="930" b="1">
                <a:solidFill>
                  <a:srgbClr val="1A1A1A"/>
                </a:solidFill>
                <a:latin typeface="Calibri"/>
              </a:rPr>
              <a:t>Nothing to show: </a:t>
            </a:r>
            <a:r>
              <a:rPr sz="930" b="0">
                <a:solidFill>
                  <a:srgbClr val="1A1A1A"/>
                </a:solidFill>
                <a:latin typeface="Calibri"/>
              </a:rPr>
              <a:t>live tracking and a satellite view let a viewer watch the plan happen, not just read numbers.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783080" y="73152"/>
            <a:ext cx="7818120" cy="777240"/>
          </a:xfrm>
        </p:spPr>
        <p:txBody>
          <a:bodyPr wrap="square"/>
          <a:lstStyle/>
          <a:p>
            <a:pPr eaLnBrk="1" hangingPunct="1"/>
            <a:r>
              <a:rPr sz="2800" b="1">
                <a:solidFill>
                  <a:srgbClr val="1A1A1A"/>
                </a:solidFill>
                <a:latin typeface="Calibri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502920" y="960120"/>
            <a:ext cx="4160520" cy="274320"/>
          </a:xfrm>
          <a:prstGeom prst="roundRect">
            <a:avLst>
              <a:gd name="adj" fmla="val 45000"/>
            </a:avLst>
          </a:prstGeom>
          <a:solidFill>
            <a:srgbClr val="6CA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1" name="TextBox 17410"/>
          <p:cNvSpPr txBox="1"/>
          <p:nvPr/>
        </p:nvSpPr>
        <p:spPr>
          <a:xfrm>
            <a:off x="502920" y="960120"/>
            <a:ext cx="4160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METHODOLOGY AND PROCESS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1417320" y="1371600"/>
            <a:ext cx="2331720" cy="365760"/>
          </a:xfrm>
          <a:prstGeom prst="roundRect">
            <a:avLst>
              <a:gd name="adj" fmla="val 9000"/>
            </a:avLst>
          </a:prstGeom>
          <a:solidFill>
            <a:srgbClr val="EEF5E4"/>
          </a:solidFill>
          <a:ln w="15875">
            <a:solidFill>
              <a:srgbClr val="6CA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3" name="TextBox 17412"/>
          <p:cNvSpPr txBox="1"/>
          <p:nvPr/>
        </p:nvSpPr>
        <p:spPr>
          <a:xfrm>
            <a:off x="1417320" y="137160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30" b="1" i="0">
                <a:solidFill>
                  <a:srgbClr val="1A1A1A"/>
                </a:solidFill>
                <a:latin typeface="Calibri"/>
              </a:rPr>
              <a:t>OPEN DATA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30" b="0" i="0">
                <a:solidFill>
                  <a:srgbClr val="505050"/>
                </a:solidFill>
                <a:latin typeface="Calibri"/>
              </a:rPr>
              <a:t>OSM + NASA + DEM</a:t>
            </a:r>
          </a:p>
        </p:txBody>
      </p:sp>
      <p:sp>
        <p:nvSpPr>
          <p:cNvPr id="17414" name="Down Arrow 17413"/>
          <p:cNvSpPr/>
          <p:nvPr/>
        </p:nvSpPr>
        <p:spPr>
          <a:xfrm>
            <a:off x="2519172" y="1755648"/>
            <a:ext cx="128016" cy="146304"/>
          </a:xfrm>
          <a:prstGeom prst="downArrow">
            <a:avLst/>
          </a:prstGeom>
          <a:solidFill>
            <a:srgbClr val="505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5" name="Rounded Rectangle 17414"/>
          <p:cNvSpPr/>
          <p:nvPr/>
        </p:nvSpPr>
        <p:spPr>
          <a:xfrm>
            <a:off x="1417320" y="1938528"/>
            <a:ext cx="2331720" cy="365760"/>
          </a:xfrm>
          <a:prstGeom prst="roundRect">
            <a:avLst>
              <a:gd name="adj" fmla="val 9000"/>
            </a:avLst>
          </a:prstGeom>
          <a:solidFill>
            <a:srgbClr val="EEF5E4"/>
          </a:solidFill>
          <a:ln w="15875">
            <a:solidFill>
              <a:srgbClr val="6CA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6" name="TextBox 17415"/>
          <p:cNvSpPr txBox="1"/>
          <p:nvPr/>
        </p:nvSpPr>
        <p:spPr>
          <a:xfrm>
            <a:off x="1417320" y="1938528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30" b="1" i="0">
                <a:solidFill>
                  <a:srgbClr val="1A1A1A"/>
                </a:solidFill>
                <a:latin typeface="Calibri"/>
              </a:rPr>
              <a:t>NETWORK BUILDER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30" b="0" i="0">
                <a:solidFill>
                  <a:srgbClr val="505050"/>
                </a:solidFill>
                <a:latin typeface="Calibri"/>
              </a:rPr>
              <a:t>7,181 segments · 5,594 villages</a:t>
            </a:r>
          </a:p>
        </p:txBody>
      </p:sp>
      <p:sp>
        <p:nvSpPr>
          <p:cNvPr id="17417" name="Down Arrow 17416"/>
          <p:cNvSpPr/>
          <p:nvPr/>
        </p:nvSpPr>
        <p:spPr>
          <a:xfrm>
            <a:off x="2519172" y="2322576"/>
            <a:ext cx="128016" cy="146304"/>
          </a:xfrm>
          <a:prstGeom prst="downArrow">
            <a:avLst/>
          </a:prstGeom>
          <a:solidFill>
            <a:srgbClr val="505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8" name="Rounded Rectangle 17417"/>
          <p:cNvSpPr/>
          <p:nvPr/>
        </p:nvSpPr>
        <p:spPr>
          <a:xfrm>
            <a:off x="1417320" y="2505456"/>
            <a:ext cx="2331720" cy="365760"/>
          </a:xfrm>
          <a:prstGeom prst="roundRect">
            <a:avLst>
              <a:gd name="adj" fmla="val 9000"/>
            </a:avLst>
          </a:prstGeom>
          <a:solidFill>
            <a:srgbClr val="EEF5E4"/>
          </a:solidFill>
          <a:ln w="15875">
            <a:solidFill>
              <a:srgbClr val="6CA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9" name="TextBox 17418"/>
          <p:cNvSpPr txBox="1"/>
          <p:nvPr/>
        </p:nvSpPr>
        <p:spPr>
          <a:xfrm>
            <a:off x="1417320" y="2505456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30" b="1" i="0">
                <a:solidFill>
                  <a:srgbClr val="1A1A1A"/>
                </a:solidFill>
                <a:latin typeface="Calibri"/>
              </a:rPr>
              <a:t>RISK + COST ENGINE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30" b="0" i="0">
                <a:solidFill>
                  <a:srgbClr val="505050"/>
                </a:solidFill>
                <a:latin typeface="Calibri"/>
              </a:rPr>
              <a:t>landslide, flood, ₹/t, hours</a:t>
            </a:r>
          </a:p>
        </p:txBody>
      </p:sp>
      <p:sp>
        <p:nvSpPr>
          <p:cNvPr id="17420" name="Down Arrow 17419"/>
          <p:cNvSpPr/>
          <p:nvPr/>
        </p:nvSpPr>
        <p:spPr>
          <a:xfrm>
            <a:off x="1783080" y="2871216"/>
            <a:ext cx="91440" cy="109728"/>
          </a:xfrm>
          <a:prstGeom prst="downArrow">
            <a:avLst/>
          </a:prstGeom>
          <a:solidFill>
            <a:srgbClr val="505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1" name="Down Arrow 17420"/>
          <p:cNvSpPr/>
          <p:nvPr/>
        </p:nvSpPr>
        <p:spPr>
          <a:xfrm>
            <a:off x="3044952" y="2871216"/>
            <a:ext cx="91440" cy="109728"/>
          </a:xfrm>
          <a:prstGeom prst="downArrow">
            <a:avLst/>
          </a:prstGeom>
          <a:solidFill>
            <a:srgbClr val="505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2" name="Down Arrow 17421"/>
          <p:cNvSpPr/>
          <p:nvPr/>
        </p:nvSpPr>
        <p:spPr>
          <a:xfrm>
            <a:off x="4306824" y="2871216"/>
            <a:ext cx="91440" cy="109728"/>
          </a:xfrm>
          <a:prstGeom prst="downArrow">
            <a:avLst/>
          </a:prstGeom>
          <a:solidFill>
            <a:srgbClr val="505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3" name="Rounded Rectangle 17422"/>
          <p:cNvSpPr/>
          <p:nvPr/>
        </p:nvSpPr>
        <p:spPr>
          <a:xfrm>
            <a:off x="1234440" y="2980944"/>
            <a:ext cx="1188720" cy="420624"/>
          </a:xfrm>
          <a:prstGeom prst="roundRect">
            <a:avLst>
              <a:gd name="adj" fmla="val 9000"/>
            </a:avLst>
          </a:prstGeom>
          <a:solidFill>
            <a:srgbClr val="EEF5E4"/>
          </a:solidFill>
          <a:ln w="12700">
            <a:solidFill>
              <a:srgbClr val="6CA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4" name="TextBox 17423"/>
          <p:cNvSpPr txBox="1"/>
          <p:nvPr/>
        </p:nvSpPr>
        <p:spPr>
          <a:xfrm>
            <a:off x="1234440" y="2980944"/>
            <a:ext cx="118872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60" b="1" i="0">
                <a:solidFill>
                  <a:srgbClr val="1A1A1A"/>
                </a:solidFill>
                <a:latin typeface="Calibri"/>
              </a:rPr>
              <a:t>MODE-LAYERED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60" b="1" i="0">
                <a:solidFill>
                  <a:srgbClr val="1A1A1A"/>
                </a:solidFill>
                <a:latin typeface="Calibri"/>
              </a:rPr>
              <a:t>GRAPH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2496312" y="2980944"/>
            <a:ext cx="1188720" cy="420624"/>
          </a:xfrm>
          <a:prstGeom prst="roundRect">
            <a:avLst>
              <a:gd name="adj" fmla="val 9000"/>
            </a:avLst>
          </a:prstGeom>
          <a:solidFill>
            <a:srgbClr val="EEF5E4"/>
          </a:solidFill>
          <a:ln w="12700">
            <a:solidFill>
              <a:srgbClr val="6CA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6" name="TextBox 17425"/>
          <p:cNvSpPr txBox="1"/>
          <p:nvPr/>
        </p:nvSpPr>
        <p:spPr>
          <a:xfrm>
            <a:off x="2496312" y="2980944"/>
            <a:ext cx="118872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60" b="1" i="0">
                <a:solidFill>
                  <a:srgbClr val="1A1A1A"/>
                </a:solidFill>
                <a:latin typeface="Calibri"/>
              </a:rPr>
              <a:t>ACCESSIBILITY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60" b="1" i="0">
                <a:solidFill>
                  <a:srgbClr val="1A1A1A"/>
                </a:solidFill>
                <a:latin typeface="Calibri"/>
              </a:rPr>
              <a:t>INDEX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3758184" y="2980944"/>
            <a:ext cx="1188720" cy="420624"/>
          </a:xfrm>
          <a:prstGeom prst="roundRect">
            <a:avLst>
              <a:gd name="adj" fmla="val 9000"/>
            </a:avLst>
          </a:prstGeom>
          <a:solidFill>
            <a:srgbClr val="EEF5E4"/>
          </a:solidFill>
          <a:ln w="12700">
            <a:solidFill>
              <a:srgbClr val="6CA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8" name="TextBox 17427"/>
          <p:cNvSpPr txBox="1"/>
          <p:nvPr/>
        </p:nvSpPr>
        <p:spPr>
          <a:xfrm>
            <a:off x="3758184" y="2980944"/>
            <a:ext cx="118872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60" b="1" i="0">
                <a:solidFill>
                  <a:srgbClr val="1A1A1A"/>
                </a:solidFill>
                <a:latin typeface="Calibri"/>
              </a:rPr>
              <a:t>LIVE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60" b="1" i="0">
                <a:solidFill>
                  <a:srgbClr val="1A1A1A"/>
                </a:solidFill>
                <a:latin typeface="Calibri"/>
              </a:rPr>
              <a:t>TRACKER</a:t>
            </a:r>
          </a:p>
        </p:txBody>
      </p:sp>
      <p:sp>
        <p:nvSpPr>
          <p:cNvPr id="17429" name="Down Arrow 17428"/>
          <p:cNvSpPr/>
          <p:nvPr/>
        </p:nvSpPr>
        <p:spPr>
          <a:xfrm>
            <a:off x="1783080" y="3419856"/>
            <a:ext cx="91440" cy="109728"/>
          </a:xfrm>
          <a:prstGeom prst="downArrow">
            <a:avLst/>
          </a:prstGeom>
          <a:solidFill>
            <a:srgbClr val="505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0" name="Rounded Rectangle 17429"/>
          <p:cNvSpPr/>
          <p:nvPr/>
        </p:nvSpPr>
        <p:spPr>
          <a:xfrm>
            <a:off x="1234440" y="3547872"/>
            <a:ext cx="1188720" cy="420624"/>
          </a:xfrm>
          <a:prstGeom prst="roundRect">
            <a:avLst>
              <a:gd name="adj" fmla="val 9000"/>
            </a:avLst>
          </a:prstGeom>
          <a:solidFill>
            <a:srgbClr val="EEF5E4"/>
          </a:solidFill>
          <a:ln w="12700">
            <a:solidFill>
              <a:srgbClr val="6CA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1" name="TextBox 17430"/>
          <p:cNvSpPr txBox="1"/>
          <p:nvPr/>
        </p:nvSpPr>
        <p:spPr>
          <a:xfrm>
            <a:off x="1234440" y="3547872"/>
            <a:ext cx="118872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60" b="1" i="0">
                <a:solidFill>
                  <a:srgbClr val="1A1A1A"/>
                </a:solidFill>
                <a:latin typeface="Calibri"/>
              </a:rPr>
              <a:t>DIJKSTRA +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60" b="1" i="0">
                <a:solidFill>
                  <a:srgbClr val="1A1A1A"/>
                </a:solidFill>
                <a:latin typeface="Calibri"/>
              </a:rPr>
              <a:t>YEN'S ALGORITHM</a:t>
            </a:r>
          </a:p>
        </p:txBody>
      </p:sp>
      <p:sp>
        <p:nvSpPr>
          <p:cNvPr id="17432" name="Down Arrow 17431"/>
          <p:cNvSpPr/>
          <p:nvPr/>
        </p:nvSpPr>
        <p:spPr>
          <a:xfrm>
            <a:off x="1783080" y="3986784"/>
            <a:ext cx="91440" cy="109728"/>
          </a:xfrm>
          <a:prstGeom prst="downArrow">
            <a:avLst/>
          </a:prstGeom>
          <a:solidFill>
            <a:srgbClr val="505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3" name="Rounded Rectangle 17432"/>
          <p:cNvSpPr/>
          <p:nvPr/>
        </p:nvSpPr>
        <p:spPr>
          <a:xfrm>
            <a:off x="914400" y="4114800"/>
            <a:ext cx="1828800" cy="384048"/>
          </a:xfrm>
          <a:prstGeom prst="roundRect">
            <a:avLst>
              <a:gd name="adj" fmla="val 9000"/>
            </a:avLst>
          </a:prstGeom>
          <a:solidFill>
            <a:srgbClr val="6CA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4" name="TextBox 17433"/>
          <p:cNvSpPr txBox="1"/>
          <p:nvPr/>
        </p:nvSpPr>
        <p:spPr>
          <a:xfrm>
            <a:off x="914400" y="4114800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30" b="1" i="0">
                <a:solidFill>
                  <a:srgbClr val="FFFFFF"/>
                </a:solidFill>
                <a:latin typeface="Calibri"/>
              </a:rPr>
              <a:t>DASHBOARD (API + MAP)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5074920" y="960120"/>
            <a:ext cx="6080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C00000"/>
                </a:solidFill>
                <a:latin typeface="Calibri"/>
              </a:rPr>
              <a:t>Technical Approach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5074920" y="1252728"/>
            <a:ext cx="6080760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4000"/>
              </a:lnSpc>
              <a:spcAft>
                <a:spcPts val="500"/>
              </a:spcAft>
            </a:pPr>
            <a:r>
              <a:rPr sz="930">
                <a:solidFill>
                  <a:srgbClr val="1A1A1A"/>
                </a:solidFill>
                <a:latin typeface="Calibri"/>
              </a:rPr>
              <a:t>•  </a:t>
            </a:r>
            <a:r>
              <a:rPr sz="930" b="1">
                <a:solidFill>
                  <a:srgbClr val="1A1A1A"/>
                </a:solidFill>
                <a:latin typeface="Calibri"/>
              </a:rPr>
              <a:t>Data ingestion: </a:t>
            </a:r>
            <a:r>
              <a:rPr sz="930" b="0">
                <a:solidFill>
                  <a:srgbClr val="1A1A1A"/>
                </a:solidFill>
                <a:latin typeface="Calibri"/>
              </a:rPr>
              <a:t>OSM (roads/villages), NASA POWER (rainfall), Copernicus DEM (elevation) - all free, no key.</a:t>
            </a:r>
          </a:p>
          <a:p>
            <a:pPr>
              <a:lnSpc>
                <a:spcPct val="114000"/>
              </a:lnSpc>
              <a:spcAft>
                <a:spcPts val="500"/>
              </a:spcAft>
            </a:pPr>
            <a:r>
              <a:rPr sz="930">
                <a:solidFill>
                  <a:srgbClr val="1A1A1A"/>
                </a:solidFill>
                <a:latin typeface="Calibri"/>
              </a:rPr>
              <a:t>•  </a:t>
            </a:r>
            <a:r>
              <a:rPr sz="930" b="1">
                <a:solidFill>
                  <a:srgbClr val="1A1A1A"/>
                </a:solidFill>
                <a:latin typeface="Calibri"/>
              </a:rPr>
              <a:t>Network builder: </a:t>
            </a:r>
            <a:r>
              <a:rPr sz="930" b="0">
                <a:solidFill>
                  <a:srgbClr val="1A1A1A"/>
                </a:solidFill>
                <a:latin typeface="Calibri"/>
              </a:rPr>
              <a:t>contracts raw OSM ways into 7,181 usable segments over 6,502 junctions.</a:t>
            </a:r>
          </a:p>
          <a:p>
            <a:pPr>
              <a:lnSpc>
                <a:spcPct val="114000"/>
              </a:lnSpc>
              <a:spcAft>
                <a:spcPts val="500"/>
              </a:spcAft>
            </a:pPr>
            <a:r>
              <a:rPr sz="930">
                <a:solidFill>
                  <a:srgbClr val="1A1A1A"/>
                </a:solidFill>
                <a:latin typeface="Calibri"/>
              </a:rPr>
              <a:t>•  </a:t>
            </a:r>
            <a:r>
              <a:rPr sz="930" b="1">
                <a:solidFill>
                  <a:srgbClr val="1A1A1A"/>
                </a:solidFill>
                <a:latin typeface="Calibri"/>
              </a:rPr>
              <a:t>Risk engine: </a:t>
            </a:r>
            <a:r>
              <a:rPr sz="930" b="0">
                <a:solidFill>
                  <a:srgbClr val="1A1A1A"/>
                </a:solidFill>
                <a:latin typeface="Calibri"/>
              </a:rPr>
              <a:t>terrain + rainfall + elevation combine into landslide and flood probability, per segment, per month.</a:t>
            </a:r>
          </a:p>
          <a:p>
            <a:pPr>
              <a:lnSpc>
                <a:spcPct val="114000"/>
              </a:lnSpc>
              <a:spcAft>
                <a:spcPts val="500"/>
              </a:spcAft>
            </a:pPr>
            <a:r>
              <a:rPr sz="930">
                <a:solidFill>
                  <a:srgbClr val="1A1A1A"/>
                </a:solidFill>
                <a:latin typeface="Calibri"/>
              </a:rPr>
              <a:t>•  </a:t>
            </a:r>
            <a:r>
              <a:rPr sz="930" b="1">
                <a:solidFill>
                  <a:srgbClr val="1A1A1A"/>
                </a:solidFill>
                <a:latin typeface="Calibri"/>
              </a:rPr>
              <a:t>Cost engine: </a:t>
            </a:r>
            <a:r>
              <a:rPr sz="930" b="0">
                <a:solidFill>
                  <a:srgbClr val="1A1A1A"/>
                </a:solidFill>
                <a:latin typeface="Calibri"/>
              </a:rPr>
              <a:t>₹/tonne + hours + risk-adjusted delay blended into one generalised cost.</a:t>
            </a:r>
          </a:p>
          <a:p>
            <a:pPr>
              <a:lnSpc>
                <a:spcPct val="114000"/>
              </a:lnSpc>
              <a:spcAft>
                <a:spcPts val="500"/>
              </a:spcAft>
            </a:pPr>
            <a:r>
              <a:rPr sz="930">
                <a:solidFill>
                  <a:srgbClr val="1A1A1A"/>
                </a:solidFill>
                <a:latin typeface="Calibri"/>
              </a:rPr>
              <a:t>•  </a:t>
            </a:r>
            <a:r>
              <a:rPr sz="930" b="1">
                <a:solidFill>
                  <a:srgbClr val="1A1A1A"/>
                </a:solidFill>
                <a:latin typeface="Calibri"/>
              </a:rPr>
              <a:t>Graph engine: </a:t>
            </a:r>
            <a:r>
              <a:rPr sz="930" b="0">
                <a:solidFill>
                  <a:srgbClr val="1A1A1A"/>
                </a:solidFill>
                <a:latin typeface="Calibri"/>
              </a:rPr>
              <a:t>NetworkX mode-layered graph; Dijkstra for the plan, Yen's algorithm for alternatives.</a:t>
            </a:r>
          </a:p>
          <a:p>
            <a:pPr>
              <a:lnSpc>
                <a:spcPct val="114000"/>
              </a:lnSpc>
              <a:spcAft>
                <a:spcPts val="500"/>
              </a:spcAft>
            </a:pPr>
            <a:r>
              <a:rPr sz="930">
                <a:solidFill>
                  <a:srgbClr val="1A1A1A"/>
                </a:solidFill>
                <a:latin typeface="Calibri"/>
              </a:rPr>
              <a:t>•  </a:t>
            </a:r>
            <a:r>
              <a:rPr sz="930" b="1">
                <a:solidFill>
                  <a:srgbClr val="1A1A1A"/>
                </a:solidFill>
                <a:latin typeface="Calibri"/>
              </a:rPr>
              <a:t>Frontend: </a:t>
            </a:r>
            <a:r>
              <a:rPr sz="930" b="0">
                <a:solidFill>
                  <a:srgbClr val="1A1A1A"/>
                </a:solidFill>
                <a:latin typeface="Calibri"/>
              </a:rPr>
              <a:t>MapLibre GL (vector + satellite), Web Speech API for voice, in-app translation for 5 languages.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5074920" y="3246120"/>
            <a:ext cx="6080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C00000"/>
                </a:solidFill>
                <a:latin typeface="Calibri"/>
              </a:rPr>
              <a:t>Working Process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5074920" y="3538728"/>
            <a:ext cx="608076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4000"/>
              </a:lnSpc>
              <a:spcAft>
                <a:spcPts val="500"/>
              </a:spcAft>
            </a:pPr>
            <a:r>
              <a:rPr sz="930">
                <a:solidFill>
                  <a:srgbClr val="1A1A1A"/>
                </a:solidFill>
                <a:latin typeface="Calibri"/>
              </a:rPr>
              <a:t>•  </a:t>
            </a:r>
            <a:r>
              <a:rPr sz="930" b="1">
                <a:solidFill>
                  <a:srgbClr val="1A1A1A"/>
                </a:solidFill>
                <a:latin typeface="Calibri"/>
              </a:rPr>
              <a:t>Data collection - </a:t>
            </a:r>
            <a:r>
              <a:rPr sz="930" b="0">
                <a:solidFill>
                  <a:srgbClr val="1A1A1A"/>
                </a:solidFill>
                <a:latin typeface="Calibri"/>
              </a:rPr>
              <a:t>pull roads, rainfall and elevation from open sources.</a:t>
            </a:r>
          </a:p>
          <a:p>
            <a:pPr>
              <a:lnSpc>
                <a:spcPct val="114000"/>
              </a:lnSpc>
              <a:spcAft>
                <a:spcPts val="500"/>
              </a:spcAft>
            </a:pPr>
            <a:r>
              <a:rPr sz="930">
                <a:solidFill>
                  <a:srgbClr val="1A1A1A"/>
                </a:solidFill>
                <a:latin typeface="Calibri"/>
              </a:rPr>
              <a:t>•  </a:t>
            </a:r>
            <a:r>
              <a:rPr sz="930" b="1">
                <a:solidFill>
                  <a:srgbClr val="1A1A1A"/>
                </a:solidFill>
                <a:latin typeface="Calibri"/>
              </a:rPr>
              <a:t>Network construction - </a:t>
            </a:r>
            <a:r>
              <a:rPr sz="930" b="0">
                <a:solidFill>
                  <a:srgbClr val="1A1A1A"/>
                </a:solidFill>
                <a:latin typeface="Calibri"/>
              </a:rPr>
              <a:t>merge into one mode-layered graph (road/rail/water/air).</a:t>
            </a:r>
          </a:p>
          <a:p>
            <a:pPr>
              <a:lnSpc>
                <a:spcPct val="114000"/>
              </a:lnSpc>
              <a:spcAft>
                <a:spcPts val="500"/>
              </a:spcAft>
            </a:pPr>
            <a:r>
              <a:rPr sz="930">
                <a:solidFill>
                  <a:srgbClr val="1A1A1A"/>
                </a:solidFill>
                <a:latin typeface="Calibri"/>
              </a:rPr>
              <a:t>•  </a:t>
            </a:r>
            <a:r>
              <a:rPr sz="930" b="1">
                <a:solidFill>
                  <a:srgbClr val="1A1A1A"/>
                </a:solidFill>
                <a:latin typeface="Calibri"/>
              </a:rPr>
              <a:t>Risk scoring - </a:t>
            </a:r>
            <a:r>
              <a:rPr sz="930" b="0">
                <a:solidFill>
                  <a:srgbClr val="1A1A1A"/>
                </a:solidFill>
                <a:latin typeface="Calibri"/>
              </a:rPr>
              <a:t>compute landslide + flood probability for every segment, every month.</a:t>
            </a:r>
          </a:p>
          <a:p>
            <a:pPr>
              <a:lnSpc>
                <a:spcPct val="114000"/>
              </a:lnSpc>
              <a:spcAft>
                <a:spcPts val="500"/>
              </a:spcAft>
            </a:pPr>
            <a:r>
              <a:rPr sz="930">
                <a:solidFill>
                  <a:srgbClr val="1A1A1A"/>
                </a:solidFill>
                <a:latin typeface="Calibri"/>
              </a:rPr>
              <a:t>•  </a:t>
            </a:r>
            <a:r>
              <a:rPr sz="930" b="1">
                <a:solidFill>
                  <a:srgbClr val="1A1A1A"/>
                </a:solidFill>
                <a:latin typeface="Calibri"/>
              </a:rPr>
              <a:t>Route optimisation - </a:t>
            </a:r>
            <a:r>
              <a:rPr sz="930" b="0">
                <a:solidFill>
                  <a:srgbClr val="1A1A1A"/>
                </a:solidFill>
                <a:latin typeface="Calibri"/>
              </a:rPr>
              <a:t>run Dijkstra + Yen's k-shortest paths for the best route and alternatives.</a:t>
            </a:r>
          </a:p>
          <a:p>
            <a:pPr>
              <a:lnSpc>
                <a:spcPct val="114000"/>
              </a:lnSpc>
              <a:spcAft>
                <a:spcPts val="500"/>
              </a:spcAft>
            </a:pPr>
            <a:r>
              <a:rPr sz="930">
                <a:solidFill>
                  <a:srgbClr val="1A1A1A"/>
                </a:solidFill>
                <a:latin typeface="Calibri"/>
              </a:rPr>
              <a:t>•  </a:t>
            </a:r>
            <a:r>
              <a:rPr sz="930" b="1">
                <a:solidFill>
                  <a:srgbClr val="1A1A1A"/>
                </a:solidFill>
                <a:latin typeface="Calibri"/>
              </a:rPr>
              <a:t>Accessibility scoring - </a:t>
            </a:r>
            <a:r>
              <a:rPr sz="930" b="0">
                <a:solidFill>
                  <a:srgbClr val="1A1A1A"/>
                </a:solidFill>
                <a:latin typeface="Calibri"/>
              </a:rPr>
              <a:t>rank 5,594 villages by real travel-hours to a market, cold store or gateway.</a:t>
            </a:r>
          </a:p>
          <a:p>
            <a:pPr>
              <a:lnSpc>
                <a:spcPct val="114000"/>
              </a:lnSpc>
              <a:spcAft>
                <a:spcPts val="500"/>
              </a:spcAft>
            </a:pPr>
            <a:r>
              <a:rPr sz="930">
                <a:solidFill>
                  <a:srgbClr val="1A1A1A"/>
                </a:solidFill>
                <a:latin typeface="Calibri"/>
              </a:rPr>
              <a:t>•  </a:t>
            </a:r>
            <a:r>
              <a:rPr sz="930" b="1">
                <a:solidFill>
                  <a:srgbClr val="1A1A1A"/>
                </a:solidFill>
                <a:latin typeface="Calibri"/>
              </a:rPr>
              <a:t>Live visualisation - </a:t>
            </a:r>
            <a:r>
              <a:rPr sz="930" b="0">
                <a:solidFill>
                  <a:srgbClr val="1A1A1A"/>
                </a:solidFill>
                <a:latin typeface="Calibri"/>
              </a:rPr>
              <a:t>animate the chosen plan on the map, mode by mode, in the viewer's own language.</a:t>
            </a:r>
          </a:p>
        </p:txBody>
      </p:sp>
      <p:sp>
        <p:nvSpPr>
          <p:cNvPr id="17439" name="Rounded Rectangle 17438"/>
          <p:cNvSpPr/>
          <p:nvPr/>
        </p:nvSpPr>
        <p:spPr>
          <a:xfrm>
            <a:off x="5074920" y="5532120"/>
            <a:ext cx="6080760" cy="502920"/>
          </a:xfrm>
          <a:prstGeom prst="roundRect">
            <a:avLst>
              <a:gd name="adj" fmla="val 9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0" name="TextBox 17439"/>
          <p:cNvSpPr txBox="1"/>
          <p:nvPr/>
        </p:nvSpPr>
        <p:spPr>
          <a:xfrm>
            <a:off x="5202936" y="5605272"/>
            <a:ext cx="58247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 i="1">
                <a:solidFill>
                  <a:srgbClr val="505050"/>
                </a:solidFill>
                <a:latin typeface="Calibri"/>
              </a:rPr>
              <a:t>Working prototype: all five stages run today against the real 25,360 km network - not a plan.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783080" y="73152"/>
            <a:ext cx="7818120" cy="777240"/>
          </a:xfrm>
        </p:spPr>
        <p:txBody>
          <a:bodyPr wrap="square"/>
          <a:lstStyle/>
          <a:p>
            <a:pPr eaLnBrk="1" hangingPunct="1"/>
            <a:r>
              <a:rPr sz="2700" b="1">
                <a:solidFill>
                  <a:srgbClr val="1A1A1A"/>
                </a:solidFill>
                <a:latin typeface="Calibri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502920" y="960120"/>
            <a:ext cx="5989320" cy="292608"/>
          </a:xfrm>
          <a:prstGeom prst="roundRect">
            <a:avLst>
              <a:gd name="adj" fmla="val 45000"/>
            </a:avLst>
          </a:prstGeom>
          <a:solidFill>
            <a:srgbClr val="ED9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1" name="TextBox 17410"/>
          <p:cNvSpPr txBox="1"/>
          <p:nvPr/>
        </p:nvSpPr>
        <p:spPr>
          <a:xfrm>
            <a:off x="502920" y="960120"/>
            <a:ext cx="5989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FEASIBILITY AND VIABILITY</a:t>
            </a:r>
          </a:p>
        </p:txBody>
      </p:sp>
      <p:sp>
        <p:nvSpPr>
          <p:cNvPr id="17412" name="Down Arrow 17411"/>
          <p:cNvSpPr/>
          <p:nvPr/>
        </p:nvSpPr>
        <p:spPr>
          <a:xfrm>
            <a:off x="1205864" y="1271016"/>
            <a:ext cx="91440" cy="109728"/>
          </a:xfrm>
          <a:prstGeom prst="downArrow">
            <a:avLst/>
          </a:prstGeom>
          <a:solidFill>
            <a:srgbClr val="505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3" name="Down Arrow 17412"/>
          <p:cNvSpPr/>
          <p:nvPr/>
        </p:nvSpPr>
        <p:spPr>
          <a:xfrm>
            <a:off x="2703195" y="1271016"/>
            <a:ext cx="91440" cy="109728"/>
          </a:xfrm>
          <a:prstGeom prst="downArrow">
            <a:avLst/>
          </a:prstGeom>
          <a:solidFill>
            <a:srgbClr val="505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4" name="Down Arrow 17413"/>
          <p:cNvSpPr/>
          <p:nvPr/>
        </p:nvSpPr>
        <p:spPr>
          <a:xfrm>
            <a:off x="4200525" y="1271016"/>
            <a:ext cx="91440" cy="109728"/>
          </a:xfrm>
          <a:prstGeom prst="downArrow">
            <a:avLst/>
          </a:prstGeom>
          <a:solidFill>
            <a:srgbClr val="505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5" name="Down Arrow 17414"/>
          <p:cNvSpPr/>
          <p:nvPr/>
        </p:nvSpPr>
        <p:spPr>
          <a:xfrm>
            <a:off x="5697855" y="1271016"/>
            <a:ext cx="91440" cy="109728"/>
          </a:xfrm>
          <a:prstGeom prst="downArrow">
            <a:avLst/>
          </a:prstGeom>
          <a:solidFill>
            <a:srgbClr val="505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6" name="Rounded Rectangle 17415"/>
          <p:cNvSpPr/>
          <p:nvPr/>
        </p:nvSpPr>
        <p:spPr>
          <a:xfrm>
            <a:off x="502920" y="1417320"/>
            <a:ext cx="1415034" cy="1600200"/>
          </a:xfrm>
          <a:prstGeom prst="roundRect">
            <a:avLst>
              <a:gd name="adj" fmla="val 9000"/>
            </a:avLst>
          </a:prstGeom>
          <a:solidFill>
            <a:srgbClr val="EEF5E4"/>
          </a:solidFill>
          <a:ln w="19050">
            <a:solidFill>
              <a:srgbClr val="6CA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7" name="TextBox 17416"/>
          <p:cNvSpPr txBox="1"/>
          <p:nvPr/>
        </p:nvSpPr>
        <p:spPr>
          <a:xfrm>
            <a:off x="594360" y="1490472"/>
            <a:ext cx="1232154" cy="1453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969" b="1" i="0">
                <a:solidFill>
                  <a:srgbClr val="1A1A1A"/>
                </a:solidFill>
                <a:latin typeface="Calibri"/>
              </a:rPr>
              <a:t>Technical Feasibility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790" b="0" i="0">
                <a:solidFill>
                  <a:srgbClr val="505050"/>
                </a:solidFill>
                <a:latin typeface="Calibri"/>
              </a:rPr>
              <a:t>NetworkX handles the 7,181-segment multimodal graph at proven scale; Dijkstra + Yen's run sub-second; MapLibre GL renders vector + satellite at zero backend cost.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2027682" y="1417320"/>
            <a:ext cx="1415034" cy="1600200"/>
          </a:xfrm>
          <a:prstGeom prst="roundRect">
            <a:avLst>
              <a:gd name="adj" fmla="val 9000"/>
            </a:avLst>
          </a:prstGeom>
          <a:solidFill>
            <a:srgbClr val="EEF5E4"/>
          </a:solidFill>
          <a:ln w="19050">
            <a:solidFill>
              <a:srgbClr val="6CA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9" name="TextBox 17418"/>
          <p:cNvSpPr txBox="1"/>
          <p:nvPr/>
        </p:nvSpPr>
        <p:spPr>
          <a:xfrm>
            <a:off x="2119122" y="1490472"/>
            <a:ext cx="1232154" cy="1453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969" b="1" i="0">
                <a:solidFill>
                  <a:srgbClr val="1A1A1A"/>
                </a:solidFill>
                <a:latin typeface="Calibri"/>
              </a:rPr>
              <a:t>Financial Feasibility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790" b="0" i="0">
                <a:solidFill>
                  <a:srgbClr val="505050"/>
                </a:solidFill>
                <a:latin typeface="Calibri"/>
              </a:rPr>
              <a:t>Every data source is free and key-less - ₹0 spent on data. Open-source stack throughout: Python, NetworkX, MapLibre, no paid API.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3552444" y="1417320"/>
            <a:ext cx="1415034" cy="1600200"/>
          </a:xfrm>
          <a:prstGeom prst="roundRect">
            <a:avLst>
              <a:gd name="adj" fmla="val 9000"/>
            </a:avLst>
          </a:prstGeom>
          <a:solidFill>
            <a:srgbClr val="EEF5E4"/>
          </a:solidFill>
          <a:ln w="19050">
            <a:solidFill>
              <a:srgbClr val="6CA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1" name="TextBox 17420"/>
          <p:cNvSpPr txBox="1"/>
          <p:nvPr/>
        </p:nvSpPr>
        <p:spPr>
          <a:xfrm>
            <a:off x="3643884" y="1490472"/>
            <a:ext cx="1232154" cy="1453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969" b="1" i="0">
                <a:solidFill>
                  <a:srgbClr val="1A1A1A"/>
                </a:solidFill>
                <a:latin typeface="Calibri"/>
              </a:rPr>
              <a:t>Operational Feasibility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790" b="0" i="0">
                <a:solidFill>
                  <a:srgbClr val="505050"/>
                </a:solidFill>
                <a:latin typeface="Calibri"/>
              </a:rPr>
              <a:t>Runs offline after setup; a single process serves the API and the dashboard. 261 backend tests + 51 browser checks pass today.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5077205" y="1417320"/>
            <a:ext cx="1415034" cy="1600200"/>
          </a:xfrm>
          <a:prstGeom prst="roundRect">
            <a:avLst>
              <a:gd name="adj" fmla="val 9000"/>
            </a:avLst>
          </a:prstGeom>
          <a:solidFill>
            <a:srgbClr val="EEF5E4"/>
          </a:solidFill>
          <a:ln w="19050">
            <a:solidFill>
              <a:srgbClr val="6CA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3" name="TextBox 17422"/>
          <p:cNvSpPr txBox="1"/>
          <p:nvPr/>
        </p:nvSpPr>
        <p:spPr>
          <a:xfrm>
            <a:off x="5168645" y="1490472"/>
            <a:ext cx="1232154" cy="1453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969" b="1" i="0">
                <a:solidFill>
                  <a:srgbClr val="1A1A1A"/>
                </a:solidFill>
                <a:latin typeface="Calibri"/>
              </a:rPr>
              <a:t>Data Feasibility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790" b="0" i="0">
                <a:solidFill>
                  <a:srgbClr val="505050"/>
                </a:solidFill>
                <a:latin typeface="Calibri"/>
              </a:rPr>
              <a:t>25,360 km built from OSM, cross-checked against 46 seed alignments. Honest gap: only ~15% of villages carry a population figure, so ranking uses reach, not population.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6812280" y="960120"/>
            <a:ext cx="4846320" cy="292608"/>
          </a:xfrm>
          <a:prstGeom prst="roundRect">
            <a:avLst>
              <a:gd name="adj" fmla="val 45000"/>
            </a:avLst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5" name="TextBox 17424"/>
          <p:cNvSpPr txBox="1"/>
          <p:nvPr/>
        </p:nvSpPr>
        <p:spPr>
          <a:xfrm>
            <a:off x="6812280" y="960120"/>
            <a:ext cx="4846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STRATEGIES FOR OVERCOMING CHALLENGES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6903720" y="1344168"/>
            <a:ext cx="4663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 i="0">
                <a:solidFill>
                  <a:srgbClr val="2F6FB2"/>
                </a:solidFill>
                <a:latin typeface="Calibri"/>
              </a:rPr>
              <a:t>Data Challenges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6976872" y="1600200"/>
            <a:ext cx="4572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860">
                <a:solidFill>
                  <a:srgbClr val="1A1A1A"/>
                </a:solidFill>
                <a:latin typeface="Calibri"/>
              </a:rPr>
              <a:t>•  </a:t>
            </a:r>
            <a:r>
              <a:rPr sz="860" b="1">
                <a:solidFill>
                  <a:srgbClr val="1A1A1A"/>
                </a:solidFill>
                <a:latin typeface="Calibri"/>
              </a:rPr>
              <a:t>No live road-closure feed - </a:t>
            </a:r>
            <a:r>
              <a:rPr sz="860" b="0">
                <a:solidFill>
                  <a:srgbClr val="505050"/>
                </a:solidFill>
                <a:latin typeface="Calibri"/>
              </a:rPr>
              <a:t>predict closure risk from rainfall and terrain today; add driver-reported closures next.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860">
                <a:solidFill>
                  <a:srgbClr val="1A1A1A"/>
                </a:solidFill>
                <a:latin typeface="Calibri"/>
              </a:rPr>
              <a:t>•  </a:t>
            </a:r>
            <a:r>
              <a:rPr sz="860" b="1">
                <a:solidFill>
                  <a:srgbClr val="1A1A1A"/>
                </a:solidFill>
                <a:latin typeface="Calibri"/>
              </a:rPr>
              <a:t>Sparse market data - </a:t>
            </a:r>
            <a:r>
              <a:rPr sz="860" b="0">
                <a:solidFill>
                  <a:srgbClr val="505050"/>
                </a:solidFill>
                <a:latin typeface="Calibri"/>
              </a:rPr>
              <a:t>35 markets cover 5,594 villages; loading Agmarknet mandi prices is the next data source.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860">
                <a:solidFill>
                  <a:srgbClr val="1A1A1A"/>
                </a:solidFill>
                <a:latin typeface="Calibri"/>
              </a:rPr>
              <a:t>•  </a:t>
            </a:r>
            <a:r>
              <a:rPr sz="860" b="1">
                <a:solidFill>
                  <a:srgbClr val="1A1A1A"/>
                </a:solidFill>
                <a:latin typeface="Calibri"/>
              </a:rPr>
              <a:t>Incomplete population data - </a:t>
            </a:r>
            <a:r>
              <a:rPr sz="860" b="0">
                <a:solidFill>
                  <a:srgbClr val="505050"/>
                </a:solidFill>
                <a:latin typeface="Calibri"/>
              </a:rPr>
              <a:t>rank villages by settlements reached instead of guessing population.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6903720" y="2423160"/>
            <a:ext cx="4663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 i="0">
                <a:solidFill>
                  <a:srgbClr val="2F6FB2"/>
                </a:solidFill>
                <a:latin typeface="Calibri"/>
              </a:rPr>
              <a:t>Coverage Challenges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6976872" y="2679191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860">
                <a:solidFill>
                  <a:srgbClr val="1A1A1A"/>
                </a:solidFill>
                <a:latin typeface="Calibri"/>
              </a:rPr>
              <a:t>•  </a:t>
            </a:r>
            <a:r>
              <a:rPr sz="860" b="1">
                <a:solidFill>
                  <a:srgbClr val="1A1A1A"/>
                </a:solidFill>
                <a:latin typeface="Calibri"/>
              </a:rPr>
              <a:t>Free tile hosts rate-limit - </a:t>
            </a:r>
            <a:r>
              <a:rPr sz="860" b="0">
                <a:solidFill>
                  <a:srgbClr val="505050"/>
                </a:solidFill>
                <a:latin typeface="Calibri"/>
              </a:rPr>
              <a:t>cache tiles for offline use in poor-connectivity field conditions.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860">
                <a:solidFill>
                  <a:srgbClr val="1A1A1A"/>
                </a:solidFill>
                <a:latin typeface="Calibri"/>
              </a:rPr>
              <a:t>•  </a:t>
            </a:r>
            <a:r>
              <a:rPr sz="860" b="1">
                <a:solidFill>
                  <a:srgbClr val="1A1A1A"/>
                </a:solidFill>
                <a:latin typeface="Calibri"/>
              </a:rPr>
              <a:t>399 villages unreachable by any mapped road - </a:t>
            </a:r>
            <a:r>
              <a:rPr sz="860" b="0">
                <a:solidFill>
                  <a:srgbClr val="505050"/>
                </a:solidFill>
                <a:latin typeface="Calibri"/>
              </a:rPr>
              <a:t>reported explicitly in the accessibility tab, never hidden.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6903720" y="3282696"/>
            <a:ext cx="4663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 i="0">
                <a:solidFill>
                  <a:srgbClr val="2F6FB2"/>
                </a:solidFill>
                <a:latin typeface="Calibri"/>
              </a:rPr>
              <a:t>Adoption Challenges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6976872" y="3538728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860">
                <a:solidFill>
                  <a:srgbClr val="1A1A1A"/>
                </a:solidFill>
                <a:latin typeface="Calibri"/>
              </a:rPr>
              <a:t>•  </a:t>
            </a:r>
            <a:r>
              <a:rPr sz="860" b="1">
                <a:solidFill>
                  <a:srgbClr val="1A1A1A"/>
                </a:solidFill>
                <a:latin typeface="Calibri"/>
              </a:rPr>
              <a:t>Language barrier - </a:t>
            </a:r>
            <a:r>
              <a:rPr sz="860" b="0">
                <a:solidFill>
                  <a:srgbClr val="505050"/>
                </a:solidFill>
                <a:latin typeface="Calibri"/>
              </a:rPr>
              <a:t>5 regional languages plus voice search remove the English-only barrier.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860">
                <a:solidFill>
                  <a:srgbClr val="1A1A1A"/>
                </a:solidFill>
                <a:latin typeface="Calibri"/>
              </a:rPr>
              <a:t>•  </a:t>
            </a:r>
            <a:r>
              <a:rPr sz="860" b="1">
                <a:solidFill>
                  <a:srgbClr val="1A1A1A"/>
                </a:solidFill>
                <a:latin typeface="Calibri"/>
              </a:rPr>
              <a:t>Trust in a black-box score - </a:t>
            </a:r>
            <a:r>
              <a:rPr sz="860" b="0">
                <a:solidFill>
                  <a:srgbClr val="505050"/>
                </a:solidFill>
                <a:latin typeface="Calibri"/>
              </a:rPr>
              <a:t>every number traces back to a real terrain or rainfall input shown in the UI.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783080" y="73152"/>
            <a:ext cx="7818120" cy="777240"/>
          </a:xfrm>
        </p:spPr>
        <p:txBody>
          <a:bodyPr wrap="square"/>
          <a:lstStyle/>
          <a:p>
            <a:pPr eaLnBrk="1" hangingPunct="1"/>
            <a:r>
              <a:rPr sz="2800" b="1">
                <a:solidFill>
                  <a:srgbClr val="1A1A1A"/>
                </a:solidFill>
                <a:latin typeface="Calibri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502920" y="960120"/>
            <a:ext cx="5760720" cy="274320"/>
          </a:xfrm>
          <a:prstGeom prst="roundRect">
            <a:avLst>
              <a:gd name="adj" fmla="val 45000"/>
            </a:avLst>
          </a:prstGeom>
          <a:solidFill>
            <a:srgbClr val="ED9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1" name="TextBox 17410"/>
          <p:cNvSpPr txBox="1"/>
          <p:nvPr/>
        </p:nvSpPr>
        <p:spPr>
          <a:xfrm>
            <a:off x="502920" y="96012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IMPACTS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502920" y="1325880"/>
            <a:ext cx="5760720" cy="896112"/>
          </a:xfrm>
          <a:prstGeom prst="roundRect">
            <a:avLst>
              <a:gd name="adj" fmla="val 9000"/>
            </a:avLst>
          </a:prstGeom>
          <a:solidFill>
            <a:srgbClr val="E7F3F5"/>
          </a:solidFill>
          <a:ln w="19050">
            <a:solidFill>
              <a:srgbClr val="2E8B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3" name="TextBox 17412"/>
          <p:cNvSpPr txBox="1"/>
          <p:nvPr/>
        </p:nvSpPr>
        <p:spPr>
          <a:xfrm>
            <a:off x="594360" y="1399032"/>
            <a:ext cx="557784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030" b="1" i="0">
                <a:solidFill>
                  <a:srgbClr val="1A1A1A"/>
                </a:solidFill>
                <a:latin typeface="Calibri"/>
              </a:rPr>
              <a:t>Farmers and FPOs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840" b="0" i="0">
                <a:solidFill>
                  <a:srgbClr val="505050"/>
                </a:solidFill>
                <a:latin typeface="Calibri"/>
              </a:rPr>
              <a:t>Billbari's market access falls from 3.9 days in the dry season to 1.3 days once monsoon risk is priced in - no surprise transit cost.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502920" y="2313432"/>
            <a:ext cx="5760720" cy="896112"/>
          </a:xfrm>
          <a:prstGeom prst="roundRect">
            <a:avLst>
              <a:gd name="adj" fmla="val 9000"/>
            </a:avLst>
          </a:prstGeom>
          <a:solidFill>
            <a:srgbClr val="E7F3F5"/>
          </a:solidFill>
          <a:ln w="19050">
            <a:solidFill>
              <a:srgbClr val="2E8B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5" name="TextBox 17414"/>
          <p:cNvSpPr txBox="1"/>
          <p:nvPr/>
        </p:nvSpPr>
        <p:spPr>
          <a:xfrm>
            <a:off x="594360" y="2386584"/>
            <a:ext cx="557784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030" b="1" i="0">
                <a:solidFill>
                  <a:srgbClr val="1A1A1A"/>
                </a:solidFill>
                <a:latin typeface="Calibri"/>
              </a:rPr>
              <a:t>Transporters and 3PLs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840" b="0" i="0">
                <a:solidFill>
                  <a:srgbClr val="505050"/>
                </a:solidFill>
                <a:latin typeface="Calibri"/>
              </a:rPr>
              <a:t>A defensible mode choice backed by real cost, time and risk: ₹5,032/tonne and 6.2 days separate the best from the worst choice on one lane.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502920" y="3300984"/>
            <a:ext cx="5760720" cy="896112"/>
          </a:xfrm>
          <a:prstGeom prst="roundRect">
            <a:avLst>
              <a:gd name="adj" fmla="val 9000"/>
            </a:avLst>
          </a:prstGeom>
          <a:solidFill>
            <a:srgbClr val="E7F3F5"/>
          </a:solidFill>
          <a:ln w="19050">
            <a:solidFill>
              <a:srgbClr val="2E8B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7" name="TextBox 17416"/>
          <p:cNvSpPr txBox="1"/>
          <p:nvPr/>
        </p:nvSpPr>
        <p:spPr>
          <a:xfrm>
            <a:off x="594360" y="3374136"/>
            <a:ext cx="557784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030" b="1" i="0">
                <a:solidFill>
                  <a:srgbClr val="1A1A1A"/>
                </a:solidFill>
                <a:latin typeface="Calibri"/>
              </a:rPr>
              <a:t>MDoNER, NEC and State PWDs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840" b="0" i="0">
                <a:solidFill>
                  <a:srgbClr val="505050"/>
                </a:solidFill>
                <a:latin typeface="Calibri"/>
              </a:rPr>
              <a:t>1,309 of 4,033 major roads flagged severe-risk in July; 1,055 of those flood-driven, not landslide - facility siting ranks sites by settlements reached.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502920" y="4288536"/>
            <a:ext cx="5760720" cy="896112"/>
          </a:xfrm>
          <a:prstGeom prst="roundRect">
            <a:avLst>
              <a:gd name="adj" fmla="val 9000"/>
            </a:avLst>
          </a:prstGeom>
          <a:solidFill>
            <a:srgbClr val="E7F3F5"/>
          </a:solidFill>
          <a:ln w="19050">
            <a:solidFill>
              <a:srgbClr val="2E8B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9" name="TextBox 17418"/>
          <p:cNvSpPr txBox="1"/>
          <p:nvPr/>
        </p:nvSpPr>
        <p:spPr>
          <a:xfrm>
            <a:off x="594360" y="4361688"/>
            <a:ext cx="557784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030" b="1" i="0">
                <a:solidFill>
                  <a:srgbClr val="1A1A1A"/>
                </a:solidFill>
                <a:latin typeface="Calibri"/>
              </a:rPr>
              <a:t>General Public and Villages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840" b="0" i="0">
                <a:solidFill>
                  <a:srgbClr val="505050"/>
                </a:solidFill>
                <a:latin typeface="Calibri"/>
              </a:rPr>
              <a:t>399 'invisible' villages, 20+ km from any mapped road, now show up in the data. The whole app works by voice, in 5 regional languages.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6537960" y="960120"/>
            <a:ext cx="5120640" cy="274320"/>
          </a:xfrm>
          <a:prstGeom prst="roundRect">
            <a:avLst>
              <a:gd name="adj" fmla="val 45000"/>
            </a:avLst>
          </a:prstGeom>
          <a:solidFill>
            <a:srgbClr val="ED9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1" name="TextBox 17420"/>
          <p:cNvSpPr txBox="1"/>
          <p:nvPr/>
        </p:nvSpPr>
        <p:spPr>
          <a:xfrm>
            <a:off x="6537960" y="96012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BENEFITS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8023859" y="1417320"/>
            <a:ext cx="2148840" cy="384048"/>
          </a:xfrm>
          <a:prstGeom prst="roundRect">
            <a:avLst>
              <a:gd name="adj" fmla="val 9000"/>
            </a:avLst>
          </a:prstGeom>
          <a:solidFill>
            <a:srgbClr val="E8F0FA"/>
          </a:solidFill>
          <a:ln w="15875">
            <a:solidFill>
              <a:srgbClr val="2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3" name="TextBox 17422"/>
          <p:cNvSpPr txBox="1"/>
          <p:nvPr/>
        </p:nvSpPr>
        <p:spPr>
          <a:xfrm>
            <a:off x="8023859" y="1417320"/>
            <a:ext cx="2148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60" b="1" i="0">
                <a:solidFill>
                  <a:srgbClr val="2F6FB2"/>
                </a:solidFill>
                <a:latin typeface="Calibri"/>
              </a:rPr>
              <a:t>Smarter Freight Decisions</a:t>
            </a:r>
          </a:p>
        </p:txBody>
      </p:sp>
      <p:sp>
        <p:nvSpPr>
          <p:cNvPr id="17424" name="Down Arrow 17423"/>
          <p:cNvSpPr/>
          <p:nvPr/>
        </p:nvSpPr>
        <p:spPr>
          <a:xfrm>
            <a:off x="9043415" y="1801368"/>
            <a:ext cx="109728" cy="128016"/>
          </a:xfrm>
          <a:prstGeom prst="downArrow">
            <a:avLst/>
          </a:prstGeom>
          <a:solidFill>
            <a:srgbClr val="505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5" name="Rounded Rectangle 17424"/>
          <p:cNvSpPr/>
          <p:nvPr/>
        </p:nvSpPr>
        <p:spPr>
          <a:xfrm>
            <a:off x="6675120" y="2350008"/>
            <a:ext cx="1417320" cy="502920"/>
          </a:xfrm>
          <a:prstGeom prst="roundRect">
            <a:avLst>
              <a:gd name="adj" fmla="val 9000"/>
            </a:avLst>
          </a:prstGeom>
          <a:solidFill>
            <a:srgbClr val="E8F0FA"/>
          </a:solidFill>
          <a:ln w="15875">
            <a:solidFill>
              <a:srgbClr val="2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6" name="TextBox 17425"/>
          <p:cNvSpPr txBox="1"/>
          <p:nvPr/>
        </p:nvSpPr>
        <p:spPr>
          <a:xfrm>
            <a:off x="6729983" y="2350008"/>
            <a:ext cx="130759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40" b="1" i="0">
                <a:solidFill>
                  <a:srgbClr val="2F6FB2"/>
                </a:solidFill>
                <a:latin typeface="Calibri"/>
              </a:rPr>
              <a:t>Reduced Manual Planning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10241280" y="2350008"/>
            <a:ext cx="1417320" cy="502920"/>
          </a:xfrm>
          <a:prstGeom prst="roundRect">
            <a:avLst>
              <a:gd name="adj" fmla="val 9000"/>
            </a:avLst>
          </a:prstGeom>
          <a:solidFill>
            <a:srgbClr val="E8F0FA"/>
          </a:solidFill>
          <a:ln w="15875">
            <a:solidFill>
              <a:srgbClr val="2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8" name="TextBox 17427"/>
          <p:cNvSpPr txBox="1"/>
          <p:nvPr/>
        </p:nvSpPr>
        <p:spPr>
          <a:xfrm>
            <a:off x="10296144" y="2350008"/>
            <a:ext cx="130759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40" b="1" i="0">
                <a:solidFill>
                  <a:srgbClr val="2F6FB2"/>
                </a:solidFill>
                <a:latin typeface="Calibri"/>
              </a:rPr>
              <a:t>Real Network Data, Not Guesswork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8252459" y="2331720"/>
            <a:ext cx="1691640" cy="502920"/>
          </a:xfrm>
          <a:prstGeom prst="roundRect">
            <a:avLst>
              <a:gd name="adj" fmla="val 9000"/>
            </a:avLst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0" name="TextBox 17429"/>
          <p:cNvSpPr txBox="1"/>
          <p:nvPr/>
        </p:nvSpPr>
        <p:spPr>
          <a:xfrm>
            <a:off x="8252459" y="2331720"/>
            <a:ext cx="1691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60" b="1" i="0">
                <a:solidFill>
                  <a:srgbClr val="FFFFFF"/>
                </a:solidFill>
                <a:latin typeface="Calibri"/>
              </a:rPr>
              <a:t>AI Multimodal Logistics Engine</a:t>
            </a:r>
          </a:p>
        </p:txBody>
      </p:sp>
      <p:sp>
        <p:nvSpPr>
          <p:cNvPr id="17431" name="Down Arrow 17430"/>
          <p:cNvSpPr/>
          <p:nvPr/>
        </p:nvSpPr>
        <p:spPr>
          <a:xfrm>
            <a:off x="9043415" y="2871215"/>
            <a:ext cx="109728" cy="128016"/>
          </a:xfrm>
          <a:prstGeom prst="downArrow">
            <a:avLst/>
          </a:prstGeom>
          <a:solidFill>
            <a:srgbClr val="505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2" name="Rounded Rectangle 17431"/>
          <p:cNvSpPr/>
          <p:nvPr/>
        </p:nvSpPr>
        <p:spPr>
          <a:xfrm>
            <a:off x="6537960" y="3035808"/>
            <a:ext cx="1600200" cy="566928"/>
          </a:xfrm>
          <a:prstGeom prst="roundRect">
            <a:avLst>
              <a:gd name="adj" fmla="val 9000"/>
            </a:avLst>
          </a:prstGeom>
          <a:solidFill>
            <a:srgbClr val="E7F3F5"/>
          </a:solidFill>
          <a:ln w="15875">
            <a:solidFill>
              <a:srgbClr val="2E8B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3" name="TextBox 17432"/>
          <p:cNvSpPr txBox="1"/>
          <p:nvPr/>
        </p:nvSpPr>
        <p:spPr>
          <a:xfrm>
            <a:off x="6537960" y="3035808"/>
            <a:ext cx="16002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60" b="1" i="0">
                <a:solidFill>
                  <a:srgbClr val="2E8B9B"/>
                </a:solidFill>
                <a:latin typeface="Calibri"/>
              </a:rPr>
              <a:t>Free Open-Data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60" b="1" i="0">
                <a:solidFill>
                  <a:srgbClr val="2E8B9B"/>
                </a:solidFill>
                <a:latin typeface="Calibri"/>
              </a:rPr>
              <a:t>Reuse</a:t>
            </a:r>
          </a:p>
        </p:txBody>
      </p:sp>
      <p:sp>
        <p:nvSpPr>
          <p:cNvPr id="17434" name="Right Arrow 17433"/>
          <p:cNvSpPr/>
          <p:nvPr/>
        </p:nvSpPr>
        <p:spPr>
          <a:xfrm>
            <a:off x="8156448" y="3264408"/>
            <a:ext cx="123443" cy="109728"/>
          </a:xfrm>
          <a:prstGeom prst="rightArrow">
            <a:avLst/>
          </a:prstGeom>
          <a:solidFill>
            <a:srgbClr val="505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5" name="Rounded Rectangle 17434"/>
          <p:cNvSpPr/>
          <p:nvPr/>
        </p:nvSpPr>
        <p:spPr>
          <a:xfrm>
            <a:off x="8298179" y="3035808"/>
            <a:ext cx="1600200" cy="566928"/>
          </a:xfrm>
          <a:prstGeom prst="roundRect">
            <a:avLst>
              <a:gd name="adj" fmla="val 9000"/>
            </a:avLst>
          </a:prstGeom>
          <a:solidFill>
            <a:srgbClr val="E7F3F5"/>
          </a:solidFill>
          <a:ln w="15875">
            <a:solidFill>
              <a:srgbClr val="2E8B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6" name="TextBox 17435"/>
          <p:cNvSpPr txBox="1"/>
          <p:nvPr/>
        </p:nvSpPr>
        <p:spPr>
          <a:xfrm>
            <a:off x="8298179" y="3035808"/>
            <a:ext cx="16002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60" b="1" i="0">
                <a:solidFill>
                  <a:srgbClr val="2E8B9B"/>
                </a:solidFill>
                <a:latin typeface="Calibri"/>
              </a:rPr>
              <a:t>Real-Time Risk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60" b="1" i="0">
                <a:solidFill>
                  <a:srgbClr val="2E8B9B"/>
                </a:solidFill>
                <a:latin typeface="Calibri"/>
              </a:rPr>
              <a:t>Pricing</a:t>
            </a:r>
          </a:p>
        </p:txBody>
      </p:sp>
      <p:sp>
        <p:nvSpPr>
          <p:cNvPr id="17437" name="Right Arrow 17436"/>
          <p:cNvSpPr/>
          <p:nvPr/>
        </p:nvSpPr>
        <p:spPr>
          <a:xfrm>
            <a:off x="9916667" y="3264408"/>
            <a:ext cx="123443" cy="109728"/>
          </a:xfrm>
          <a:prstGeom prst="rightArrow">
            <a:avLst/>
          </a:prstGeom>
          <a:solidFill>
            <a:srgbClr val="505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8" name="Rounded Rectangle 17437"/>
          <p:cNvSpPr/>
          <p:nvPr/>
        </p:nvSpPr>
        <p:spPr>
          <a:xfrm>
            <a:off x="10058400" y="3035808"/>
            <a:ext cx="1600200" cy="566928"/>
          </a:xfrm>
          <a:prstGeom prst="roundRect">
            <a:avLst>
              <a:gd name="adj" fmla="val 9000"/>
            </a:avLst>
          </a:prstGeom>
          <a:solidFill>
            <a:srgbClr val="E7F3F5"/>
          </a:solidFill>
          <a:ln w="15875">
            <a:solidFill>
              <a:srgbClr val="2E8B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9" name="TextBox 17438"/>
          <p:cNvSpPr txBox="1"/>
          <p:nvPr/>
        </p:nvSpPr>
        <p:spPr>
          <a:xfrm>
            <a:off x="10058400" y="3035808"/>
            <a:ext cx="16002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60" b="1" i="0">
                <a:solidFill>
                  <a:srgbClr val="2E8B9B"/>
                </a:solidFill>
                <a:latin typeface="Calibri"/>
              </a:rPr>
              <a:t>Faster, Safer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60" b="1" i="0">
                <a:solidFill>
                  <a:srgbClr val="2E8B9B"/>
                </a:solidFill>
                <a:latin typeface="Calibri"/>
              </a:rPr>
              <a:t>Delivery</a:t>
            </a:r>
          </a:p>
        </p:txBody>
      </p:sp>
      <p:sp>
        <p:nvSpPr>
          <p:cNvPr id="17440" name="Rounded Rectangle 17439"/>
          <p:cNvSpPr/>
          <p:nvPr/>
        </p:nvSpPr>
        <p:spPr>
          <a:xfrm>
            <a:off x="6537960" y="3785615"/>
            <a:ext cx="5120640" cy="502920"/>
          </a:xfrm>
          <a:prstGeom prst="roundRect">
            <a:avLst>
              <a:gd name="adj" fmla="val 9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1" name="TextBox 17440"/>
          <p:cNvSpPr txBox="1"/>
          <p:nvPr/>
        </p:nvSpPr>
        <p:spPr>
          <a:xfrm>
            <a:off x="6665976" y="3858768"/>
            <a:ext cx="48646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60" b="0" i="1">
                <a:solidFill>
                  <a:srgbClr val="505050"/>
                </a:solidFill>
                <a:latin typeface="Calibri"/>
              </a:rPr>
              <a:t>Every arrow above is a real, running data path in the app today - not a roadmap.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783080" y="73152"/>
            <a:ext cx="7818120" cy="777240"/>
          </a:xfrm>
        </p:spPr>
        <p:txBody>
          <a:bodyPr wrap="square"/>
          <a:lstStyle/>
          <a:p>
            <a:pPr eaLnBrk="1" hangingPunct="1"/>
            <a:r>
              <a:rPr sz="2600" b="1">
                <a:solidFill>
                  <a:srgbClr val="1A1A1A"/>
                </a:solidFill>
                <a:latin typeface="Calibri"/>
              </a:rPr>
              <a:t>RESEARCH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502920" y="960120"/>
            <a:ext cx="5577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C00000"/>
                </a:solidFill>
                <a:latin typeface="Calibri"/>
              </a:rPr>
              <a:t>Research Basis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502920" y="1298448"/>
            <a:ext cx="5577840" cy="3977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960">
                <a:solidFill>
                  <a:srgbClr val="1A1A1A"/>
                </a:solidFill>
                <a:latin typeface="Calibri"/>
              </a:rPr>
              <a:t>•  </a:t>
            </a:r>
            <a:r>
              <a:rPr sz="960" b="1">
                <a:solidFill>
                  <a:srgbClr val="1A1A1A"/>
                </a:solidFill>
                <a:latin typeface="Calibri"/>
              </a:rPr>
              <a:t>Shortest-Path Routing - </a:t>
            </a:r>
            <a:r>
              <a:rPr sz="960" b="0">
                <a:solidFill>
                  <a:srgbClr val="1A1A1A"/>
                </a:solidFill>
                <a:latin typeface="Calibri"/>
              </a:rPr>
              <a:t>Dijkstra's algorithm finds the lowest-cost path on a weighted graph; it is the direct basis of the route optimiser, in use since 1959.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960">
                <a:solidFill>
                  <a:srgbClr val="1A1A1A"/>
                </a:solidFill>
                <a:latin typeface="Calibri"/>
              </a:rPr>
              <a:t>•  </a:t>
            </a:r>
            <a:r>
              <a:rPr sz="960" b="1">
                <a:solidFill>
                  <a:srgbClr val="1A1A1A"/>
                </a:solidFill>
                <a:latin typeface="Calibri"/>
              </a:rPr>
              <a:t>Alternative Route Discovery - </a:t>
            </a:r>
            <a:r>
              <a:rPr sz="960" b="0">
                <a:solidFill>
                  <a:srgbClr val="1A1A1A"/>
                </a:solidFill>
                <a:latin typeface="Calibri"/>
              </a:rPr>
              <a:t>Yen's algorithm enumerates the k shortest loopless paths, used here to offer genuinely different route options, not near-duplicates.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960">
                <a:solidFill>
                  <a:srgbClr val="1A1A1A"/>
                </a:solidFill>
                <a:latin typeface="Calibri"/>
              </a:rPr>
              <a:t>•  </a:t>
            </a:r>
            <a:r>
              <a:rPr sz="960" b="1">
                <a:solidFill>
                  <a:srgbClr val="1A1A1A"/>
                </a:solidFill>
                <a:latin typeface="Calibri"/>
              </a:rPr>
              <a:t>Terrain-Based Hazard Modelling - </a:t>
            </a:r>
            <a:r>
              <a:rPr sz="960" b="0">
                <a:solidFill>
                  <a:srgbClr val="1A1A1A"/>
                </a:solidFill>
                <a:latin typeface="Calibri"/>
              </a:rPr>
              <a:t>landslide susceptibility is commonly modelled from slope, rainfall and land cover; the same terrain-first approach is used here in the absence of a historical closure dataset.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960">
                <a:solidFill>
                  <a:srgbClr val="1A1A1A"/>
                </a:solidFill>
                <a:latin typeface="Calibri"/>
              </a:rPr>
              <a:t>•  </a:t>
            </a:r>
            <a:r>
              <a:rPr sz="960" b="1">
                <a:solidFill>
                  <a:srgbClr val="1A1A1A"/>
                </a:solidFill>
                <a:latin typeface="Calibri"/>
              </a:rPr>
              <a:t>DEM-Based Flood Susceptibility - </a:t>
            </a:r>
            <a:r>
              <a:rPr sz="960" b="0">
                <a:solidFill>
                  <a:srgbClr val="1A1A1A"/>
                </a:solidFill>
                <a:latin typeface="Calibri"/>
              </a:rPr>
              <a:t>elevation derived from the Copernicus DEM is a standard proxy for flood-prone terrain where observed flood extent is unavailable.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6355080" y="960120"/>
            <a:ext cx="5715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C00000"/>
                </a:solidFill>
                <a:latin typeface="Calibri"/>
              </a:rPr>
              <a:t>Reference Papers / Sources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6355080" y="1298448"/>
            <a:ext cx="5715000" cy="3794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700"/>
              </a:spcAft>
            </a:pPr>
            <a:r>
              <a:rPr sz="930" b="0" i="0">
                <a:solidFill>
                  <a:srgbClr val="1A1A1A"/>
                </a:solidFill>
                <a:latin typeface="Calibri"/>
              </a:rPr>
              <a:t>•  Dijkstra, E. W. (1959). “A note on two problems in connexion with graphs.” Numerische Mathematik, 1, 269-271.</a:t>
            </a:r>
          </a:p>
          <a:p>
            <a:pPr algn="l">
              <a:lnSpc>
                <a:spcPct val="114000"/>
              </a:lnSpc>
              <a:spcAft>
                <a:spcPts val="700"/>
              </a:spcAft>
            </a:pPr>
            <a:r>
              <a:rPr sz="930" b="0" i="0">
                <a:solidFill>
                  <a:srgbClr val="1A1A1A"/>
                </a:solidFill>
                <a:latin typeface="Calibri"/>
              </a:rPr>
              <a:t>•  Yen, J. Y. (1971). “Finding the k shortest loopless paths in a network.” Management Science, 17(11), 712-716.</a:t>
            </a:r>
          </a:p>
          <a:p>
            <a:pPr algn="l">
              <a:lnSpc>
                <a:spcPct val="114000"/>
              </a:lnSpc>
              <a:spcAft>
                <a:spcPts val="700"/>
              </a:spcAft>
            </a:pPr>
            <a:r>
              <a:rPr sz="930" b="0" i="0">
                <a:solidFill>
                  <a:srgbClr val="1A1A1A"/>
                </a:solidFill>
                <a:latin typeface="Calibri"/>
              </a:rPr>
              <a:t>•  OpenStreetMap Foundation - overpass-api.de</a:t>
            </a:r>
          </a:p>
          <a:p>
            <a:pPr algn="l">
              <a:lnSpc>
                <a:spcPct val="114000"/>
              </a:lnSpc>
              <a:spcAft>
                <a:spcPts val="700"/>
              </a:spcAft>
            </a:pPr>
            <a:r>
              <a:rPr sz="930" b="0" i="0">
                <a:solidFill>
                  <a:srgbClr val="1A1A1A"/>
                </a:solidFill>
                <a:latin typeface="Calibri"/>
              </a:rPr>
              <a:t>•  NASA POWER Project - power.larc.nasa.gov</a:t>
            </a:r>
          </a:p>
          <a:p>
            <a:pPr algn="l">
              <a:lnSpc>
                <a:spcPct val="114000"/>
              </a:lnSpc>
              <a:spcAft>
                <a:spcPts val="700"/>
              </a:spcAft>
            </a:pPr>
            <a:r>
              <a:rPr sz="930" b="0" i="0">
                <a:solidFill>
                  <a:srgbClr val="1A1A1A"/>
                </a:solidFill>
                <a:latin typeface="Calibri"/>
              </a:rPr>
              <a:t>•  Copernicus DEM via Open-Meteo - open-meteo.com</a:t>
            </a:r>
          </a:p>
          <a:p>
            <a:pPr algn="l">
              <a:lnSpc>
                <a:spcPct val="114000"/>
              </a:lnSpc>
              <a:spcAft>
                <a:spcPts val="700"/>
              </a:spcAft>
            </a:pPr>
            <a:r>
              <a:rPr sz="930" b="0" i="0">
                <a:solidFill>
                  <a:srgbClr val="1A1A1A"/>
                </a:solidFill>
                <a:latin typeface="Calibri"/>
              </a:rPr>
              <a:t>•  MDoNER / North Eastern Council Regional Plan</a:t>
            </a:r>
          </a:p>
          <a:p>
            <a:pPr algn="l">
              <a:lnSpc>
                <a:spcPct val="114000"/>
              </a:lnSpc>
              <a:spcAft>
                <a:spcPts val="700"/>
              </a:spcAft>
            </a:pPr>
            <a:r>
              <a:rPr sz="930" b="0" i="0">
                <a:solidFill>
                  <a:srgbClr val="1A1A1A"/>
                </a:solidFill>
                <a:latin typeface="Calibri"/>
              </a:rPr>
              <a:t>•  Inland Waterways Authority of India - National Waterway 2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502920" y="5394960"/>
            <a:ext cx="11183112" cy="822960"/>
          </a:xfrm>
          <a:prstGeom prst="roundRect">
            <a:avLst>
              <a:gd name="adj" fmla="val 9000"/>
            </a:avLst>
          </a:prstGeom>
          <a:solidFill>
            <a:srgbClr val="E8F0FA"/>
          </a:solidFill>
          <a:ln w="15875">
            <a:solidFill>
              <a:srgbClr val="2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5" name="TextBox 17414"/>
          <p:cNvSpPr txBox="1"/>
          <p:nvPr/>
        </p:nvSpPr>
        <p:spPr>
          <a:xfrm>
            <a:off x="658368" y="5477256"/>
            <a:ext cx="1088136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1" i="0">
                <a:solidFill>
                  <a:srgbClr val="2F6FB2"/>
                </a:solidFill>
                <a:latin typeface="Calibri"/>
              </a:rPr>
              <a:t>Research Gap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00" b="0" i="0">
                <a:solidFill>
                  <a:srgbClr val="1A1A1A"/>
                </a:solidFill>
                <a:latin typeface="Calibri"/>
              </a:rPr>
              <a:t>Existing tools optimise route distance alone, or model a single hazard in isolation. None combine multimodal freight optimisation, per-trip hazard pricing and real accessibility scoring in one open, free platform for the North East. This is the gap our platform closes.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